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0-15 min (Unit 1 start)</a:t>
            </a:r>
          </a:p>
          <a:p/>
          <a:p>
            <a:r>
              <a:t>Welcome everyone! Start with a round of introductions — name, background, what interests you about AI and/or drug discovery. This is essential since we only have 4 teaching days together.</a:t>
            </a:r>
          </a:p>
          <a:p/>
          <a:p>
            <a:r>
              <a:t>=== ABOUT YOUR INSTRUCTOR ===</a:t>
            </a:r>
          </a:p>
          <a:p>
            <a:r>
              <a:t>Dr. Étienne Serbe-Kamp is a neuroscientist whose research focuses on physiology and function of neural circuits in the Drosophila (fruit fly) visual system. Key publications:</a:t>
            </a:r>
          </a:p>
          <a:p>
            <a:r>
              <a:t>- Ammer, Serbe-Kamp et al. (2023) 'Multilevel visual motion opponency in Drosophila.' Nature Neuroscience 26:1894-1905 — showed that GluClα-mediated inhibition underlies direction-opponent responses at all levels of the motion circuit</a:t>
            </a:r>
          </a:p>
          <a:p>
            <a:r>
              <a:t>- Serbe-Kamp et al. (2023) 'Voltage to Calcium Transformation Enhances Direction Selectivity in Drosophila T4 Neurons.' J. Neurosci. 43:2497-2514 — demonstrated a nonlinear voltage-to-calcium transformation that enhances direction selectivity</a:t>
            </a:r>
          </a:p>
          <a:p>
            <a:r>
              <a:t>- Serbe et al. (2016) 'Comprehensive Characterization of the Major Presynaptic Elements to the Drosophila OFF Motion Detector.' Neuron 89:829-841 — this is a PHYSIOLOGY paper: used calcium imaging (GCaMP), whole-cell patch-clamp electrophysiology, and optogenetics (CsChrimson, GtACR1) to functionally characterize the neurons providing input to T5 motion detectors</a:t>
            </a:r>
          </a:p>
          <a:p>
            <a:r>
              <a:t>- Maisak, Haag, Ammer, Serbe et al. (2013) 'A Directional Tuning Map of Drosophila Elementary Motion Detectors.' Nature 500:212-216</a:t>
            </a:r>
          </a:p>
          <a:p/>
          <a:p>
            <a:r>
              <a:t>IMPORTANT: The 2016 Neuron paper is about PHYSIOLOGY of cells — measuring their functional responses using calcium imaging, whole-cell patch clamp, and optogenetics. Dr. Serbe-Kamp is currently working on connectomics with the MESH repository (separate project).</a:t>
            </a:r>
          </a:p>
          <a:p/>
          <a:p>
            <a:r>
              <a:t>He is also Co-Director of Summer Fellowships at Backyard Brains, developing open-source neuroscience tools (SpikerBox/SpikerBot). Recent work:</a:t>
            </a:r>
          </a:p>
          <a:p>
            <a:r>
              <a:t>- Madariaga, [...], Serbe-Kamp, Marzullo (2024) 'A library of electrophysiological responses in plants.' Plant Signaling &amp; Behavior 19(1):2310977</a:t>
            </a:r>
          </a:p>
          <a:p>
            <a:r>
              <a:t>- Serbe-Kamp et al. (2023) 'Open Citizen Science: fostering open knowledge with participation.' Research Ideas and Outcomes 9:e96476</a:t>
            </a:r>
          </a:p>
          <a:p/>
          <a:p>
            <a:r>
              <a:t>Why a neuroscientist teaching drug discovery? The tools are the same! The pipeline (signal → features → model → prediction) is identical whether you study neural circuits, molecular properties, or physiological drug effects. And many important drug targets are ion channels and receptors that Dr. Serbe-Kamp studies.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15-25 min</a:t>
            </a:r>
          </a:p>
          <a:p/>
          <a:p>
            <a:r>
              <a:t>Walk through the schedule. Emphasize: this is a compact, intensive format. Every day has a practical coding component. Students must form project groups TODAY and choose or propose a project topic. The exam on 27 May will be presentations (15-20 min per group) or posters (if collecting own data). Code will be in Python/Jupyter on Google Colab. No prior chemistry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25-35 min</a:t>
            </a:r>
          </a:p>
          <a:p/>
          <a:p>
            <a:r>
              <a:t>CITATION CHECK: DiMasi, Grabowski &amp; Hansen (2016) 'Innovation in the pharmaceutical industry: New estimates of R&amp;D costs.' J. Health Economics 47:20-33. The $2.6B figure is the commonly rounded version of their $2.558B out-of-pocket estimate ($2.87B capitalized, in 2013 dollars). The ~7.9% Phase I-to-approval success rate comes from BIO/Informa Pharma Intelligence/QLS Advisors (2021) 'Clinical Development Success Rates 2011-2020.'</a:t>
            </a:r>
          </a:p>
          <a:p/>
          <a:p>
            <a:r>
              <a:t>Let the numbers sink in. Ask: does anyone know how much a Phase III trial costs? ($50-100M+). Point out the key theme: no matter how good your AI model is at predicting molecular properties, the FINAL validation is always physiological — does the drug actually change cell/tissue/organ function?</a:t>
            </a:r>
          </a:p>
          <a:p/>
          <a:p>
            <a:r>
              <a:t>This is why physiology matters for drug design: electrophysiology (patch-clamp, extracellular recording) is the gold standard for ion channel drugs. Calcium imaging measures receptor activation. These are EXACTLY the techniques in Dr. Serbe-Kamp's 2016 Neuron paper (Serbe et al., Neuron 89:829-841) and 2023 J.Neurosci. paper (Serbe-Kamp et al., J. Neurosci. 43:2497-2514).</a:t>
            </a:r>
          </a:p>
          <a:p/>
          <a:p>
            <a:r>
              <a:t>The Backyard Brains SpikerBox/SpikerBot offer a DIY version of these physiological readouts — making the final step of drug testing accessible. SpikerBox ref: Marzullo &amp; Gage (2012) PLoS ONE 7(3):e30837.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35-45 min</a:t>
            </a:r>
          </a:p>
          <a:p/>
          <a:p>
            <a:r>
              <a:t>Walk through each step in 5 min. Emphasize: HTS screens 1-2 million compounds physically — expensive. Lead optimization is where AI has huge potential (predict ADMET = Absorption, Distribution, Metabolism, Excretion, Toxicity). Chemical space is ~10^60 drug-like molecules.</a:t>
            </a:r>
          </a:p>
          <a:p/>
          <a:p>
            <a:r>
              <a:t>KEY POINT: At every step, the validation is physiological. Target validation uses cell assays (electrophysiology, calcium imaging). Hit discovery uses biochemical/cell assays. Preclinical uses whole-animal physiology. Clinical trials measure patient physiology. The SpikerBox/SpikerBot let you do step 5's physiology on a tabletop.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45-55 min (end of Unit 1)</a:t>
            </a:r>
          </a:p>
          <a:p/>
          <a:p>
            <a:r>
              <a:t>CITATION: The McKinsey figures come from McKinsey Global Institute 'The Bio Revolution' (May 2020) and the follow-up 'How AI could revolutionize drug discovery' (McKinsey, 2022). The exact '2-4 years' and '30-50%' numbers are synthesized from these analyses — they are estimates, not precise measurements. Be honest about this with students.</a:t>
            </a:r>
          </a:p>
          <a:p/>
          <a:p>
            <a:r>
              <a:t>CITATION: Insilico Medicine ISM001-055 (Rentosertib). Published as: Ren et al. (2024) 'A small-molecule TNIK inhibitor targets fibrosis in preclinical and clinical models.' Nature Biotechnology. doi:10.1038/s41587-024-02143-0. The drug is a first-in-class TNIK inhibitor for idiopathic pulmonary fibrosis (IPF). Project started ~late 2020, reached Phase IIa enrollment in April 2023 (~30 months). Phase IIa results (71 patients, NCT05938920) were positive, announced September 2024. NOTE: Published in Nature Biotechnology, NOT Chemical Science.</a:t>
            </a:r>
          </a:p>
          <a:p/>
          <a:p>
            <a:r>
              <a:t>Go through each bullet with examples. The Insilico case is landmark: AI identified a novel target (TNIK) AND designed the molecule. End-to-end AI-driven discovery.</a:t>
            </a:r>
          </a:p>
          <a:p/>
          <a:p>
            <a:r>
              <a:t>Neuroscience connection: AI on the Drosophila connectome identifies new neural targets. Virtual screening for BBB-penetrant CNS drugs. AI predicts ion channel selectivity. BenevolentAI identified baricitinib for COVID-19.</a:t>
            </a:r>
          </a:p>
          <a:p/>
          <a:p>
            <a:r>
              <a:t>Transition: Let's look at the most famous AI success story in biology...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55-65 min (Unit 2 start)</a:t>
            </a:r>
          </a:p>
          <a:p/>
          <a:p>
            <a:r>
              <a:t>CITATION: Jumper et al. (2021) 'Highly accurate protein structure prediction with AlphaFold.' Nature 596:583-589. doi:10.1038/s41586-021-03819-2. Won the 2024 Nobel Prize in Chemistry for Demis Hassabis and John Jumper (shared with David Baker for computational protein design).</a:t>
            </a:r>
          </a:p>
          <a:p/>
          <a:p>
            <a:r>
              <a:t>CITATION: AlphaFold3: Abramson et al. (2024) 'Accurate structure prediction of biomolecular interactions with AlphaFold 3.' Nature 630:493-500. doi:10.1038/s41586-024-07487-w. Extends to protein-ligand, protein-DNA, protein-RNA complexes.</a:t>
            </a:r>
          </a:p>
          <a:p/>
          <a:p>
            <a:r>
              <a:t>Neuroscience connection: GluCl (from Dr. Serbe-Kamp's Drosophila research, Cys-loop receptor superfamily) can be modeled. GABA-A receptors, GPCRs (serotonin 5-HT2A, dopamine D2 receptors), all benefit. About 34% of all FDA-approved drugs target GPCRs (Saikia et al. 2019, Curr. Drug Targets 20:522-539).</a:t>
            </a:r>
          </a:p>
          <a:p/>
          <a:p>
            <a:r>
              <a:t>Student project: pick a neuroscience drug target, retrieve its AlphaFold structure, analyze binding sites, and compare to experimental structures. They can reproduce key figures from the Jumper et al. paper or apply it to novel targets.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65-75 min</a:t>
            </a:r>
          </a:p>
          <a:p/>
          <a:p>
            <a:r>
              <a:t>Spend 5 min. This is a hook story. The David Willson mRNA vaccine for his dog went viral in 2024 (covered by Wired, BBC, etc.).</a:t>
            </a:r>
          </a:p>
          <a:p/>
          <a:p>
            <a:r>
              <a:t>IMPORTANT: This is NOT a peer-reviewed publication — it's a news story / case report. The underlying science of mRNA cancer vaccines IS published (BioNTech/Moderna clinical trials, neoantigen prediction papers). Students could present this as a TOPIC — explaining the AI pipeline behind neoantigen prediction, mRNA optimization, and immune response modeling — but they would NOT be reproducing specific published data.</a:t>
            </a:r>
          </a:p>
          <a:p/>
          <a:p>
            <a:r>
              <a:t>As a student project option: present the science behind personalized mRNA vaccines, explain the AI components, discuss ethics and regulation. Best suited for a PRESENTATION rather than a poster with own data.</a:t>
            </a:r>
          </a:p>
          <a:p/>
          <a:p>
            <a:r>
              <a:t>The broader point: the tools for personalized medicine are becoming accessible. AI accelerates every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75-80 min</a:t>
            </a:r>
          </a:p>
          <a:p/>
          <a:p>
            <a:r>
              <a:t>Transition: Now let's get technical. How do we represent molecules for computers?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80-90 min</a:t>
            </a:r>
          </a:p>
          <a:p/>
          <a:p>
            <a:r>
              <a:t>Spend 5-7 min on SMILES. Cover basic syntax: atoms as letters, implicit single bonds, = for double, lowercase for aromatic, parentheses for branches, digits for rings.</a:t>
            </a:r>
          </a:p>
          <a:p/>
          <a:p>
            <a:r>
              <a:t>Neuroscience drug SMILES:</a:t>
            </a:r>
          </a:p>
          <a:p>
            <a:r>
              <a:t>1. SEROTONIN: indolamine, 14 receptor subtypes, targeted by SSRIs</a:t>
            </a:r>
          </a:p>
          <a:p>
            <a:r>
              <a:t>2. DOPAMINE: catecholamine, reward/movement, targeted by L-DOPA, antipsychotics</a:t>
            </a:r>
          </a:p>
          <a:p>
            <a:r>
              <a:t>3. GABA: simplest structure, main inhibitory NT, GABA-A is same superfamily as GluCl!</a:t>
            </a:r>
          </a:p>
          <a:p>
            <a:r>
              <a:t>4. DIAZEPAM: benzodiazepine, positive allosteric modulator of GABA-A</a:t>
            </a:r>
          </a:p>
          <a:p>
            <a:r>
              <a:t>5. CAFFEINE: xanthine, adenosine receptor antagonist</a:t>
            </a:r>
          </a:p>
          <a:p/>
          <a:p>
            <a:r>
              <a:t>Ask: can you identify the hydroxyl group (O) and amine (N) in the serotonin SMILES?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90-100 min</a:t>
            </a:r>
          </a:p>
          <a:p/>
          <a:p>
            <a:r>
              <a:t>Spend 5-7 min. IC50 analogy: how much drug to shut down 50% of the target? Lower = more potent.</a:t>
            </a:r>
          </a:p>
          <a:p/>
          <a:p>
            <a:r>
              <a:t>CITATION: ChEMBL: Gaulton et al. (2017) 'The ChEMBL database in 2017.' Nucleic Acids Res. 45(D1):D945-D954. Latest release (ChEMBL 35, Dec 2024) contains ~2.5M compounds.</a:t>
            </a:r>
          </a:p>
          <a:p/>
          <a:p>
            <a:r>
              <a:t>=== PHYSIOLOGY AS DRUG READOUT — KEY THEME ===</a:t>
            </a:r>
          </a:p>
          <a:p>
            <a:r>
              <a:t>This is the central connection between Dr. Serbe-Kamp's research and drug discovery:</a:t>
            </a:r>
          </a:p>
          <a:p/>
          <a:p>
            <a:r>
              <a:t>1. PATCH-CLAMP ELECTROPHYSIOLOGY: Gold standard for ion channel drugs. Measure current through channels, add drug, measure IC50. This is exactly what Dr. Serbe-Kamp's 2016 Neuron paper used — whole-cell recordings + optogenetics to characterize T5 neuron inputs (Serbe et al. 2016, Neuron 89:829-841). For hERG cardiac safety testing: patch-clamp HEK293 cells, measure block IC50.</a:t>
            </a:r>
          </a:p>
          <a:p/>
          <a:p>
            <a:r>
              <a:t>2. CALCIUM IMAGING: Dr. Serbe-Kamp's 2023 J.Neurosci. paper (43:2497-2514) used two-photon calcium imaging in Drosophila T4 neurons. Same technique used in drug screening (FLIPR assays for GPCR screens).</a:t>
            </a:r>
          </a:p>
          <a:p/>
          <a:p>
            <a:r>
              <a:t>3. EXTRACELLULAR RECORDING: The SpikerBox records extracellular spikes from neurons/muscles. Apply a drug (e.g., lidocaine = Nav blocker) and watch the action potentials disappear. This IS drug effect measurement! Ref: Marzullo &amp; Gage (2012) PLoS ONE 7(3):e30837.</a:t>
            </a:r>
          </a:p>
          <a:p/>
          <a:p>
            <a:r>
              <a:t>The SpikerBox/SpikerBot democratize the final step of drug testing: measuring physiological effects.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100-110 min</a:t>
            </a:r>
          </a:p>
          <a:p/>
          <a:p>
            <a:r>
              <a:t>=== KEY SLIDE — PHYSIOLOGY AS DRUG DESIGN APPROACH ===</a:t>
            </a:r>
          </a:p>
          <a:p/>
          <a:p>
            <a:r>
              <a:t>This is a critical conceptual slide that frames the entire course. Spend 5-7 min.</a:t>
            </a:r>
          </a:p>
          <a:p/>
          <a:p>
            <a:r>
              <a:t>The drug discovery pipeline generates predictions (AI models, virtual screening). But predictions are HYPOTHESES. The test is always physiological.</a:t>
            </a:r>
          </a:p>
          <a:p/>
          <a:p>
            <a:r>
              <a:t>Dr. Serbe-Kamp's 2016 Neuron paper ('Comprehensive Characterization of the Major Presynaptic Elements to the Drosophila OFF Motion Detector', Serbe et al., 2016, Neuron 89:829-841) is a physiology paper:</a:t>
            </a:r>
          </a:p>
          <a:p>
            <a:r>
              <a:t>- Used calcium imaging (GCaMP) to measure visual responses</a:t>
            </a:r>
          </a:p>
          <a:p>
            <a:r>
              <a:t>- Used whole-cell electrophysiology to record from neurons</a:t>
            </a:r>
          </a:p>
          <a:p>
            <a:r>
              <a:t>- Used optogenetics (CsChrimson, GtACR) to activate/silence specific neurons</a:t>
            </a:r>
          </a:p>
          <a:p>
            <a:r>
              <a:t>- This is NOT a connectomics paper — it's about FUNCTIONAL characterization of neural circuits</a:t>
            </a:r>
          </a:p>
          <a:p>
            <a:r>
              <a:t>- Dr. Serbe-Kamp is currently working on connectomics with the MESH repository (separate project)</a:t>
            </a:r>
          </a:p>
          <a:p/>
          <a:p>
            <a:r>
              <a:t>The BYB gear connection:</a:t>
            </a:r>
          </a:p>
          <a:p>
            <a:r>
              <a:t>- SpikerBox = extracellular recording (like steps 3-4 in the hierarchy)</a:t>
            </a:r>
          </a:p>
          <a:p>
            <a:r>
              <a:t>- You can measure drug effects: apply lidocaine to a cockroach leg preparation, watch action potentials disappear</a:t>
            </a:r>
          </a:p>
          <a:p>
            <a:r>
              <a:t>- This IS the physiological readout that validates all the AI predictions</a:t>
            </a:r>
          </a:p>
          <a:p>
            <a:r>
              <a:t>- Making this accessible = democratizing the final step of drug testing</a:t>
            </a:r>
          </a:p>
          <a:p/>
          <a:p>
            <a:r>
              <a:t>For drug design approach: start from the desired physiological endpoint (e.g., block a specific ion channel, change neural firing pattern) and work backwards. AI helps predict which molecules will achieve that endpoint. But the physiological measurement is what proves it 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110-112 min</a:t>
            </a:r>
          </a:p>
          <a:p/>
          <a:p>
            <a:r>
              <a:t>Transition: Let's see how neuroscience tools connect to drug discovery.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112-125 min (Unit 3 start)</a:t>
            </a:r>
          </a:p>
          <a:p/>
          <a:p>
            <a:r>
              <a:t>Spend 7-8 min. Cover the SpikerBot hardware, ion channel pharmacology, and the Hodgkin-Huxley model.</a:t>
            </a:r>
          </a:p>
          <a:p/>
          <a:p>
            <a:r>
              <a:t>=== DR. SERBE-KAMP'S RESEARCH ===</a:t>
            </a:r>
          </a:p>
          <a:p>
            <a:r>
              <a:t>Key publications (PHYSIOLOGY focus):</a:t>
            </a:r>
          </a:p>
          <a:p>
            <a:r>
              <a:t>1. Maisak, Haag, Ammer, Serbe et al. (2013, Nature 500:212-216) — directional tuning map of T4/T5 neurons. The first paper to show that T4 and T5 cells are the elementary motion detectors of the fly visual system.</a:t>
            </a:r>
          </a:p>
          <a:p>
            <a:r>
              <a:t>2. Serbe et al. (2016, Neuron 89:829-841) — PHYSIOLOGY paper: calcium imaging (GCaMP6f, two-photon), whole-cell patch-clamp electrophysiology, and optogenetics (CsChrimson, GtACR1) to characterize T5 motion detector inputs. This is NOT connectomics.</a:t>
            </a:r>
          </a:p>
          <a:p>
            <a:r>
              <a:t>3. Ammer, Serbe-Kamp et al. (2023, Nature Neurosci. 26:1894-1905) — GluClα mediates motion-opponent inhibition at all levels of the Drosophila motion pathway</a:t>
            </a:r>
          </a:p>
          <a:p>
            <a:r>
              <a:t>4. Serbe-Kamp et al. (2023, J. Neurosci. 43:2497-2514) — demonstrated that nonlinear voltage-to-calcium transformation in T4 neurons sharpens directional tuning</a:t>
            </a:r>
          </a:p>
          <a:p/>
          <a:p>
            <a:r>
              <a:t>The 2016 Neuron paper is about PHYSIOLOGY: functional characterization using calcium imaging, whole-cell recordings, and optogenetics. NOT connectomics. Dr. Serbe-Kamp currently works on connectomics with MESH.</a:t>
            </a:r>
          </a:p>
          <a:p/>
          <a:p>
            <a:r>
              <a:t>=== GluCl / IVERMECTIN CONNECTION ===</a:t>
            </a:r>
          </a:p>
          <a:p>
            <a:r>
              <a:t>GluCl is a glutamate-gated chloride channel in the Cys-loop receptor superfamily (same family as GABA-A, glycine receptors, nAChR). Ivermectin locks GluCl open → Cl⁻ influx → hyperpolarization → paralysis in parasites. 2015 Nobel Prize in Physiology or Medicine (Satoshi Ōmura &amp; William C. Campbell) for the discovery of avermectin/ivermectin. Dr. Serbe-Kamp's 2023 Nat.Neurosci. paper (Ammer, Serbe-Kamp et al., 26:1894-1905) found GluClα mediates inhibition in Drosophila motion circuits — same channel family, different organism, different function.</a:t>
            </a:r>
          </a:p>
          <a:p/>
          <a:p>
            <a:r>
              <a:t>=== HODGKIN-HUXLEY MODEL ===</a:t>
            </a:r>
          </a:p>
          <a:p>
            <a:r>
              <a:t>CITATION: Hodgkin &amp; Huxley (1952) 'A quantitative description of membrane current and its application to conduction and excitation in nerve.' J. Physiol. 117:500-544. Won the 1963 Nobel Prize in Physiology or Medicine (shared with John Eccles).</a:t>
            </a:r>
          </a:p>
          <a:p>
            <a:r>
              <a:t>Equation: C_m * dV/dt = -g_Na*m³h*(V-E_Na) - g_K*n⁴*(V-E_K) - g_L*(V-E_L) + I_ext</a:t>
            </a:r>
          </a:p>
          <a:p>
            <a:r>
              <a:t>Drug effects = modifying conductance parameters (g_Na, g_K). For example:</a:t>
            </a:r>
          </a:p>
          <a:p>
            <a:r>
              <a:t>- Lidocaine (Nav blocker): reduce g_Na → fewer/no action potentials</a:t>
            </a:r>
          </a:p>
          <a:p>
            <a:r>
              <a:t>- 4-aminopyridine (Kv blocker): reduce g_K → broader action potentials</a:t>
            </a:r>
          </a:p>
          <a:p>
            <a:r>
              <a:t>- Tetrodotoxin (TTX, pufferfish toxin): completely blocks Nav → no firing</a:t>
            </a:r>
          </a:p>
          <a:p>
            <a:r>
              <a:t>We simulate this in the Day 1 practical!</a:t>
            </a:r>
          </a:p>
          <a:p/>
          <a:p>
            <a:r>
              <a:t>=== SPIKERBOX ===</a:t>
            </a:r>
          </a:p>
          <a:p>
            <a:r>
              <a:t>CITATION: Marzullo &amp; Gage (2012) 'The SpikerBox: A Low Cost, Open-Source BioAmplifier for Increasing Public Participation in Neuroscience Inquiry.' PLoS ONE 7(3):e30837. Note: published in PLoS ONE, not Advances in Physiology Education.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125-130 min</a:t>
            </a:r>
          </a:p>
          <a:p/>
          <a:p>
            <a:r>
              <a:t>2 min quick overview. RDKit is the NumPy of chemistry. We'll use it immediately in the practical.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130-145 min</a:t>
            </a:r>
          </a:p>
          <a:p/>
          <a:p>
            <a:r>
              <a:t>Break time! Students should stretch, get coffee, and start thinking about project ideas. Encourage informal conversations about which project they might want to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145-170 min (25 min for this slide + discussion + sign-up)</a:t>
            </a:r>
          </a:p>
          <a:p/>
          <a:p>
            <a:r>
              <a:t>=== PROJECT DETAILS ===</a:t>
            </a:r>
          </a:p>
          <a:p/>
          <a:p>
            <a:r>
              <a:t>HARDWARE / PHYSIOLOGY PROJECTS (Poster format — collect your own data):</a:t>
            </a:r>
          </a:p>
          <a:p/>
          <a:p>
            <a:r>
              <a:t>1. COMPUTATIONAL SPIKERBOX:</a:t>
            </a:r>
          </a:p>
          <a:p>
            <a:r>
              <a:t>   - Use Hodgkin-Huxley simulation to generate synthetic neural signals</a:t>
            </a:r>
          </a:p>
          <a:p>
            <a:r>
              <a:t>   - Apply ML classification to spike patterns</a:t>
            </a:r>
          </a:p>
          <a:p>
            <a:r>
              <a:t>   - Model how ion channel drugs (Nav blockers, K+ modulators) change firing patterns</a:t>
            </a:r>
          </a:p>
          <a:p>
            <a:r>
              <a:t>   - Justify: directly connects to Day 1 content (ion channels, drug targets, physiology as readout)</a:t>
            </a:r>
          </a:p>
          <a:p>
            <a:r>
              <a:t>   - If real SpikerBox available: validate simulations against real recordings</a:t>
            </a:r>
          </a:p>
          <a:p/>
          <a:p>
            <a:r>
              <a:t>2. SPIKERBOT:</a:t>
            </a:r>
          </a:p>
          <a:p>
            <a:r>
              <a:t>   - Program stimulation patterns (tonic, burst, Poisson)</a:t>
            </a:r>
          </a:p>
          <a:p>
            <a:r>
              <a:t>   - Record muscle/nerve responses to different stimulation</a:t>
            </a:r>
          </a:p>
          <a:p>
            <a:r>
              <a:t>   - Model computationally: build dose-response curves from stimulation parameters</a:t>
            </a:r>
          </a:p>
          <a:p>
            <a:r>
              <a:t>   - Justify: connects to biophysical modeling, drug-target interactions, dose-response (Day 2)</a:t>
            </a:r>
          </a:p>
          <a:p/>
          <a:p>
            <a:r>
              <a:t>3. BYB HUMAN SIGNALS:</a:t>
            </a:r>
          </a:p>
          <a:p>
            <a:r>
              <a:t>   - Record EMG (muscle), ECG (heart), or EEG (brain) with BYB devices</a:t>
            </a:r>
          </a:p>
          <a:p>
            <a:r>
              <a:t>   - Apply ML classification (e.g., classify hand gestures from EMG, detect arrhythmia from ECG)</a:t>
            </a:r>
          </a:p>
          <a:p>
            <a:r>
              <a:t>   - Pharmacological connection: caffeine effects on EMG/ECG, stress hormones on heart rate</a:t>
            </a:r>
          </a:p>
          <a:p>
            <a:r>
              <a:t>   - Justify: connects to physiological readout theme, ML classification (Day 2), signal processing</a:t>
            </a:r>
          </a:p>
          <a:p/>
          <a:p>
            <a:r>
              <a:t>4. EYE-TRACKING:</a:t>
            </a:r>
          </a:p>
          <a:p>
            <a:r>
              <a:t>   - Record eye movements during visual tasks</a:t>
            </a:r>
          </a:p>
          <a:p>
            <a:r>
              <a:t>   - ML on gaze data: classify attention states, predict task performance</a:t>
            </a:r>
          </a:p>
          <a:p>
            <a:r>
              <a:t>   - CNS drug connection: stimulants affect saccade latency, sedatives reduce fixation accuracy</a:t>
            </a:r>
          </a:p>
          <a:p>
            <a:r>
              <a:t>   - Justify: connects to Drosophila visual system (Dr. Serbe-Kamp's research), CNS pharmacology, ML</a:t>
            </a:r>
          </a:p>
          <a:p/>
          <a:p>
            <a:r>
              <a:t>5. VR SETUP:</a:t>
            </a:r>
          </a:p>
          <a:p>
            <a:r>
              <a:t>   - VR-based neuroscience experiment (reaction time, spatial navigation, perception)</a:t>
            </a:r>
          </a:p>
          <a:p>
            <a:r>
              <a:t>   - Collect behavioral data, apply ML analysis</a:t>
            </a:r>
          </a:p>
          <a:p>
            <a:r>
              <a:t>   - Drug connection: how CNS drugs alter perception, reaction time, spatial cognition</a:t>
            </a:r>
          </a:p>
          <a:p>
            <a:r>
              <a:t>   - Justify: connects to neural processing, computational modeling, behavioral pharmacology</a:t>
            </a:r>
          </a:p>
          <a:p/>
          <a:p>
            <a:r>
              <a:t>COMPUTATIONAL PROJECTS (Presentation format — reproduce or explain published work):</a:t>
            </a:r>
          </a:p>
          <a:p/>
          <a:p>
            <a:r>
              <a:t>6. CLASSICAL QSAR:</a:t>
            </a:r>
          </a:p>
          <a:p>
            <a:r>
              <a:t>   - Pick a neuroscience drug target from ChEMBL (e.g., GABA-A, serotonin 5-HT2A, dopamine D2, hERG)</a:t>
            </a:r>
          </a:p>
          <a:p>
            <a:r>
              <a:t>   - Build QSAR model using methods from Day 2-3</a:t>
            </a:r>
          </a:p>
          <a:p>
            <a:r>
              <a:t>   - Evaluate with scaffold splits, interpret with SHAP</a:t>
            </a:r>
          </a:p>
          <a:p>
            <a:r>
              <a:t>   - Justify: core course content, directly applicable</a:t>
            </a:r>
          </a:p>
          <a:p/>
          <a:p>
            <a:r>
              <a:t>7. ALPHAFOLD STRUCTURE:</a:t>
            </a:r>
          </a:p>
          <a:p>
            <a:r>
              <a:t>   - Pick a neuroscience drug target (ion channel, GPCR, transporter)</a:t>
            </a:r>
          </a:p>
          <a:p>
            <a:r>
              <a:t>   - Retrieve AlphaFold prediction, analyze binding sites</a:t>
            </a:r>
          </a:p>
          <a:p>
            <a:r>
              <a:t>   - Compare to experimental structure if available</a:t>
            </a:r>
          </a:p>
          <a:p>
            <a:r>
              <a:t>   - Reproduce key figures from Jumper et al. 2021 or related</a:t>
            </a:r>
          </a:p>
          <a:p>
            <a:r>
              <a:t>   - Justify: connects to protein structure, drug design, Day 3 content</a:t>
            </a:r>
          </a:p>
          <a:p/>
          <a:p>
            <a:r>
              <a:t>=== ON THE DAVID WILLSON mRNA STORY ===</a:t>
            </a:r>
          </a:p>
          <a:p>
            <a:r>
              <a:t>Students COULD present on personalized mRNA cancer vaccines as a topic, explaining the AI pipeline. This would be a PRESENTATION (not poster). It's based on news reporting, not a single reproducible paper. Students would need to:</a:t>
            </a:r>
          </a:p>
          <a:p>
            <a:r>
              <a:t>- Explain the neoantigen prediction pipeline</a:t>
            </a:r>
          </a:p>
          <a:p>
            <a:r>
              <a:t>- Discuss mRNA vaccine technology (well-published from COVID-19 work)</a:t>
            </a:r>
          </a:p>
          <a:p>
            <a:r>
              <a:t>- Address ethics and regulation</a:t>
            </a:r>
          </a:p>
          <a:p>
            <a:r>
              <a:t>- This is feasible but they should focus on the published science, not the specific dog case</a:t>
            </a:r>
          </a:p>
          <a:p/>
          <a:p>
            <a:r>
              <a:t>=== SIGN-UP PROCESS ===</a:t>
            </a:r>
          </a:p>
          <a:p>
            <a:r>
              <a:t>Have a sign-up sheet ready. Let students discuss for 10 min, then form groups and sign up before the practical. They can change until Day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170-175 min</a:t>
            </a:r>
          </a:p>
          <a:p/>
          <a:p>
            <a:r>
              <a:t>Quick 3-min clarification of the exam format. The key points:</a:t>
            </a:r>
          </a:p>
          <a:p>
            <a:r>
              <a:t>1. Both formats (poster and presentation) will involve Q&amp;A where you assess understanding</a:t>
            </a:r>
          </a:p>
          <a:p>
            <a:r>
              <a:t>2. For posters: original data collection + analysis shows initiative</a:t>
            </a:r>
          </a:p>
          <a:p>
            <a:r>
              <a:t>3. For presentations: reproducing or explaining published figures shows scientific depth</a:t>
            </a:r>
          </a:p>
          <a:p>
            <a:r>
              <a:t>4. Own ideas are welcome but must be approved by Day 2</a:t>
            </a:r>
          </a:p>
          <a:p>
            <a:r>
              <a:t>5. Publications will be uploaded to the publications/ folder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175-180 min (start practical)</a:t>
            </a:r>
          </a:p>
          <a:p/>
          <a:p>
            <a:r>
              <a:t>Spend 3 min explaining, then let students code. Walk around and help. The notebook is designed for Google Colab — they just upload and run.</a:t>
            </a:r>
          </a:p>
          <a:p/>
          <a:p>
            <a:r>
              <a:t>Part 1 uses EGFR inhibitors as the example dataset. Students may know gefitinib (Iressa), erlotinib (Tarceva).</a:t>
            </a:r>
          </a:p>
          <a:p/>
          <a:p>
            <a:r>
              <a:t>Part 2 is the physiology connection: Hodgkin-Huxley model simulates action potentials. By changing conductance parameters, students model drug effects (e.g., halving g_Na mimics a partial Nav blocker like lidocaine). This directly connects to the SpikerBox project options.</a:t>
            </a:r>
          </a:p>
          <a:p/>
          <a:p>
            <a:r>
              <a:t>Budget 55 min including code execution time. Code cells should run in &lt;30 sec each on Colab.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180-235 min (Units 4-5)</a:t>
            </a:r>
          </a:p>
          <a:p/>
          <a:p>
            <a:r>
              <a:t>55 minutes of hands-on coding. Walk around the room. Help students who are stuck. Encourage discussions between pairs.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235-245 min (Unit 6 start)</a:t>
            </a:r>
          </a:p>
          <a:p/>
          <a:p>
            <a:r>
              <a:t>7-min discussion connecting the physiology theme to project choice. Guide toward: different techniques answer different questions. Electrophysiology gives molecular-level resolution (single ion channels), calcium imaging gives cellular resolution, EEG/EMG gives systems-level data. The SpikerBox bridges the gap between molecular and systems levels.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245-255 min</a:t>
            </a:r>
          </a:p>
          <a:p/>
          <a:p>
            <a:r>
              <a:t>Quick 5-min recap. Emphasize the three themes: 1) Drug discovery has a problem (slow/expensive/risky), 2) AI is the solution, 3) Physiology is the validation. The GluCl example perfectly bridges neuroscience and drug discovery.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255-260 min</a:t>
            </a:r>
          </a:p>
          <a:p/>
          <a:p>
            <a:r>
              <a:t>Quick 3-min preview. Day 2 is the most content-heavy day (8 units). Students will go from molecular representation to trained, evaluated, and interpreted ML models in one day. Remind them to finish the Day 1 notebook and confirm project groups.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260-270 min (end)</a:t>
            </a:r>
          </a:p>
          <a:p/>
          <a:p>
            <a:r>
              <a:t>Open floor for questions. Remind about project sign-up. See you on 22 April!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1 — 15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AI for Drug Discovery</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From molecules to medicine — how AI is rewriting the rules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Course Overview — 4 Days + Exam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Day 1 (TODAY, 15 Apr): Introduction, Drug Discovery Pipeline, AI, Projects — 6 units</a:t>
            </a:r>
          </a:p>
          <a:p>
            <a:pPr>
              <a:spcAft>
                <a:spcPts val="800"/>
              </a:spcAft>
              <a:defRPr sz="2000">
                <a:solidFill>
                  <a:srgbClr val="323232"/>
                </a:solidFill>
                <a:latin typeface="Calibri"/>
              </a:defRPr>
            </a:pPr>
            <a:r>
              <a:t>Day 2 (22 Apr): Molecular Representation, QSAR, ML, Evaluation, SHAP — 8 units</a:t>
            </a:r>
          </a:p>
          <a:p>
            <a:pPr>
              <a:spcAft>
                <a:spcPts val="800"/>
              </a:spcAft>
              <a:defRPr sz="2000">
                <a:solidFill>
                  <a:srgbClr val="323232"/>
                </a:solidFill>
                <a:latin typeface="Calibri"/>
              </a:defRPr>
            </a:pPr>
            <a:r>
              <a:t>Day 3 (5 May): Deep Learning, GNNs, Generative AI, AlphaFold — 8 units</a:t>
            </a:r>
          </a:p>
          <a:p>
            <a:pPr>
              <a:spcAft>
                <a:spcPts val="800"/>
              </a:spcAft>
              <a:defRPr sz="2000">
                <a:solidFill>
                  <a:srgbClr val="323232"/>
                </a:solidFill>
                <a:latin typeface="Calibri"/>
              </a:defRPr>
            </a:pPr>
            <a:r>
              <a:t>Day 4 (19 May): Ethics, Physiology as Drug Readout, Project Workshop — 4 units</a:t>
            </a:r>
          </a:p>
          <a:p>
            <a:pPr>
              <a:spcAft>
                <a:spcPts val="800"/>
              </a:spcAft>
              <a:defRPr sz="2000">
                <a:solidFill>
                  <a:srgbClr val="323232"/>
                </a:solidFill>
                <a:latin typeface="Calibri"/>
              </a:defRPr>
            </a:pPr>
            <a:r>
              <a:t>EXAM (27 May): Group Presentations / Posters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Every day has: lecture + hands-on coding + discussion</a:t>
            </a:r>
          </a:p>
          <a:p>
            <a:pPr>
              <a:spcAft>
                <a:spcPts val="800"/>
              </a:spcAft>
              <a:defRPr sz="2000">
                <a:solidFill>
                  <a:srgbClr val="323232"/>
                </a:solidFill>
                <a:latin typeface="Calibri"/>
              </a:defRPr>
            </a:pPr>
            <a:r>
              <a:t>Assessment: Implementation 40% | Scientific reasoning 25% | Evaluation 20% | Presentation 15%</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Project sign-up TODAY — groups of 3-4 students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Brutal Reality of Drug Discovery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Average time to market: 12-15 years</a:t>
            </a:r>
          </a:p>
          <a:p>
            <a:pPr>
              <a:spcAft>
                <a:spcPts val="800"/>
              </a:spcAft>
              <a:defRPr sz="2000">
                <a:solidFill>
                  <a:srgbClr val="323232"/>
                </a:solidFill>
                <a:latin typeface="Calibri"/>
              </a:defRPr>
            </a:pPr>
            <a:r>
              <a:t>Average cost: $2.6 billion per approved drug (DiMasi et al., 2016)</a:t>
            </a:r>
          </a:p>
          <a:p>
            <a:pPr>
              <a:spcAft>
                <a:spcPts val="800"/>
              </a:spcAft>
              <a:defRPr sz="2000">
                <a:solidFill>
                  <a:srgbClr val="323232"/>
                </a:solidFill>
                <a:latin typeface="Calibri"/>
              </a:defRPr>
            </a:pPr>
            <a:r>
              <a:t>Success rate from Phase I to approval: ~7.9%</a:t>
            </a:r>
          </a:p>
          <a:p>
            <a:pPr>
              <a:spcAft>
                <a:spcPts val="800"/>
              </a:spcAft>
              <a:defRPr sz="2000">
                <a:solidFill>
                  <a:srgbClr val="323232"/>
                </a:solidFill>
                <a:latin typeface="Calibri"/>
              </a:defRPr>
            </a:pPr>
            <a:r>
              <a:t>Over 90% of drug candidates fail in clinical trials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But here's the key insight for this course:</a:t>
            </a:r>
          </a:p>
          <a:p>
            <a:pPr>
              <a:spcAft>
                <a:spcPts val="800"/>
              </a:spcAft>
              <a:defRPr sz="2000">
                <a:solidFill>
                  <a:srgbClr val="323232"/>
                </a:solidFill>
                <a:latin typeface="Calibri"/>
              </a:defRPr>
            </a:pPr>
            <a:r>
              <a:t>  The LAST readout of a drug is always PHYSIOLOGY</a:t>
            </a:r>
          </a:p>
          <a:p>
            <a:pPr>
              <a:spcAft>
                <a:spcPts val="800"/>
              </a:spcAft>
              <a:defRPr sz="2000">
                <a:solidFill>
                  <a:srgbClr val="323232"/>
                </a:solidFill>
                <a:latin typeface="Calibri"/>
              </a:defRPr>
            </a:pPr>
            <a:r>
              <a:t>  → Does it change cell function? Organ function? Patient health?</a:t>
            </a:r>
          </a:p>
          <a:p>
            <a:pPr>
              <a:spcAft>
                <a:spcPts val="800"/>
              </a:spcAft>
              <a:defRPr sz="2000">
                <a:solidFill>
                  <a:srgbClr val="323232"/>
                </a:solidFill>
                <a:latin typeface="Calibri"/>
              </a:defRPr>
            </a:pPr>
            <a:r>
              <a:t>  → Electrophysiology, calcium imaging, behavioral assays</a:t>
            </a:r>
          </a:p>
          <a:p>
            <a:pPr>
              <a:spcAft>
                <a:spcPts val="800"/>
              </a:spcAft>
              <a:defRPr sz="2000">
                <a:solidFill>
                  <a:srgbClr val="323232"/>
                </a:solidFill>
                <a:latin typeface="Calibri"/>
              </a:defRPr>
            </a:pPr>
            <a:r>
              <a:t>  → The same techniques used in neuroscience research on ion channels!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most expensive experiment in science is a failed clinical trial."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Drug Discovery Pipeline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TARGET IDENTIFICATION — Find a biological target (protein, ion channel, receptor)</a:t>
            </a:r>
          </a:p>
          <a:p>
            <a:pPr>
              <a:spcAft>
                <a:spcPts val="800"/>
              </a:spcAft>
              <a:defRPr sz="2000">
                <a:solidFill>
                  <a:srgbClr val="323232"/>
                </a:solidFill>
                <a:latin typeface="Calibri"/>
              </a:defRPr>
            </a:pPr>
            <a:r>
              <a:t>2. TARGET VALIDATION — Confirm relevance to disease</a:t>
            </a:r>
          </a:p>
          <a:p>
            <a:pPr>
              <a:spcAft>
                <a:spcPts val="800"/>
              </a:spcAft>
              <a:defRPr sz="2000">
                <a:solidFill>
                  <a:srgbClr val="323232"/>
                </a:solidFill>
                <a:latin typeface="Calibri"/>
              </a:defRPr>
            </a:pPr>
            <a:r>
              <a:t>3. HIT DISCOVERY — Screen millions of compounds (HTS or virtual screening)</a:t>
            </a:r>
          </a:p>
          <a:p>
            <a:pPr>
              <a:spcAft>
                <a:spcPts val="800"/>
              </a:spcAft>
              <a:defRPr sz="2000">
                <a:solidFill>
                  <a:srgbClr val="323232"/>
                </a:solidFill>
                <a:latin typeface="Calibri"/>
              </a:defRPr>
            </a:pPr>
            <a:r>
              <a:t>4. LEAD OPTIMIZATION — Improve potency, selectivity, ADMET properties</a:t>
            </a:r>
          </a:p>
          <a:p>
            <a:pPr>
              <a:spcAft>
                <a:spcPts val="800"/>
              </a:spcAft>
              <a:defRPr sz="2000">
                <a:solidFill>
                  <a:srgbClr val="323232"/>
                </a:solidFill>
                <a:latin typeface="Calibri"/>
              </a:defRPr>
            </a:pPr>
            <a:r>
              <a:t>5. PRECLINICAL — Animal studies for safety and efficacy</a:t>
            </a:r>
          </a:p>
          <a:p>
            <a:pPr>
              <a:spcAft>
                <a:spcPts val="800"/>
              </a:spcAft>
              <a:defRPr sz="2000">
                <a:solidFill>
                  <a:srgbClr val="323232"/>
                </a:solidFill>
                <a:latin typeface="Calibri"/>
              </a:defRPr>
            </a:pPr>
            <a:r>
              <a:t>6. PHASE I — Safety in healthy volunteers (20-100 people)</a:t>
            </a:r>
          </a:p>
          <a:p>
            <a:pPr>
              <a:spcAft>
                <a:spcPts val="800"/>
              </a:spcAft>
              <a:defRPr sz="2000">
                <a:solidFill>
                  <a:srgbClr val="323232"/>
                </a:solidFill>
                <a:latin typeface="Calibri"/>
              </a:defRPr>
            </a:pPr>
            <a:r>
              <a:t>7. PHASE II — Efficacy in patients (100-300 people)</a:t>
            </a:r>
          </a:p>
          <a:p>
            <a:pPr>
              <a:spcAft>
                <a:spcPts val="800"/>
              </a:spcAft>
              <a:defRPr sz="2000">
                <a:solidFill>
                  <a:srgbClr val="323232"/>
                </a:solidFill>
                <a:latin typeface="Calibri"/>
              </a:defRPr>
            </a:pPr>
            <a:r>
              <a:t>8. PHASE III — Large-scale trials (1,000-3,000+ people)</a:t>
            </a:r>
          </a:p>
          <a:p>
            <a:pPr>
              <a:spcAft>
                <a:spcPts val="800"/>
              </a:spcAft>
              <a:defRPr sz="2000">
                <a:solidFill>
                  <a:srgbClr val="323232"/>
                </a:solidFill>
                <a:latin typeface="Calibri"/>
              </a:defRPr>
            </a:pPr>
            <a:r>
              <a:t>9. FDA/EMA REVIEW &amp; APPROVAL</a:t>
            </a:r>
          </a:p>
          <a:p>
            <a:pPr>
              <a:spcAft>
                <a:spcPts val="800"/>
              </a:spcAft>
              <a:defRPr sz="2000">
                <a:solidFill>
                  <a:srgbClr val="323232"/>
                </a:solidFill>
                <a:latin typeface="Calibri"/>
              </a:defRPr>
            </a:pPr>
            <a:r>
              <a:t>10. POST-MARKET SURVEILLANCE (Phase IV)</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At EVERY stage: physiology is the readout (cell assays → animal → human)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Where AI Fits in the Pipeline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Target Identification — NLP on literature, network biology, multi-omics</a:t>
            </a:r>
          </a:p>
          <a:p>
            <a:pPr>
              <a:spcAft>
                <a:spcPts val="800"/>
              </a:spcAft>
              <a:defRPr sz="2000">
                <a:solidFill>
                  <a:srgbClr val="323232"/>
                </a:solidFill>
                <a:latin typeface="Calibri"/>
              </a:defRPr>
            </a:pPr>
            <a:r>
              <a:t>Virtual Screening — Score millions of compounds in silico (vs. months in HTS)</a:t>
            </a:r>
          </a:p>
          <a:p>
            <a:pPr>
              <a:spcAft>
                <a:spcPts val="800"/>
              </a:spcAft>
              <a:defRPr sz="2000">
                <a:solidFill>
                  <a:srgbClr val="323232"/>
                </a:solidFill>
                <a:latin typeface="Calibri"/>
              </a:defRPr>
            </a:pPr>
            <a:r>
              <a:t>Lead Optimization — Predict ADMET, suggest modifications</a:t>
            </a:r>
          </a:p>
          <a:p>
            <a:pPr>
              <a:spcAft>
                <a:spcPts val="800"/>
              </a:spcAft>
              <a:defRPr sz="2000">
                <a:solidFill>
                  <a:srgbClr val="323232"/>
                </a:solidFill>
                <a:latin typeface="Calibri"/>
              </a:defRPr>
            </a:pPr>
            <a:r>
              <a:t>De novo Drug Design — Generate entirely new molecules with desired properties</a:t>
            </a:r>
          </a:p>
          <a:p>
            <a:pPr>
              <a:spcAft>
                <a:spcPts val="800"/>
              </a:spcAft>
              <a:defRPr sz="2000">
                <a:solidFill>
                  <a:srgbClr val="323232"/>
                </a:solidFill>
                <a:latin typeface="Calibri"/>
              </a:defRPr>
            </a:pPr>
            <a:r>
              <a:t>Clinical Trial Optimization — Patient stratification, endpoint prediction</a:t>
            </a:r>
          </a:p>
          <a:p>
            <a:pPr>
              <a:spcAft>
                <a:spcPts val="800"/>
              </a:spcAft>
              <a:defRPr sz="2000">
                <a:solidFill>
                  <a:srgbClr val="323232"/>
                </a:solidFill>
                <a:latin typeface="Calibri"/>
              </a:defRPr>
            </a:pPr>
            <a:r>
              <a:t>Repurposing — Find new uses for existing drugs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AI can compress timelines by years and reduce costs significantly</a:t>
            </a:r>
          </a:p>
          <a:p>
            <a:pPr>
              <a:spcAft>
                <a:spcPts val="800"/>
              </a:spcAft>
              <a:defRPr sz="2000">
                <a:solidFill>
                  <a:srgbClr val="323232"/>
                </a:solidFill>
                <a:latin typeface="Calibri"/>
              </a:defRPr>
            </a:pPr>
            <a:r>
              <a:t>  McKinsey/MGI (2020): 'The Bio Revolution' report + 2022 analyses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Case study: Insilico Medicine ISM001-055 (Rentosertib)</a:t>
            </a:r>
          </a:p>
          <a:p>
            <a:pPr>
              <a:spcAft>
                <a:spcPts val="800"/>
              </a:spcAft>
              <a:defRPr sz="2000">
                <a:solidFill>
                  <a:srgbClr val="323232"/>
                </a:solidFill>
                <a:latin typeface="Calibri"/>
              </a:defRPr>
            </a:pPr>
            <a:r>
              <a:t>  First AI-designed drug to reach Phase IIa (enrolled Apr 2023)</a:t>
            </a:r>
          </a:p>
          <a:p>
            <a:pPr>
              <a:spcAft>
                <a:spcPts val="800"/>
              </a:spcAft>
              <a:defRPr sz="2000">
                <a:solidFill>
                  <a:srgbClr val="323232"/>
                </a:solidFill>
                <a:latin typeface="Calibri"/>
              </a:defRPr>
            </a:pPr>
            <a:r>
              <a:t>  Target to Phase II in ~30 months (vs. 4-5 years typical)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AlphaFold: The Protein Folding Revolution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Protein structure prediction — a 50-year grand challenge</a:t>
            </a:r>
          </a:p>
          <a:p>
            <a:pPr>
              <a:spcAft>
                <a:spcPts val="800"/>
              </a:spcAft>
              <a:defRPr sz="2000">
                <a:solidFill>
                  <a:srgbClr val="323232"/>
                </a:solidFill>
                <a:latin typeface="Calibri"/>
              </a:defRPr>
            </a:pPr>
            <a:r>
              <a:t>CASP14 (2020): AlphaFold2 achieved experimental-level accuracy</a:t>
            </a:r>
          </a:p>
          <a:p>
            <a:pPr>
              <a:spcAft>
                <a:spcPts val="800"/>
              </a:spcAft>
              <a:defRPr sz="2000">
                <a:solidFill>
                  <a:srgbClr val="323232"/>
                </a:solidFill>
                <a:latin typeface="Calibri"/>
              </a:defRPr>
            </a:pPr>
            <a:r>
              <a:t>Jumper et al. (2021), Nature — 2024 Nobel Prize in Chemistry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Impact on drug discovery &amp; neuroscience:</a:t>
            </a:r>
          </a:p>
          <a:p>
            <a:pPr>
              <a:spcAft>
                <a:spcPts val="800"/>
              </a:spcAft>
              <a:defRPr sz="2000">
                <a:solidFill>
                  <a:srgbClr val="323232"/>
                </a:solidFill>
                <a:latin typeface="Calibri"/>
              </a:defRPr>
            </a:pPr>
            <a:r>
              <a:t>  200+ million protein structures predicted (AlphaFold DB)</a:t>
            </a:r>
          </a:p>
          <a:p>
            <a:pPr>
              <a:spcAft>
                <a:spcPts val="800"/>
              </a:spcAft>
              <a:defRPr sz="2000">
                <a:solidFill>
                  <a:srgbClr val="323232"/>
                </a:solidFill>
                <a:latin typeface="Calibri"/>
              </a:defRPr>
            </a:pPr>
            <a:r>
              <a:t>  Ion channels, GPCRs, neurotransmitter receptors now have structures</a:t>
            </a:r>
          </a:p>
          <a:p>
            <a:pPr>
              <a:spcAft>
                <a:spcPts val="800"/>
              </a:spcAft>
              <a:defRPr sz="2000">
                <a:solidFill>
                  <a:srgbClr val="323232"/>
                </a:solidFill>
                <a:latin typeface="Calibri"/>
              </a:defRPr>
            </a:pPr>
            <a:r>
              <a:t>  Structure-based drug design for CNS targets (hERG, GABA-A, GluCl)</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AlphaFold3 (2024): predicts protein-ligand complexes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Student project option: reproduce AlphaFold figures for a drug target!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640080"/>
          </a:xfrm>
          <a:prstGeom prst="rect">
            <a:avLst/>
          </a:prstGeom>
          <a:noFill/>
        </p:spPr>
        <p:txBody>
          <a:bodyPr wrap="square">
            <a:spAutoFit/>
          </a:bodyPr>
          <a:lstStyle/>
          <a:p>
            <a:pPr algn="l">
              <a:defRPr sz="2600" b="1">
                <a:solidFill>
                  <a:srgbClr val="27AE60"/>
                </a:solidFill>
                <a:latin typeface="Calibri"/>
              </a:defRPr>
            </a:pPr>
            <a:r>
              <a:t>The DIY Medicine Story: David Willson's mRNA Vaccine for His Dog</a:t>
            </a:r>
          </a:p>
        </p:txBody>
      </p:sp>
      <p:sp>
        <p:nvSpPr>
          <p:cNvPr id="3" name="TextBox 2"/>
          <p:cNvSpPr txBox="1"/>
          <p:nvPr/>
        </p:nvSpPr>
        <p:spPr>
          <a:xfrm>
            <a:off x="1097280" y="1463040"/>
            <a:ext cx="9601200" cy="4754880"/>
          </a:xfrm>
          <a:prstGeom prst="rect">
            <a:avLst/>
          </a:prstGeom>
          <a:noFill/>
        </p:spPr>
        <p:txBody>
          <a:bodyPr wrap="square">
            <a:spAutoFit/>
          </a:bodyPr>
          <a:lstStyle/>
          <a:p>
            <a:pPr algn="l">
              <a:defRPr sz="2000" b="0">
                <a:solidFill>
                  <a:srgbClr val="FFFFFF"/>
                </a:solidFill>
                <a:latin typeface="Calibri"/>
              </a:defRPr>
            </a:pPr>
            <a:r>
              <a:t>In 2024, David Willson's dog was diagnosed with cancer.</a:t>
            </a:r>
            <a:br/>
            <a:br/>
            <a:r>
              <a:t>He worked with his veterinarian to design a personalized mRNA vaccine targeting his dog's specific tumor antigens — the same technology behind COVID-19 vaccines.</a:t>
            </a:r>
            <a:br/>
            <a:br/>
            <a:r>
              <a:t>The approach: sequence the tumor → identify neoantigens → design mRNA → train the immune system.</a:t>
            </a:r>
            <a:br/>
            <a:br/>
            <a:r>
              <a:t>The story went viral. Key question: is this the future of personalized medicine?</a:t>
            </a:r>
            <a:br/>
            <a:br/>
            <a:r>
              <a:t>NOTE: This is a widely reported news story, not a peer-reviewed publication. But the underlying science (mRNA cancer vaccines, neoantigen prediction) IS well-published.</a:t>
            </a:r>
            <a:br/>
            <a:br/>
            <a:r>
              <a:t>Possible student project: present the science behind personalized mRNA cancer vaccines and the AI pipeline that powers neoantigen prediction.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Molecular Data Types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How do we represent molecules for computers?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Molecular-Input Line-Entry System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way to write molecular structures as text strings</a:t>
            </a:r>
          </a:p>
          <a:p>
            <a:pPr>
              <a:spcAft>
                <a:spcPts val="800"/>
              </a:spcAft>
              <a:defRPr sz="2000">
                <a:solidFill>
                  <a:srgbClr val="323232"/>
                </a:solidFill>
                <a:latin typeface="Calibri"/>
              </a:defRPr>
            </a:pPr>
            <a:r>
              <a:t>Weininger (1988), J. Chem. Inf. Comput. Sci. 28:31-36</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Examples (including neuroscience drugs):</a:t>
            </a:r>
          </a:p>
          <a:p>
            <a:pPr>
              <a:spcAft>
                <a:spcPts val="800"/>
              </a:spcAft>
              <a:defRPr sz="2000">
                <a:solidFill>
                  <a:srgbClr val="323232"/>
                </a:solidFill>
                <a:latin typeface="Calibri"/>
              </a:defRPr>
            </a:pPr>
            <a:r>
              <a:t>  Water: O  |  Ethanol: CCO  |  Aspirin: CC(=O)Oc1ccccc1C(=O)O</a:t>
            </a:r>
          </a:p>
          <a:p>
            <a:pPr>
              <a:spcAft>
                <a:spcPts val="800"/>
              </a:spcAft>
              <a:defRPr sz="2000">
                <a:solidFill>
                  <a:srgbClr val="323232"/>
                </a:solidFill>
                <a:latin typeface="Calibri"/>
              </a:defRPr>
            </a:pPr>
            <a:r>
              <a:t>  Serotonin: NCCc1c[nH]c2ccc(O)cc12  (neurotransmitter)</a:t>
            </a:r>
          </a:p>
          <a:p>
            <a:pPr>
              <a:spcAft>
                <a:spcPts val="800"/>
              </a:spcAft>
              <a:defRPr sz="2000">
                <a:solidFill>
                  <a:srgbClr val="323232"/>
                </a:solidFill>
                <a:latin typeface="Calibri"/>
              </a:defRPr>
            </a:pPr>
            <a:r>
              <a:t>  Dopamine: NCCc1ccc(O)c(O)c1  (reward pathway)</a:t>
            </a:r>
          </a:p>
          <a:p>
            <a:pPr>
              <a:spcAft>
                <a:spcPts val="800"/>
              </a:spcAft>
              <a:defRPr sz="2000">
                <a:solidFill>
                  <a:srgbClr val="323232"/>
                </a:solidFill>
                <a:latin typeface="Calibri"/>
              </a:defRPr>
            </a:pPr>
            <a:r>
              <a:t>  GABA: NCCCC(=O)O  (main inhibitory neurotransmitter)</a:t>
            </a:r>
          </a:p>
          <a:p>
            <a:pPr>
              <a:spcAft>
                <a:spcPts val="800"/>
              </a:spcAft>
              <a:defRPr sz="2000">
                <a:solidFill>
                  <a:srgbClr val="323232"/>
                </a:solidFill>
                <a:latin typeface="Calibri"/>
              </a:defRPr>
            </a:pPr>
            <a:r>
              <a:t>  Diazepam (Valium): ClC1=CC2=C(C=C1)N(C)C(=O)CN2  (GABA-A modulator)</a:t>
            </a:r>
          </a:p>
          <a:p>
            <a:pPr>
              <a:spcAft>
                <a:spcPts val="800"/>
              </a:spcAft>
              <a:defRPr sz="2000">
                <a:solidFill>
                  <a:srgbClr val="323232"/>
                </a:solidFill>
                <a:latin typeface="Calibri"/>
              </a:defRPr>
            </a:pPr>
            <a:r>
              <a:t>  Caffeine: Cn1c(=O)c2c(ncn2C)n(C)c1=O  (adenosine antagonist)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Why SMILES matters: compact, human-readable, machine-parseable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Bioactivity &amp; Physiology: Measuring Drug Effects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How well does a molecule interact with its target?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measures:</a:t>
            </a:r>
          </a:p>
          <a:p>
            <a:pPr>
              <a:spcAft>
                <a:spcPts val="800"/>
              </a:spcAft>
              <a:defRPr sz="2000">
                <a:solidFill>
                  <a:srgbClr val="323232"/>
                </a:solidFill>
                <a:latin typeface="Calibri"/>
              </a:defRPr>
            </a:pPr>
            <a:r>
              <a:t>  IC50 — concentration inhibiting 50% of target  |  pIC50 = -log10(IC50)</a:t>
            </a:r>
          </a:p>
          <a:p>
            <a:pPr>
              <a:spcAft>
                <a:spcPts val="800"/>
              </a:spcAft>
              <a:defRPr sz="2000">
                <a:solidFill>
                  <a:srgbClr val="323232"/>
                </a:solidFill>
                <a:latin typeface="Calibri"/>
              </a:defRPr>
            </a:pPr>
            <a:r>
              <a:t>  Ki — binding affinity  |  EC50 — half-maximal effective concentration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PHYSIOLOGICAL READOUT (the final test):</a:t>
            </a:r>
          </a:p>
          <a:p>
            <a:pPr>
              <a:spcAft>
                <a:spcPts val="800"/>
              </a:spcAft>
              <a:defRPr sz="2000">
                <a:solidFill>
                  <a:srgbClr val="323232"/>
                </a:solidFill>
                <a:latin typeface="Calibri"/>
              </a:defRPr>
            </a:pPr>
            <a:r>
              <a:t>  Patch-clamp electrophysiology → IC50 for ion channel block (hERG, Nav, GluCl)</a:t>
            </a:r>
          </a:p>
          <a:p>
            <a:pPr>
              <a:spcAft>
                <a:spcPts val="800"/>
              </a:spcAft>
              <a:defRPr sz="2000">
                <a:solidFill>
                  <a:srgbClr val="323232"/>
                </a:solidFill>
                <a:latin typeface="Calibri"/>
              </a:defRPr>
            </a:pPr>
            <a:r>
              <a:t>  Calcium imaging → EC50 for receptor activation (GPCRs, GluCl)</a:t>
            </a:r>
          </a:p>
          <a:p>
            <a:pPr>
              <a:spcAft>
                <a:spcPts val="800"/>
              </a:spcAft>
              <a:defRPr sz="2000">
                <a:solidFill>
                  <a:srgbClr val="323232"/>
                </a:solidFill>
                <a:latin typeface="Calibri"/>
              </a:defRPr>
            </a:pPr>
            <a:r>
              <a:t>  Extracellular recording → drug effects on neural firing patterns</a:t>
            </a:r>
          </a:p>
          <a:p>
            <a:pPr>
              <a:spcAft>
                <a:spcPts val="800"/>
              </a:spcAft>
              <a:defRPr sz="2000">
                <a:solidFill>
                  <a:srgbClr val="323232"/>
                </a:solidFill>
                <a:latin typeface="Calibri"/>
              </a:defRPr>
            </a:pPr>
            <a:r>
              <a:t>  SpikerBox/SpikerBot → accessible version of these same measurements!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Databases: ChEMBL (~2.5M compounds), PubChem (&gt;110M), BindingDB</a:t>
            </a:r>
          </a:p>
          <a:p>
            <a:pPr>
              <a:spcAft>
                <a:spcPts val="800"/>
              </a:spcAft>
              <a:defRPr sz="2000">
                <a:solidFill>
                  <a:srgbClr val="323232"/>
                </a:solidFill>
                <a:latin typeface="Calibri"/>
              </a:defRPr>
            </a:pPr>
            <a:r>
              <a:t>This is where physiology expertise meets drug discovery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Physiology: The Final Readout of Drug Action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No matter how good your AI model, the drug must change PHYSIOLOGY: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hierarchy of drug readout:</a:t>
            </a:r>
          </a:p>
          <a:p>
            <a:pPr>
              <a:spcAft>
                <a:spcPts val="800"/>
              </a:spcAft>
              <a:defRPr sz="2000">
                <a:solidFill>
                  <a:srgbClr val="323232"/>
                </a:solidFill>
                <a:latin typeface="Calibri"/>
              </a:defRPr>
            </a:pPr>
            <a:r>
              <a:t>  1. In silico: AI predicts binding affinity (QSAR, docking, GNN)</a:t>
            </a:r>
          </a:p>
          <a:p>
            <a:pPr>
              <a:spcAft>
                <a:spcPts val="800"/>
              </a:spcAft>
              <a:defRPr sz="2000">
                <a:solidFill>
                  <a:srgbClr val="323232"/>
                </a:solidFill>
                <a:latin typeface="Calibri"/>
              </a:defRPr>
            </a:pPr>
            <a:r>
              <a:t>  2. In vitro: biochemical assay confirms binding (Ki, IC50)</a:t>
            </a:r>
          </a:p>
          <a:p>
            <a:pPr>
              <a:spcAft>
                <a:spcPts val="800"/>
              </a:spcAft>
              <a:defRPr sz="2000">
                <a:solidFill>
                  <a:srgbClr val="323232"/>
                </a:solidFill>
                <a:latin typeface="Calibri"/>
              </a:defRPr>
            </a:pPr>
            <a:r>
              <a:t>  3. Cellular: electrophysiology / calcium imaging shows functional effect</a:t>
            </a:r>
          </a:p>
          <a:p>
            <a:pPr>
              <a:spcAft>
                <a:spcPts val="800"/>
              </a:spcAft>
              <a:defRPr sz="2000">
                <a:solidFill>
                  <a:srgbClr val="323232"/>
                </a:solidFill>
                <a:latin typeface="Calibri"/>
              </a:defRPr>
            </a:pPr>
            <a:r>
              <a:t>  4. Tissue/organ: physiological response (cardiac QT, neural firing)</a:t>
            </a:r>
          </a:p>
          <a:p>
            <a:pPr>
              <a:spcAft>
                <a:spcPts val="800"/>
              </a:spcAft>
              <a:defRPr sz="2000">
                <a:solidFill>
                  <a:srgbClr val="323232"/>
                </a:solidFill>
                <a:latin typeface="Calibri"/>
              </a:defRPr>
            </a:pPr>
            <a:r>
              <a:t>  5. Organism: behavioral / clinical outcome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Serbe et al. (2016) Neuron 89:829-841: steps 3-4 in Drosophila</a:t>
            </a:r>
          </a:p>
          <a:p>
            <a:pPr>
              <a:spcAft>
                <a:spcPts val="800"/>
              </a:spcAft>
              <a:defRPr sz="2000">
                <a:solidFill>
                  <a:srgbClr val="323232"/>
                </a:solidFill>
                <a:latin typeface="Calibri"/>
              </a:defRPr>
            </a:pPr>
            <a:r>
              <a:t>  → Calcium imaging + electrophysiology + optogenetics</a:t>
            </a:r>
          </a:p>
          <a:p>
            <a:pPr>
              <a:spcAft>
                <a:spcPts val="800"/>
              </a:spcAft>
              <a:defRPr sz="2000">
                <a:solidFill>
                  <a:srgbClr val="323232"/>
                </a:solidFill>
                <a:latin typeface="Calibri"/>
              </a:defRPr>
            </a:pPr>
            <a:r>
              <a:t>  → Characterizing physiological responses of neurons to stimuli</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DIY drug readout: BYB SpikerBox measures steps 3-4 on your desk!</a:t>
            </a:r>
          </a:p>
          <a:p>
            <a:pPr>
              <a:spcAft>
                <a:spcPts val="800"/>
              </a:spcAft>
              <a:defRPr sz="2000">
                <a:solidFill>
                  <a:srgbClr val="323232"/>
                </a:solidFill>
                <a:latin typeface="Calibri"/>
              </a:defRPr>
            </a:pPr>
            <a:r>
              <a:t>This perspective connects AI predictions to biological reality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Biophysics &amp; The SpikerBot</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Bridging neuroscience tools and drug discovery</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Biophysical Modelling &amp; The SpikerBot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The SpikerBot (Backyard Brains) — record AND stimulate real neurons</a:t>
            </a:r>
          </a:p>
          <a:p>
            <a:pPr>
              <a:spcAft>
                <a:spcPts val="800"/>
              </a:spcAft>
              <a:defRPr sz="2000">
                <a:solidFill>
                  <a:srgbClr val="323232"/>
                </a:solidFill>
                <a:latin typeface="Calibri"/>
              </a:defRPr>
            </a:pPr>
            <a:r>
              <a:t>  BYB Summer Fellowships — citizen neuroscience at Backyard Brains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Ion channels are important drug targets (Santos et al. 2017: ~6% of efficacy targets):</a:t>
            </a:r>
          </a:p>
          <a:p>
            <a:pPr>
              <a:spcAft>
                <a:spcPts val="800"/>
              </a:spcAft>
              <a:defRPr sz="2000">
                <a:solidFill>
                  <a:srgbClr val="323232"/>
                </a:solidFill>
                <a:latin typeface="Calibri"/>
              </a:defRPr>
            </a:pPr>
            <a:r>
              <a:t>  Nav (antiepileptics), GABA-A (anxiolytics), nAChR (addiction), hERG (safety)</a:t>
            </a:r>
          </a:p>
          <a:p>
            <a:pPr>
              <a:spcAft>
                <a:spcPts val="800"/>
              </a:spcAft>
              <a:defRPr sz="2000">
                <a:solidFill>
                  <a:srgbClr val="323232"/>
                </a:solidFill>
                <a:latin typeface="Calibri"/>
              </a:defRPr>
            </a:pPr>
            <a:r>
              <a:t>  GluCl channels (Cys-loop receptor family, studied in Drosophila) = ivermectin target!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Hodgkin-Huxley model (1952; Nobel Prize in Physiology/Medicine 1963):</a:t>
            </a:r>
          </a:p>
          <a:p>
            <a:pPr>
              <a:spcAft>
                <a:spcPts val="800"/>
              </a:spcAft>
              <a:defRPr sz="2000">
                <a:solidFill>
                  <a:srgbClr val="323232"/>
                </a:solidFill>
                <a:latin typeface="Calibri"/>
              </a:defRPr>
            </a:pPr>
            <a:r>
              <a:t>  Simulate how drugs alter ion channel gating → predict physiological effects</a:t>
            </a:r>
          </a:p>
          <a:p>
            <a:pPr>
              <a:spcAft>
                <a:spcPts val="800"/>
              </a:spcAft>
              <a:defRPr sz="2000">
                <a:solidFill>
                  <a:srgbClr val="323232"/>
                </a:solidFill>
                <a:latin typeface="Calibri"/>
              </a:defRPr>
            </a:pPr>
            <a:r>
              <a:t>  We simulate this in the Day 1 notebook!</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computational SpikerBox: simulate neural signals computationally,</a:t>
            </a:r>
          </a:p>
          <a:p>
            <a:pPr>
              <a:spcAft>
                <a:spcPts val="800"/>
              </a:spcAft>
              <a:defRPr sz="2000">
                <a:solidFill>
                  <a:srgbClr val="323232"/>
                </a:solidFill>
                <a:latin typeface="Calibri"/>
              </a:defRPr>
            </a:pPr>
            <a:r>
              <a:t>  then validate with real recordings — bridging AI and physiology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RDKit: The Chemistry Toolkit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RDKit — open-source cheminformatics library (C++ core, Python bindings)</a:t>
            </a:r>
          </a:p>
          <a:p>
            <a:pPr>
              <a:spcAft>
                <a:spcPts val="800"/>
              </a:spcAft>
              <a:defRPr sz="2000">
                <a:solidFill>
                  <a:srgbClr val="323232"/>
                </a:solidFill>
                <a:latin typeface="Calibri"/>
              </a:defRPr>
            </a:pPr>
            <a:r>
              <a:t>Landrum, G. (2006-2024). https://www.rdkit.org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What RDKit does:</a:t>
            </a:r>
          </a:p>
          <a:p>
            <a:pPr>
              <a:spcAft>
                <a:spcPts val="800"/>
              </a:spcAft>
              <a:defRPr sz="2000">
                <a:solidFill>
                  <a:srgbClr val="323232"/>
                </a:solidFill>
                <a:latin typeface="Calibri"/>
              </a:defRPr>
            </a:pPr>
            <a:r>
              <a:t>  Parse SMILES → molecular objects</a:t>
            </a:r>
          </a:p>
          <a:p>
            <a:pPr>
              <a:spcAft>
                <a:spcPts val="800"/>
              </a:spcAft>
              <a:defRPr sz="2000">
                <a:solidFill>
                  <a:srgbClr val="323232"/>
                </a:solidFill>
                <a:latin typeface="Calibri"/>
              </a:defRPr>
            </a:pPr>
            <a:r>
              <a:t>  Calculate properties (MW, LogP, HBD, HBA, TPSA)</a:t>
            </a:r>
          </a:p>
          <a:p>
            <a:pPr>
              <a:spcAft>
                <a:spcPts val="800"/>
              </a:spcAft>
              <a:defRPr sz="2000">
                <a:solidFill>
                  <a:srgbClr val="323232"/>
                </a:solidFill>
                <a:latin typeface="Calibri"/>
              </a:defRPr>
            </a:pPr>
            <a:r>
              <a:t>  Generate molecular fingerprints (Morgan/ECFP, MACCS)</a:t>
            </a:r>
          </a:p>
          <a:p>
            <a:pPr>
              <a:spcAft>
                <a:spcPts val="800"/>
              </a:spcAft>
              <a:defRPr sz="2000">
                <a:solidFill>
                  <a:srgbClr val="323232"/>
                </a:solidFill>
                <a:latin typeface="Calibri"/>
              </a:defRPr>
            </a:pPr>
            <a:r>
              <a:t>  Substructure searching and molecular similarity</a:t>
            </a:r>
          </a:p>
          <a:p>
            <a:pPr>
              <a:spcAft>
                <a:spcPts val="800"/>
              </a:spcAft>
              <a:defRPr sz="2000">
                <a:solidFill>
                  <a:srgbClr val="323232"/>
                </a:solidFill>
                <a:latin typeface="Calibri"/>
              </a:defRPr>
            </a:pPr>
            <a:r>
              <a:t>  2D and 3D visualization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Installation: pip install rdkit</a:t>
            </a:r>
          </a:p>
          <a:p>
            <a:pPr>
              <a:spcAft>
                <a:spcPts val="800"/>
              </a:spcAft>
              <a:defRPr sz="2000">
                <a:solidFill>
                  <a:srgbClr val="323232"/>
                </a:solidFill>
                <a:latin typeface="Calibri"/>
              </a:defRPr>
            </a:pPr>
            <a:r>
              <a:t>We use RDKit throughout this entire course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Hands-on practical coming right after the break!</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BREAK — 15 minutes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Come back ready for the practical + project sign-up!</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Student Projects — Choose or Propose Your Own!</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Hardware / Physiology Projects (Poster format)</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1. Computational SpikerBox — simulate neural signals,</a:t>
            </a:r>
          </a:p>
          <a:p>
            <a:pPr>
              <a:spcAft>
                <a:spcPts val="800"/>
              </a:spcAft>
              <a:defRPr sz="1800">
                <a:solidFill>
                  <a:srgbClr val="323232"/>
                </a:solidFill>
                <a:latin typeface="Calibri"/>
              </a:defRPr>
            </a:pPr>
            <a:r>
              <a:t>   classify spike patterns with ML, model drug effects</a:t>
            </a:r>
          </a:p>
          <a:p>
            <a:pPr>
              <a:spcAft>
                <a:spcPts val="800"/>
              </a:spcAft>
              <a:defRPr sz="1800">
                <a:solidFill>
                  <a:srgbClr val="323232"/>
                </a:solidFill>
                <a:latin typeface="Calibri"/>
              </a:defRPr>
            </a:pPr>
            <a:r>
              <a:t>   on ion channels computationally</a:t>
            </a:r>
          </a:p>
          <a:p>
            <a:pPr>
              <a:spcAft>
                <a:spcPts val="800"/>
              </a:spcAft>
              <a:defRPr sz="1800">
                <a:solidFill>
                  <a:srgbClr val="323232"/>
                </a:solidFill>
                <a:latin typeface="Calibri"/>
              </a:defRPr>
            </a:pPr>
            <a:r>
              <a:t>2. SpikerBot — program stimulation patterns, record</a:t>
            </a:r>
          </a:p>
          <a:p>
            <a:pPr>
              <a:spcAft>
                <a:spcPts val="800"/>
              </a:spcAft>
              <a:defRPr sz="1800">
                <a:solidFill>
                  <a:srgbClr val="323232"/>
                </a:solidFill>
                <a:latin typeface="Calibri"/>
              </a:defRPr>
            </a:pPr>
            <a:r>
              <a:t>   physiological responses, model dose-response</a:t>
            </a:r>
          </a:p>
          <a:p>
            <a:pPr>
              <a:spcAft>
                <a:spcPts val="800"/>
              </a:spcAft>
              <a:defRPr sz="1800">
                <a:solidFill>
                  <a:srgbClr val="323232"/>
                </a:solidFill>
                <a:latin typeface="Calibri"/>
              </a:defRPr>
            </a:pPr>
            <a:r>
              <a:t>3. BYB Human Signals — record your own EMG/ECG/EEG,</a:t>
            </a:r>
          </a:p>
          <a:p>
            <a:pPr>
              <a:spcAft>
                <a:spcPts val="800"/>
              </a:spcAft>
              <a:defRPr sz="1800">
                <a:solidFill>
                  <a:srgbClr val="323232"/>
                </a:solidFill>
                <a:latin typeface="Calibri"/>
              </a:defRPr>
            </a:pPr>
            <a:r>
              <a:t>   apply ML classification, relate to pharmacology</a:t>
            </a:r>
          </a:p>
          <a:p>
            <a:pPr>
              <a:spcAft>
                <a:spcPts val="800"/>
              </a:spcAft>
              <a:defRPr sz="1800">
                <a:solidFill>
                  <a:srgbClr val="323232"/>
                </a:solidFill>
                <a:latin typeface="Calibri"/>
              </a:defRPr>
            </a:pPr>
            <a:r>
              <a:t>4. Eye-Tracking — visual processing + CNS drug effects</a:t>
            </a:r>
          </a:p>
          <a:p>
            <a:pPr>
              <a:spcAft>
                <a:spcPts val="800"/>
              </a:spcAft>
              <a:defRPr sz="1800">
                <a:solidFill>
                  <a:srgbClr val="323232"/>
                </a:solidFill>
                <a:latin typeface="Calibri"/>
              </a:defRPr>
            </a:pPr>
            <a:r>
              <a:t>   on attention/saccades, ML on gaze data</a:t>
            </a:r>
          </a:p>
          <a:p>
            <a:pPr>
              <a:spcAft>
                <a:spcPts val="800"/>
              </a:spcAft>
              <a:defRPr sz="1800">
                <a:solidFill>
                  <a:srgbClr val="323232"/>
                </a:solidFill>
                <a:latin typeface="Calibri"/>
              </a:defRPr>
            </a:pPr>
            <a:r>
              <a:t>5. VR Setup — VR-based neuro experiments, behavioral</a:t>
            </a:r>
          </a:p>
          <a:p>
            <a:pPr>
              <a:spcAft>
                <a:spcPts val="800"/>
              </a:spcAft>
              <a:defRPr sz="1800">
                <a:solidFill>
                  <a:srgbClr val="323232"/>
                </a:solidFill>
                <a:latin typeface="Calibri"/>
              </a:defRPr>
            </a:pPr>
            <a:r>
              <a:t>   data + ML, connect to drug effects on perception</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Computational Projects (Presentation format)</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6. Classical QSAR — build QSAR model for a neuro</a:t>
            </a:r>
          </a:p>
          <a:p>
            <a:pPr>
              <a:spcAft>
                <a:spcPts val="800"/>
              </a:spcAft>
              <a:defRPr sz="1800">
                <a:solidFill>
                  <a:srgbClr val="323232"/>
                </a:solidFill>
                <a:latin typeface="Calibri"/>
              </a:defRPr>
            </a:pPr>
            <a:r>
              <a:t>   drug target (GABA-A, 5-HT, dopamine D2, hERG)</a:t>
            </a:r>
          </a:p>
          <a:p>
            <a:pPr>
              <a:spcAft>
                <a:spcPts val="800"/>
              </a:spcAft>
              <a:defRPr sz="1800">
                <a:solidFill>
                  <a:srgbClr val="323232"/>
                </a:solidFill>
                <a:latin typeface="Calibri"/>
              </a:defRPr>
            </a:pPr>
            <a:r>
              <a:t>   from ChEMBL data (Day 2-3 methods)</a:t>
            </a:r>
          </a:p>
          <a:p>
            <a:pPr>
              <a:spcAft>
                <a:spcPts val="800"/>
              </a:spcAft>
              <a:defRPr sz="1800">
                <a:solidFill>
                  <a:srgbClr val="323232"/>
                </a:solidFill>
                <a:latin typeface="Calibri"/>
              </a:defRPr>
            </a:pPr>
            <a:r>
              <a:t>7. AlphaFold Structure — predict a neuro target,</a:t>
            </a:r>
          </a:p>
          <a:p>
            <a:pPr>
              <a:spcAft>
                <a:spcPts val="800"/>
              </a:spcAft>
              <a:defRPr sz="1800">
                <a:solidFill>
                  <a:srgbClr val="323232"/>
                </a:solidFill>
                <a:latin typeface="Calibri"/>
              </a:defRPr>
            </a:pPr>
            <a:r>
              <a:t>   analyze binding sites, reproduce key figures</a:t>
            </a:r>
          </a:p>
          <a:p>
            <a:pPr>
              <a:spcAft>
                <a:spcPts val="800"/>
              </a:spcAft>
              <a:defRPr sz="1800">
                <a:solidFill>
                  <a:srgbClr val="323232"/>
                </a:solidFill>
                <a:latin typeface="Calibri"/>
              </a:defRPr>
            </a:pPr>
          </a:p>
          <a:p>
            <a:pPr>
              <a:spcAft>
                <a:spcPts val="800"/>
              </a:spcAft>
              <a:defRPr sz="1800">
                <a:solidFill>
                  <a:srgbClr val="323232"/>
                </a:solidFill>
                <a:latin typeface="Calibri"/>
              </a:defRPr>
            </a:pPr>
            <a:r>
              <a:t>OWN IDEA? Propose it today!</a:t>
            </a:r>
          </a:p>
          <a:p>
            <a:pPr>
              <a:spcAft>
                <a:spcPts val="800"/>
              </a:spcAft>
              <a:defRPr sz="1800">
                <a:solidFill>
                  <a:srgbClr val="323232"/>
                </a:solidFill>
                <a:latin typeface="Calibri"/>
              </a:defRPr>
            </a:pPr>
          </a:p>
          <a:p>
            <a:pPr>
              <a:spcAft>
                <a:spcPts val="800"/>
              </a:spcAft>
              <a:defRPr sz="1800">
                <a:solidFill>
                  <a:srgbClr val="323232"/>
                </a:solidFill>
                <a:latin typeface="Calibri"/>
              </a:defRPr>
            </a:pPr>
            <a:r>
              <a:t>Format: Poster (own data) or Presentation</a:t>
            </a:r>
          </a:p>
          <a:p>
            <a:pPr>
              <a:spcAft>
                <a:spcPts val="800"/>
              </a:spcAft>
              <a:defRPr sz="1800">
                <a:solidFill>
                  <a:srgbClr val="323232"/>
                </a:solidFill>
                <a:latin typeface="Calibri"/>
              </a:defRPr>
            </a:pPr>
            <a:r>
              <a:t>  (reproduce/explain published figures)</a:t>
            </a:r>
          </a:p>
          <a:p>
            <a:pPr>
              <a:spcAft>
                <a:spcPts val="800"/>
              </a:spcAft>
              <a:defRPr sz="1800">
                <a:solidFill>
                  <a:srgbClr val="323232"/>
                </a:solidFill>
                <a:latin typeface="Calibri"/>
              </a:defRPr>
            </a:pPr>
            <a:r>
              <a:t>Groups of 3-4 | Exam: 27 May</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What You'll Present on 27 May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POSTER (Projects 1-5: own data collection):</a:t>
            </a:r>
          </a:p>
          <a:p>
            <a:pPr>
              <a:spcAft>
                <a:spcPts val="800"/>
              </a:spcAft>
              <a:defRPr sz="2000">
                <a:solidFill>
                  <a:srgbClr val="323232"/>
                </a:solidFill>
                <a:latin typeface="Calibri"/>
              </a:defRPr>
            </a:pPr>
            <a:r>
              <a:t>  → Collect physiological/behavioral data using BYB gear / eye-tracker / VR</a:t>
            </a:r>
          </a:p>
          <a:p>
            <a:pPr>
              <a:spcAft>
                <a:spcPts val="800"/>
              </a:spcAft>
              <a:defRPr sz="2000">
                <a:solidFill>
                  <a:srgbClr val="323232"/>
                </a:solidFill>
                <a:latin typeface="Calibri"/>
              </a:defRPr>
            </a:pPr>
            <a:r>
              <a:t>  → Apply ML analysis from the course</a:t>
            </a:r>
          </a:p>
          <a:p>
            <a:pPr>
              <a:spcAft>
                <a:spcPts val="800"/>
              </a:spcAft>
              <a:defRPr sz="2000">
                <a:solidFill>
                  <a:srgbClr val="323232"/>
                </a:solidFill>
                <a:latin typeface="Calibri"/>
              </a:defRPr>
            </a:pPr>
            <a:r>
              <a:t>  → Present results as a scientific poster</a:t>
            </a:r>
          </a:p>
          <a:p>
            <a:pPr>
              <a:spcAft>
                <a:spcPts val="800"/>
              </a:spcAft>
              <a:defRPr sz="2000">
                <a:solidFill>
                  <a:srgbClr val="323232"/>
                </a:solidFill>
                <a:latin typeface="Calibri"/>
              </a:defRPr>
            </a:pPr>
            <a:r>
              <a:t>  → I will ask questions to assess understanding depth</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PRESENTATION (Projects 6-7 or publication-based):</a:t>
            </a:r>
          </a:p>
          <a:p>
            <a:pPr>
              <a:spcAft>
                <a:spcPts val="800"/>
              </a:spcAft>
              <a:defRPr sz="2000">
                <a:solidFill>
                  <a:srgbClr val="323232"/>
                </a:solidFill>
                <a:latin typeface="Calibri"/>
              </a:defRPr>
            </a:pPr>
            <a:r>
              <a:t>  → Reproduce figures from a published paper OR</a:t>
            </a:r>
          </a:p>
          <a:p>
            <a:pPr>
              <a:spcAft>
                <a:spcPts val="800"/>
              </a:spcAft>
              <a:defRPr sz="2000">
                <a:solidFill>
                  <a:srgbClr val="323232"/>
                </a:solidFill>
                <a:latin typeface="Calibri"/>
              </a:defRPr>
            </a:pPr>
            <a:r>
              <a:t>  → Explain how figures were generated (e.g., AlphaFold methods)</a:t>
            </a:r>
          </a:p>
          <a:p>
            <a:pPr>
              <a:spcAft>
                <a:spcPts val="800"/>
              </a:spcAft>
              <a:defRPr sz="2000">
                <a:solidFill>
                  <a:srgbClr val="323232"/>
                </a:solidFill>
                <a:latin typeface="Calibri"/>
              </a:defRPr>
            </a:pPr>
            <a:r>
              <a:t>  → 15-20 minutes per group + Q&amp;A</a:t>
            </a:r>
          </a:p>
          <a:p>
            <a:pPr>
              <a:spcAft>
                <a:spcPts val="800"/>
              </a:spcAft>
              <a:defRPr sz="2000">
                <a:solidFill>
                  <a:srgbClr val="323232"/>
                </a:solidFill>
                <a:latin typeface="Calibri"/>
              </a:defRPr>
            </a:pPr>
          </a:p>
          <a:p>
            <a:pPr>
              <a:spcAft>
                <a:spcPts val="800"/>
              </a:spcAft>
              <a:defRPr sz="2000">
                <a:solidFill>
                  <a:srgbClr val="323232"/>
                </a:solidFill>
                <a:latin typeface="Calibri"/>
              </a:defRPr>
            </a:pPr>
            <a:r>
              <a:t>OWN IDEAS welcome! Propose by Day 2 (22 Apr)</a:t>
            </a:r>
          </a:p>
          <a:p>
            <a:pPr>
              <a:spcAft>
                <a:spcPts val="800"/>
              </a:spcAft>
              <a:defRPr sz="2000">
                <a:solidFill>
                  <a:srgbClr val="323232"/>
                </a:solidFill>
                <a:latin typeface="Calibri"/>
              </a:defRPr>
            </a:pPr>
            <a:r>
              <a:t>All publications will be available in the course repository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Sign up NOW → groups of 3-4</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Explore Molecules with RDKit + Hodgkin-Huxley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day1_introduction/Day1_Practical.ipynb in Google Colab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Part 1 — RDKit Basics (~30 min):</a:t>
            </a:r>
          </a:p>
          <a:p>
            <a:pPr>
              <a:spcAft>
                <a:spcPts val="800"/>
              </a:spcAft>
              <a:defRPr sz="2000">
                <a:solidFill>
                  <a:srgbClr val="323232"/>
                </a:solidFill>
                <a:latin typeface="Calibri"/>
              </a:defRPr>
            </a:pPr>
            <a:r>
              <a:t>  1. Install and import RDKit</a:t>
            </a:r>
          </a:p>
          <a:p>
            <a:pPr>
              <a:spcAft>
                <a:spcPts val="800"/>
              </a:spcAft>
              <a:defRPr sz="2000">
                <a:solidFill>
                  <a:srgbClr val="323232"/>
                </a:solidFill>
                <a:latin typeface="Calibri"/>
              </a:defRPr>
            </a:pPr>
            <a:r>
              <a:t>  2. Load EGFR inhibitor dataset from ChEMBL</a:t>
            </a:r>
          </a:p>
          <a:p>
            <a:pPr>
              <a:spcAft>
                <a:spcPts val="800"/>
              </a:spcAft>
              <a:defRPr sz="2000">
                <a:solidFill>
                  <a:srgbClr val="323232"/>
                </a:solidFill>
                <a:latin typeface="Calibri"/>
              </a:defRPr>
            </a:pPr>
            <a:r>
              <a:t>  3. Parse SMILES and visualize molecules</a:t>
            </a:r>
          </a:p>
          <a:p>
            <a:pPr>
              <a:spcAft>
                <a:spcPts val="800"/>
              </a:spcAft>
              <a:defRPr sz="2000">
                <a:solidFill>
                  <a:srgbClr val="323232"/>
                </a:solidFill>
                <a:latin typeface="Calibri"/>
              </a:defRPr>
            </a:pPr>
            <a:r>
              <a:t>  4. Calculate molecular properties (MW, LogP, rings)</a:t>
            </a:r>
          </a:p>
          <a:p>
            <a:pPr>
              <a:spcAft>
                <a:spcPts val="800"/>
              </a:spcAft>
              <a:defRPr sz="2000">
                <a:solidFill>
                  <a:srgbClr val="323232"/>
                </a:solidFill>
                <a:latin typeface="Calibri"/>
              </a:defRPr>
            </a:pPr>
            <a:r>
              <a:t>  5. Plot property distributions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Part 2 — Hodgkin-Huxley Simulation (~25 min):</a:t>
            </a:r>
          </a:p>
          <a:p>
            <a:pPr>
              <a:spcAft>
                <a:spcPts val="800"/>
              </a:spcAft>
              <a:defRPr sz="2000">
                <a:solidFill>
                  <a:srgbClr val="323232"/>
                </a:solidFill>
                <a:latin typeface="Calibri"/>
              </a:defRPr>
            </a:pPr>
            <a:r>
              <a:t>  6. Simulate a neuron's action potential</a:t>
            </a:r>
          </a:p>
          <a:p>
            <a:pPr>
              <a:spcAft>
                <a:spcPts val="800"/>
              </a:spcAft>
              <a:defRPr sz="2000">
                <a:solidFill>
                  <a:srgbClr val="323232"/>
                </a:solidFill>
                <a:latin typeface="Calibri"/>
              </a:defRPr>
            </a:pPr>
            <a:r>
              <a:t>  7. Model drug effects: change Nav/K channel conductance</a:t>
            </a:r>
          </a:p>
          <a:p>
            <a:pPr>
              <a:spcAft>
                <a:spcPts val="800"/>
              </a:spcAft>
              <a:defRPr sz="2000">
                <a:solidFill>
                  <a:srgbClr val="323232"/>
                </a:solidFill>
                <a:latin typeface="Calibri"/>
              </a:defRPr>
            </a:pPr>
            <a:r>
              <a:t>  8. Visualize how drugs alter firing patterns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budget: ~55 min including code execution | Work in pairs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HANDS-ON PRACTICAL</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Open your notebooks — let's code!</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If you could measure ONE physiological effect</a:t>
            </a:r>
            <a:br/>
            <a:r>
              <a:t>of a drug, which technique would you choose and why?</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Consider: electrophysiology (ion channels), calcium imaging (signaling),</a:t>
            </a:r>
          </a:p>
          <a:p>
            <a:pPr>
              <a:spcAft>
                <a:spcPts val="800"/>
              </a:spcAft>
              <a:defRPr sz="1800">
                <a:solidFill>
                  <a:srgbClr val="F0F0F0"/>
                </a:solidFill>
                <a:latin typeface="Calibri"/>
              </a:defRPr>
            </a:pPr>
            <a:r>
              <a:t>  EEG/EMG (whole-system), behavioral assays, imaging...</a:t>
            </a:r>
          </a:p>
          <a:p>
            <a:pPr>
              <a:spcAft>
                <a:spcPts val="800"/>
              </a:spcAft>
              <a:defRPr sz="1800">
                <a:solidFill>
                  <a:srgbClr val="F0F0F0"/>
                </a:solidFill>
                <a:latin typeface="Calibri"/>
              </a:defRPr>
            </a:pPr>
            <a:r>
              <a:t>Think about: sensitivity, specificity, throughput, cost</a:t>
            </a:r>
          </a:p>
          <a:p>
            <a:pPr>
              <a:spcAft>
                <a:spcPts val="800"/>
              </a:spcAft>
              <a:defRPr sz="1800">
                <a:solidFill>
                  <a:srgbClr val="F0F0F0"/>
                </a:solidFill>
                <a:latin typeface="Calibri"/>
              </a:defRPr>
            </a:pPr>
            <a:r>
              <a:t>Connect to: which of the 7 projects interests you most?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2800" b="1">
                <a:solidFill>
                  <a:srgbClr val="FFFFFF"/>
                </a:solidFill>
                <a:latin typeface="Calibri"/>
              </a:defRPr>
            </a:pPr>
            <a:r>
              <a:t>KEY TAKEAWAYS — DAY 1</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FFFFFF"/>
                </a:solidFill>
                <a:latin typeface="Calibri"/>
              </a:defRPr>
            </a:pPr>
            <a:r>
              <a:t>Drug discovery: 12-15 years, $2.6B, &gt;90% failure rate</a:t>
            </a:r>
          </a:p>
          <a:p>
            <a:pPr>
              <a:spcAft>
                <a:spcPts val="800"/>
              </a:spcAft>
              <a:defRPr sz="2200">
                <a:solidFill>
                  <a:srgbClr val="FFFFFF"/>
                </a:solidFill>
                <a:latin typeface="Calibri"/>
              </a:defRPr>
            </a:pPr>
            <a:r>
              <a:t>AI accelerates every stage — Insilico Medicine, AlphaFold</a:t>
            </a:r>
          </a:p>
          <a:p>
            <a:pPr>
              <a:spcAft>
                <a:spcPts val="800"/>
              </a:spcAft>
              <a:defRPr sz="2200">
                <a:solidFill>
                  <a:srgbClr val="FFFFFF"/>
                </a:solidFill>
                <a:latin typeface="Calibri"/>
              </a:defRPr>
            </a:pPr>
            <a:r>
              <a:t>Physiology is the LAST and MOST IMPORTANT readout of drugs</a:t>
            </a:r>
          </a:p>
          <a:p>
            <a:pPr>
              <a:spcAft>
                <a:spcPts val="800"/>
              </a:spcAft>
              <a:defRPr sz="2200">
                <a:solidFill>
                  <a:srgbClr val="FFFFFF"/>
                </a:solidFill>
                <a:latin typeface="Calibri"/>
              </a:defRPr>
            </a:pPr>
            <a:r>
              <a:t>  → Electrophysiology, calcium imaging = gold standard for drug validation</a:t>
            </a:r>
          </a:p>
          <a:p>
            <a:pPr>
              <a:spcAft>
                <a:spcPts val="800"/>
              </a:spcAft>
              <a:defRPr sz="2200">
                <a:solidFill>
                  <a:srgbClr val="FFFFFF"/>
                </a:solidFill>
                <a:latin typeface="Calibri"/>
              </a:defRPr>
            </a:pPr>
            <a:r>
              <a:t>  → SpikerBox/SpikerBot = accessible DIY drug readout</a:t>
            </a:r>
          </a:p>
          <a:p>
            <a:pPr>
              <a:spcAft>
                <a:spcPts val="800"/>
              </a:spcAft>
              <a:defRPr sz="2200">
                <a:solidFill>
                  <a:srgbClr val="FFFFFF"/>
                </a:solidFill>
                <a:latin typeface="Calibri"/>
              </a:defRPr>
            </a:pPr>
            <a:r>
              <a:t>SMILES converts molecules to text; bioactivity (IC50/Ki) comes from physiological assays</a:t>
            </a:r>
          </a:p>
          <a:p>
            <a:pPr>
              <a:spcAft>
                <a:spcPts val="800"/>
              </a:spcAft>
              <a:defRPr sz="2200">
                <a:solidFill>
                  <a:srgbClr val="FFFFFF"/>
                </a:solidFill>
                <a:latin typeface="Calibri"/>
              </a:defRPr>
            </a:pPr>
            <a:r>
              <a:t>GluCl channels: from Drosophila motion vision to ivermectin drug target</a:t>
            </a:r>
          </a:p>
          <a:p>
            <a:pPr>
              <a:spcAft>
                <a:spcPts val="800"/>
              </a:spcAft>
              <a:defRPr sz="2200">
                <a:solidFill>
                  <a:srgbClr val="FFFFFF"/>
                </a:solidFill>
                <a:latin typeface="Calibri"/>
              </a:defRPr>
            </a:pPr>
            <a:r>
              <a:t>7 project options proposed — sign up TODAY!</a:t>
            </a:r>
          </a:p>
          <a:p>
            <a:pPr>
              <a:spcAft>
                <a:spcPts val="800"/>
              </a:spcAft>
              <a:defRPr sz="2200">
                <a:solidFill>
                  <a:srgbClr val="FFFFFF"/>
                </a:solidFill>
                <a:latin typeface="Calibri"/>
              </a:defRPr>
            </a:pPr>
            <a:r>
              <a:t>Next (Day 2, 22 Apr): molecular fingerprints, QSAR, train your first ML model!</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Coming Up: Day 2 — 22 April 2026</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Morning (4 units):</a:t>
            </a:r>
          </a:p>
          <a:p>
            <a:pPr>
              <a:spcAft>
                <a:spcPts val="800"/>
              </a:spcAft>
              <a:defRPr sz="2000">
                <a:solidFill>
                  <a:srgbClr val="323232"/>
                </a:solidFill>
                <a:latin typeface="Calibri"/>
              </a:defRPr>
            </a:pPr>
            <a:r>
              <a:t>  Molecular fingerprints (Morgan/ECFP) deep dive</a:t>
            </a:r>
          </a:p>
          <a:p>
            <a:pPr>
              <a:spcAft>
                <a:spcPts val="800"/>
              </a:spcAft>
              <a:defRPr sz="2000">
                <a:solidFill>
                  <a:srgbClr val="323232"/>
                </a:solidFill>
                <a:latin typeface="Calibri"/>
              </a:defRPr>
            </a:pPr>
            <a:r>
              <a:t>  QSAR: Quantitative Structure-Activity Relationships</a:t>
            </a:r>
          </a:p>
          <a:p>
            <a:pPr>
              <a:spcAft>
                <a:spcPts val="800"/>
              </a:spcAft>
              <a:defRPr sz="2000">
                <a:solidFill>
                  <a:srgbClr val="323232"/>
                </a:solidFill>
                <a:latin typeface="Calibri"/>
              </a:defRPr>
            </a:pPr>
            <a:r>
              <a:t>  Train Random Forest &amp; XGBoost models</a:t>
            </a:r>
          </a:p>
          <a:p>
            <a:pPr>
              <a:spcAft>
                <a:spcPts val="800"/>
              </a:spcAft>
              <a:defRPr sz="2000">
                <a:solidFill>
                  <a:srgbClr val="323232"/>
                </a:solidFill>
                <a:latin typeface="Calibri"/>
              </a:defRPr>
            </a:pPr>
            <a:r>
              <a:t>  Practical: predict aqueous solubility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Afternoon (4 units):</a:t>
            </a:r>
          </a:p>
          <a:p>
            <a:pPr>
              <a:spcAft>
                <a:spcPts val="800"/>
              </a:spcAft>
              <a:defRPr sz="2000">
                <a:solidFill>
                  <a:srgbClr val="323232"/>
                </a:solidFill>
                <a:latin typeface="Calibri"/>
              </a:defRPr>
            </a:pPr>
            <a:r>
              <a:t>  Model evaluation: scaffold splits, metrics, overfitting</a:t>
            </a:r>
          </a:p>
          <a:p>
            <a:pPr>
              <a:spcAft>
                <a:spcPts val="800"/>
              </a:spcAft>
              <a:defRPr sz="2000">
                <a:solidFill>
                  <a:srgbClr val="323232"/>
                </a:solidFill>
                <a:latin typeface="Calibri"/>
              </a:defRPr>
            </a:pPr>
            <a:r>
              <a:t>  SHAP: explain your model's predictions</a:t>
            </a:r>
          </a:p>
          <a:p>
            <a:pPr>
              <a:spcAft>
                <a:spcPts val="800"/>
              </a:spcAft>
              <a:defRPr sz="2000">
                <a:solidFill>
                  <a:srgbClr val="323232"/>
                </a:solidFill>
                <a:latin typeface="Calibri"/>
              </a:defRPr>
            </a:pPr>
            <a:r>
              <a:t>  Practical: re-evaluate and interpret your QSAR model</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Preparation:</a:t>
            </a:r>
          </a:p>
          <a:p>
            <a:pPr>
              <a:spcAft>
                <a:spcPts val="800"/>
              </a:spcAft>
              <a:defRPr sz="2000">
                <a:solidFill>
                  <a:srgbClr val="323232"/>
                </a:solidFill>
                <a:latin typeface="Calibri"/>
              </a:defRPr>
            </a:pPr>
            <a:r>
              <a:t>  Finish today's practical notebook</a:t>
            </a:r>
          </a:p>
          <a:p>
            <a:pPr>
              <a:spcAft>
                <a:spcPts val="800"/>
              </a:spcAft>
              <a:defRPr sz="2000">
                <a:solidFill>
                  <a:srgbClr val="323232"/>
                </a:solidFill>
                <a:latin typeface="Calibri"/>
              </a:defRPr>
            </a:pPr>
            <a:r>
              <a:t>  Confirm your project group and topic</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Thank You! Questions?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Project sign-up sheet is open — form your groups!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