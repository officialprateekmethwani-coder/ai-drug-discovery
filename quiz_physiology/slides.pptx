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quiz at the END of the Day 2 physiology intro, or at the start of the afternoon. 10 questions, ~20 minutes. Tests whether students absorbed the morning physiology material. Questions go from basic vocabulary to mechanistic drug pharmacology.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Basic vocabulary. Most CS students won't know this. Use the answer to explain the ion gradient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-70 mV?</a:t>
            </a:r>
          </a:p>
          <a:p>
            <a:r>
              <a:t>The Na+/K+ pump moves 3 Na+ OUT and 2 K+ IN per ATP cycle. Net result: positive charge accumulates outside. K+ channels are also open at rest — K+ flows out (concentration gradient), leaving negative charge inside.</a:t>
            </a:r>
          </a:p>
          <a:p>
            <a:r>
              <a:t>Resting K+ channels make the membrane selectively permeable to K+ at rest. This brings the membrane toward E_K (about -90 mV). The pump and the leak together settle at ~-70 mV.</a:t>
            </a:r>
          </a:p>
          <a:p/>
          <a:p>
            <a:r>
              <a:t>DRUG RELEVANCE: local anesthetics, antiepileptics, and cardiac drugs all target the channels that control the resting potential and the action potential. Understanding the baseline helps you understand what the drug is changing.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mechanism of action potential. Na+ drives the rising phase. Ca2+ enters at synaptic terminals but is NOT the main depolarising 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RISING PHASE MECHANISM:</a:t>
            </a:r>
          </a:p>
          <a:p>
            <a:r>
              <a:t>Step 1: stimulus depolarises past -55 mV threshold</a:t>
            </a:r>
          </a:p>
          <a:p>
            <a:r>
              <a:t>Step 2: voltage-gated Nav snap open. The S4 helix in each domain acts as a voltage sensor — positively charged arginines move in the electric field when voltage changes, pulling the channel gate open.</a:t>
            </a:r>
          </a:p>
          <a:p>
            <a:r>
              <a:t>Step 3: Na+ floods in. Two driving forces (thermodynamic): (a) concentration gradient: 145 mM outside vs 12 mM inside = 12x higher outside; (b) electrical gradient: inside is -70 mV, Na+ (positive ion) is pulled toward negative interior.</a:t>
            </a:r>
          </a:p>
          <a:p>
            <a:r>
              <a:t>Step 4: membrane shoots to +40 mV (close to E_Na = +55 mV) in &lt; 1 ms.</a:t>
            </a:r>
          </a:p>
          <a:p/>
          <a:p>
            <a:r>
              <a:t>WHY NOT Ca2+? Ca2+ DOES enter at synaptic terminals to trigger neurotransmitter release. But this uses Cav2.1/2.2 channels, not the Nav channels of the axon. In cardiac muscle, Ca2+ does drive the plateau phase of the cardiac action potential. But in neurons, Na+ drives the spike.</a:t>
            </a:r>
          </a:p>
          <a:p/>
          <a:p>
            <a:r>
              <a:t>DRUG TARGETS (Nav):</a:t>
            </a:r>
          </a:p>
          <a:p>
            <a:r>
              <a:t>- Lidocaine/bupivacaine: local anesthetics. Block Nav. No spike = no pain signal.</a:t>
            </a:r>
          </a:p>
          <a:p>
            <a:r>
              <a:t>- Carbamazepine/phenytoin: anticonvulsants. Block Nav preferentially in rapidly-firing neurons (use-dependent block). Reduce seizure frequency.</a:t>
            </a:r>
          </a:p>
          <a:p>
            <a:r>
              <a:t>- Tetrodotoxin (TTX): from pufferfish. Extremely potent Nav blocker. Research tool. Deadly at nanomolar concentrations.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Historical context. Students may confuse with Watson &amp; Crick (DNA, 1953).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HISTORICAL CONTEXT:</a:t>
            </a:r>
          </a:p>
          <a:p>
            <a:r>
              <a:t>Alan Hodgkin and Andrew Huxley (Cambridge, UK) asked: HOW does a nerve impulse work mathematically? They chose the squid giant axon (Loligo) because it is 1 mm in diameter — 1000x larger than a human axon — easy to impale with metal wire electrodes. They could also perfuse the inside with different salt solutions.</a:t>
            </a:r>
          </a:p>
          <a:p/>
          <a:p>
            <a:r>
              <a:t>VOLTAGE CLAMP: They invented (with Cole &amp; Marmont) the voltage clamp. A feedback amplifier holds the membrane voltage at a set value and measures the current needed to do so. Since V is constant, the current directly reflects channel conductance: I = g(V-E).</a:t>
            </a:r>
          </a:p>
          <a:p/>
          <a:p>
            <a:r>
              <a:t>KEY EXPERIMENTS:</a:t>
            </a:r>
          </a:p>
          <a:p>
            <a:r>
              <a:t>1. Replace Na+ outside with choline (impermeant) → the fast inward current disappears. Confirms it is Na+.</a:t>
            </a:r>
          </a:p>
          <a:p>
            <a:r>
              <a:t>2. Replace K+ inside with Cs+ (blocks K+ channels) → the slow outward current disappears. Confirms it is K+.</a:t>
            </a:r>
          </a:p>
          <a:p>
            <a:r>
              <a:t>3. Fit empirical equations to the kinetics of each conductance: m³h for Na+, n⁴ for K+.</a:t>
            </a:r>
          </a:p>
          <a:p/>
          <a:p>
            <a:r>
              <a:t>THE MODEL: 5 papers published in J. Physiology in 1952. The last paper (Hodgkin &amp; Huxley 1952d) gives the full quantitative model and shows it correctly predicts: (1) action potential shape and amplitude, (2) threshold phenomenon, (3) refractory period, (4) accommodation. All from 4 equations fit to voltage clamp data.</a:t>
            </a:r>
          </a:p>
          <a:p/>
          <a:p>
            <a:r>
              <a:t>IMPACT: Every neuron model since 1952 uses HH-style conductance equations. The NEURON simulator (used by most computational neuroscientists) is essentially HH + cable theory. Understanding HH = understanding all modern computational neuroscience.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SpikerBox understanding from the physiology intro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EXTRACELLULAR RECORDING WORKS:</a:t>
            </a:r>
          </a:p>
          <a:p>
            <a:r>
              <a:t>When a neuron fires, Na+ flows IN at the spike site. This creates a current loop: Na+ enters the cell, creating a 'current sink' — a region where positive charge is being absorbed from the extracellular space. The extracellular fluid has to supply this Na+, meaning current flows TOWARD the spike site from adjacent regions (source-to-sink).</a:t>
            </a:r>
          </a:p>
          <a:p/>
          <a:p>
            <a:r>
              <a:t>An electrode placed near the neuron detects this current loop as a voltage fluctuation. The signal is tiny (~100-500 microvolts = 0.1-0.5 mV vs. 1.5 V in a AA battery = 3000-15000x smaller).</a:t>
            </a:r>
          </a:p>
          <a:p/>
          <a:p>
            <a:r>
              <a:t>THE SPIKERBOX ELECTRONICS:</a:t>
            </a:r>
          </a:p>
          <a:p>
            <a:r>
              <a:t>- Amplification: ~60 dB (x1000) to bring signal to audible/displayable range</a:t>
            </a:r>
          </a:p>
          <a:p>
            <a:r>
              <a:t>- Bandpass filter: 300-3000 Hz. This passes spike-frequency content, rejects: (a) motion artifact (very low freq), (b) electrode noise (very high freq), (c) 50/60 Hz power line interference (notch filter)</a:t>
            </a:r>
          </a:p>
          <a:p>
            <a:r>
              <a:t>- Output: audio jack (you literally HEAR the spikes as pops!) or USB to computer</a:t>
            </a:r>
          </a:p>
          <a:p/>
          <a:p>
            <a:r>
              <a:t>DRUG EXPERIMENT (classic demonstration):</a:t>
            </a:r>
          </a:p>
          <a:p>
            <a:r>
              <a:t>1. Set up cockroach leg preparation (remove one leg, keep alive with saline)</a:t>
            </a:r>
          </a:p>
          <a:p>
            <a:r>
              <a:t>2. Record baseline spontaneous activity (see spikes every few seconds)</a:t>
            </a:r>
          </a:p>
          <a:p>
            <a:r>
              <a:t>3. Add lidocaine (0.1-1 mg/mL): Na+ channels blocked → spikes slow, then stop</a:t>
            </a:r>
          </a:p>
          <a:p>
            <a:r>
              <a:t>4. Wash with saline: spikes return (lidocaine diffuses away)</a:t>
            </a:r>
          </a:p>
          <a:p>
            <a:r>
              <a:t>5. This IS a dose-response experiment — you could measure IC50!</a:t>
            </a:r>
          </a:p>
          <a:p/>
          <a:p>
            <a:r>
              <a:t>CONNECTION TO QSAR: The measurement you just did (how much lidocaine blocks 50% of spikes?) gives an IC50 value. This is EXACTLY what QSAR models predict from molecular structure. The SpikerBox is the physiological validation of an AI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GABA vs. glutamate is fundamental. Tests NT knowledge from SMILES practice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GABA-A RECEPTOR STRUCTURE AND MECHANISM:</a:t>
            </a:r>
          </a:p>
          <a:p>
            <a:r>
              <a:t>GABA-A is a pentameric (5-subunit) ligand-gated ion channel. The 5 subunits (2α + 2β + 1γ most commonly) surround a central pore. The pore is selective for Cl-. Two GABA molecules bind simultaneously (one at each α-β interface). Binding → conformational change → pore opens → Cl- flows in.</a:t>
            </a:r>
          </a:p>
          <a:p/>
          <a:p>
            <a:r>
              <a:t>WHY DOES Cl- ENTRY INHIBIT THE NEURON?</a:t>
            </a:r>
          </a:p>
          <a:p>
            <a:r>
              <a:t>Cl- has a reversal potential (E_Cl) near or more negative than the resting potential (~-70 to -75 mV). When GABA-A opens:</a:t>
            </a:r>
          </a:p>
          <a:p>
            <a:r>
              <a:t>- If V &gt; E_Cl: Cl- flows IN (makes inside more negative = hyperpolarization)</a:t>
            </a:r>
          </a:p>
          <a:p>
            <a:r>
              <a:t>- If V = E_Cl: no net Cl- flow (but the conductance increase still "short-circuits" excitatory currents — a mechanism called "shunting inhibition")</a:t>
            </a:r>
          </a:p>
          <a:p>
            <a:r>
              <a:t>Net result: harder to depolarize the neuron to threshold.</a:t>
            </a:r>
          </a:p>
          <a:p/>
          <a:p>
            <a:r>
              <a:t>DRUG BINDING SITES ON GABA-A:</a:t>
            </a:r>
          </a:p>
          <a:p>
            <a:r>
              <a:t>1. GABA binding site (α-β interface): endogenous ligand</a:t>
            </a:r>
          </a:p>
          <a:p>
            <a:r>
              <a:t>2. Benzodiazepine site (α-γ interface): diazepam, lorazepam, alprazolam. POTENTIATE GABA-A: increases frequency of channel opening when GABA is present. Cannot open channel without GABA → reason BZDs are safer than barbiturates.</a:t>
            </a:r>
          </a:p>
          <a:p>
            <a:r>
              <a:t>3. Barbiturate site (β subunit transmembrane domain): phenobarbital. At high concentrations, opens channel WITHOUT GABA. Explains narrow therapeutic window and high overdose risk.</a:t>
            </a:r>
          </a:p>
          <a:p>
            <a:r>
              <a:t>4. Neurosteroid site (transmembrane): allopregnanolone, alphaxalone, propofol.</a:t>
            </a:r>
          </a:p>
          <a:p>
            <a:r>
              <a:t>5. Alcohol site: poorly defined, possibly multiple sites.</a:t>
            </a:r>
          </a:p>
          <a:p/>
          <a:p>
            <a:r>
              <a:t>CYS-LOOP CONNECTION TO IVERMECTIN:</a:t>
            </a:r>
          </a:p>
          <a:p>
            <a:r>
              <a:t>The Cys-loop superfamily includes GABA-A, glycine receptor (GlyR), nAChR, 5-HT3, AND GluCl (invertebrate glutamate-gated Cl- channel). Ivermectin opens GluCl in worms/insects → sustained Cl- influx → paralysis. GluCl doesn't exist in vertebrates (we have GlyR instead, which ivermectin also modulates but less potently). This pharmacological specificity is why ivermectin is safe for humans at antiparasitic doses.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fly motion vision knowledge from the physiology intro.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T4/T5 CIRCUIT IN DETAIL:</a:t>
            </a:r>
          </a:p>
          <a:p>
            <a:r>
              <a:t>Photoreceptors → Lamina (L1-L5) → Medulla → T4/T5 → Lobula Plate Tangential Cells (LPTCs)</a:t>
            </a:r>
          </a:p>
          <a:p/>
          <a:p>
            <a:r>
              <a:t>WHAT IS AN ELEMENTARY MOTION DETECTOR?</a:t>
            </a:r>
          </a:p>
          <a:p>
            <a:r>
              <a:t>An EMD detects motion in one direction. The classic Reichardt detector model: take two adjacent photoreceptor inputs, delay one, multiply (correlate) the two signals. If the bright edge moves from left to right, it hits receptor A first, then B slightly later. If you delay signal A and then multiply A×B, the multiplication is large only when both signals are coincident — which happens when the edge is moving left-to-right. Moving right-to-left gives a small or negative output.</a:t>
            </a:r>
          </a:p>
          <a:p/>
          <a:p>
            <a:r>
              <a:t>T4 neurons implement something like this Reichardt detector using circuits with excitatory (AMPA-type glutamate) and inhibitory (GluCl) inputs from specific medulla neurons.</a:t>
            </a:r>
          </a:p>
          <a:p/>
          <a:p>
            <a:r>
              <a:t>GluCl ROLE (Ammer, Serbe-Kamp et al. 2023):</a:t>
            </a:r>
          </a:p>
          <a:p>
            <a:r>
              <a:t>T5 neurons receive direction-opponent inhibition through GluCl channels. This inhibition is crucial for DIRECTION SELECTIVITY — without it, T5 responds to motion in all directions equally (loses selectivity). The specific circuit: Mi9 (inhibitory medulla neuron) → T5 via GluCl. Mi9 responds to motion in the NULL direction. By providing inhibitory input through GluCl when the null direction is present, T5's response to null direction is suppressed → direction selectivity.</a:t>
            </a:r>
          </a:p>
          <a:p/>
          <a:p>
            <a:r>
              <a:t>FOR DRUG DISCOVERY:</a:t>
            </a:r>
          </a:p>
          <a:p>
            <a:r>
              <a:t>This circuit shows how a specific ion channel (GluCl) at a specific synapse (Mi9→T5) implements a specific computation (direction selectivity). Blocking GluCl with ivermectin eliminates this computation. This is the same logic as: blocking Nav with lidocaine eliminates pain signaling. Understanding which computation depends on which ion channel helps predict drug effects on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understanding of EM from the morning physiology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PHYSICS BEHIND THE RESOLUTION LIMIT:</a:t>
            </a:r>
          </a:p>
          <a:p>
            <a:r>
              <a:t>Abbe diffraction limit: minimum resolvable feature ≈ λ / (2 × NA)</a:t>
            </a:r>
          </a:p>
          <a:p>
            <a:r>
              <a:t>- Visible light: λ = 400-700 nm, NA ≤ 1.4 (oil immersion) → resolution ~140-250 nm</a:t>
            </a:r>
          </a:p>
          <a:p>
            <a:r>
              <a:t>- Electrons at 80 kV: de Broglie wavelength ≈ 0.004 nm → theoretical resolution ~0.002 nm, practical ~0.1-5 nm for biological specimens</a:t>
            </a:r>
          </a:p>
          <a:p/>
          <a:p>
            <a:r>
              <a:t>WHY DO WE NEED TO SEE SYNAPSES?</a:t>
            </a:r>
          </a:p>
          <a:p>
            <a:r>
              <a:t>A synapse is the connection between two neurons. It has:</a:t>
            </a:r>
          </a:p>
          <a:p>
            <a:r>
              <a:t>- Presynaptic terminal: ~1 µm in diameter, contains 100s of synaptic vesicles (40 nm each, filled with NT)</a:t>
            </a:r>
          </a:p>
          <a:p>
            <a:r>
              <a:t>- Synaptic cleft: 20 nm gap</a:t>
            </a:r>
          </a:p>
          <a:p>
            <a:r>
              <a:t>- Postsynaptic density: a protein scaffold holding receptors, ~30 nm thick</a:t>
            </a:r>
          </a:p>
          <a:p/>
          <a:p>
            <a:r>
              <a:t>With light microscopy you can see a synaptic bouton (the ~1 µm terminal) but you CANNOT see: whether a synapse is present (vs. just axon passing by), the type of synapse (excitatory vs. inhibitory — different ultrastructure), or the number of vesicles (which correlates with synaptic strength).</a:t>
            </a:r>
          </a:p>
          <a:p/>
          <a:p>
            <a:r>
              <a:t>With EM you see all of this.</a:t>
            </a:r>
          </a:p>
          <a:p/>
          <a:p>
            <a:r>
              <a:t>CONNECTOMICS WORKFLOW:</a:t>
            </a:r>
          </a:p>
          <a:p>
            <a:r>
              <a:t>1. Fix tissue in glutaraldehyde (cross-links proteins) + osmium tetroxide (stains membranes with heavy metal → electron-dense = dark)</a:t>
            </a:r>
          </a:p>
          <a:p>
            <a:r>
              <a:t>2. Embed in epoxy resin (hard plastic)</a:t>
            </a:r>
          </a:p>
          <a:p>
            <a:r>
              <a:t>3. Ultramicrotome slices tissue into 30-50 nm sections (thinner than most bacteria!)</a:t>
            </a:r>
          </a:p>
          <a:p>
            <a:r>
              <a:t>4. Image each section: scanning EM (SEM) in backscatter mode, or transmission EM (TEM). Each section = one 2D image, ~terabyte per mm³.</a:t>
            </a:r>
          </a:p>
          <a:p>
            <a:r>
              <a:t>5. AI (CNNs for semantic segmentation) identifies cell membrane boundaries in each slice</a:t>
            </a:r>
          </a:p>
          <a:p>
            <a:r>
              <a:t>6. 3D reconstruction: stack slices → connect membranes → 3D neuron shapes</a:t>
            </a:r>
          </a:p>
          <a:p>
            <a:r>
              <a:t>7. Synapse detection: look for presynaptic specialization (T-bar in fly, active zone density) opposite postsynaptic density</a:t>
            </a:r>
          </a:p>
          <a:p>
            <a:r>
              <a:t>8. Build graph: nodes=neurons, edges=synapses with weights=synapse count</a:t>
            </a:r>
          </a:p>
          <a:p/>
          <a:p>
            <a:r>
              <a:t>AI'S ROLE: Steps 5-7 are automated by AI. The FlyWire connectome (2024) used deep learning (flood-filling networks) to segment 139,000 neurons. Without AI, this would take a human lifetime.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Connects eye-tracking pharmacology to the opioid mechanism. Classic clinical sign used by police and paramedics.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AUTONOMIC CONTROL OF THE PUPIL:</a:t>
            </a:r>
          </a:p>
          <a:p>
            <a:r>
              <a:t>The pupil is controlled by two antagonistic muscles:</a:t>
            </a:r>
          </a:p>
          <a:p>
            <a:r>
              <a:t>1. SPHINCTER PUPILLAE (constrictor): ring of smooth muscle. Parasympathetically controlled. CN III → Edinger-Westphal nucleus → ciliary ganglion → sphincter → MIOSIS (small pupil)</a:t>
            </a:r>
          </a:p>
          <a:p>
            <a:r>
              <a:t>2. DILATOR PUPILLAE: radial smooth muscle. Sympathetically controlled. Hypothalamus → cervical sympathetic → superior cervical ganglion → dilator → MYDRIASIS (large pupil)</a:t>
            </a:r>
          </a:p>
          <a:p/>
          <a:p>
            <a:r>
              <a:t>OPIOID MECHANISM:</a:t>
            </a:r>
          </a:p>
          <a:p>
            <a:r>
              <a:t>µ-opioid receptors (MOR) are GPCRs (Gi-coupled). In the Edinger-Westphal nucleus, opioids activate MOR → decrease cAMP → hyperpolarise neurons → increases their output. Wait — but opioids typically INHIBIT neurons? </a:t>
            </a:r>
          </a:p>
          <a:p/>
          <a:p>
            <a:r>
              <a:t>Here's the complexity: MOR activation in EW neurons DISINHIBITS the EW output. The EW has GABA interneurons that inhibit the EW projection neurons. Opioids suppress these interneurons → EW projection neurons become MORE active → more parasympathetic tone → more sphincter contraction → miosis.</a:t>
            </a:r>
          </a:p>
          <a:p/>
          <a:p>
            <a:r>
              <a:t>WHY DOESN'T TOLERANCE DEVELOP TO MIOSIS?</a:t>
            </a:r>
          </a:p>
          <a:p>
            <a:r>
              <a:t>Good question! Tolerance to opioid effects (analgesia, euphoria, respiratory depression) develops quickly — probably due to receptor desensitization and downregulation. But EW miosis is mediated through a different downstream signaling pathway that apparently doesn't desensitize as quickly. This means miosis is a reliable indicator of opioid PRESENCE even in chronic users.</a:t>
            </a:r>
          </a:p>
          <a:p/>
          <a:p>
            <a:r>
              <a:t>CLINICAL USE:</a:t>
            </a:r>
          </a:p>
          <a:p>
            <a:r>
              <a:t>- Paramedics: pinpoint pupils + unconscious + slow breathing = opioid overdose → give naloxone (opioid antagonist)</a:t>
            </a:r>
          </a:p>
          <a:p>
            <a:r>
              <a:t>- Police: pinpoint pupils can indicate current opioid use</a:t>
            </a:r>
          </a:p>
          <a:p>
            <a:r>
              <a:t>- Anesthesiologists: monitor pupil size during surgery to gauge depth of anesthesia and opioid dosing</a:t>
            </a:r>
          </a:p>
          <a:p/>
          <a:p>
            <a:r>
              <a:t>AI + PUPILLOMETRY FOR DRUG DISCOVERY:</a:t>
            </a:r>
          </a:p>
          <a:p>
            <a:r>
              <a:t>Tracking pupil diameter over time (pupillary light reflex or spontaneous fluctuations) creates a time-series that encodes autonomic nervous system state. AI can classify: (1) current drug state (opioid vs. stimulant vs. sober), (2) dosage estimation, (3) predict side effects. This is a non-invasive, continuous physiological measure — ideal for AI classification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understanding of synaptic transmission sequence. Many drug targets are at specific steps of this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SYNAPTIC TRANSMISSION STEP BY STEP:</a:t>
            </a:r>
          </a:p>
          <a:p/>
          <a:p>
            <a:r>
              <a:t>1. ACTION POTENTIAL ARRIVES at axon terminal (bouton):</a:t>
            </a:r>
          </a:p>
          <a:p>
            <a:r>
              <a:t>The AP propagates down the axon (saltatory in myelinated axons). The bouton membrane depolarizes.</a:t>
            </a:r>
          </a:p>
          <a:p/>
          <a:p>
            <a:r>
              <a:t>2. VOLTAGE-GATED Ca2+ CHANNELS (Cav) OPEN:</a:t>
            </a:r>
          </a:p>
          <a:p>
            <a:r>
              <a:t>Cav2.1 (P/Q-type) and Cav2.2 (N-type) are the main subtypes at fast synapses. Ca2+ is 1-2 mM outside, ~100 nM inside → 10,000-20,000x gradient! AND electrical gradient (negative inside) also pulls Ca2+ in. Ca2+ flows rapidly. Near-channel concentration spikes to ~100 µM transiently.</a:t>
            </a:r>
          </a:p>
          <a:p/>
          <a:p>
            <a:r>
              <a:t>3. Ca2+ BINDS SYNAPTOTAGMIN:</a:t>
            </a:r>
          </a:p>
          <a:p>
            <a:r>
              <a:t>Synaptotagmin is a Ca2+ sensor protein on synaptic vesicle membranes. It has two C2 domains that bind Ca2+. When Ca2+ binds, synaptotagmin changes conformation and interacts with SNARE proteins.</a:t>
            </a:r>
          </a:p>
          <a:p/>
          <a:p>
            <a:r>
              <a:t>4. SNARE COMPLEX ZIPS UP → VESICLE FUSES:</a:t>
            </a:r>
          </a:p>
          <a:p>
            <a:r>
              <a:t>SNARE proteins: VAMP/synaptobrevin (on vesicle), syntaxin (on plasma membrane), SNAP-25 (on plasma membrane). The SNARE complex forms a 4-helix bundle that zips from the N-terminus toward the C-terminus, pulling the vesicle membrane and plasma membrane together until they fuse. NT is released into the cleft.</a:t>
            </a:r>
          </a:p>
          <a:p/>
          <a:p>
            <a:r>
              <a:t>5. NT DIFFUSES AND BINDS RECEPTORS:</a:t>
            </a:r>
          </a:p>
          <a:p>
            <a:r>
              <a:t>The cleft is only 20 nm — diffusion takes microseconds. NT binds postsynaptic ionotropic (ion channel) or metabotropic (GPCR) receptors.</a:t>
            </a:r>
          </a:p>
          <a:p/>
          <a:p>
            <a:r>
              <a:t>6. NT CLEARANCE:</a:t>
            </a:r>
          </a:p>
          <a:p>
            <a:r>
              <a:t>(a) Reuptake transporters: SERT (serotonin), DAT (dopamine), NET (norepinephrine), GAT1 (GABA). Bring NT back into presynaptic terminal. These are the main SSRI/SNRI/cocaine targets.</a:t>
            </a:r>
          </a:p>
          <a:p>
            <a:r>
              <a:t>(b) Enzymatic degradation: AChE cleaves ACh → choline + acetate. MAO-A/B degrade dopamine, serotonin. These are drug targets too (rivastigmine for Alzheimer's, selegiline for Parkinson's/depression).</a:t>
            </a:r>
          </a:p>
          <a:p>
            <a:r>
              <a:t>(c) Diffusion away from cleft (spillover to extrasynaptic receptors).</a:t>
            </a:r>
          </a:p>
          <a:p/>
          <a:p>
            <a:r>
              <a:t>DRUG TARGETS AT EACH STEP:</a:t>
            </a:r>
          </a:p>
          <a:p>
            <a:r>
              <a:t>- Step 2 (Cav): Ziconotide (Prialt) = Cav N-type blocker, for severe pain. Ca2+ channel blockers (verapamil, amlodipine) = cardiac.</a:t>
            </a:r>
          </a:p>
          <a:p>
            <a:r>
              <a:t>- Step 4 (SNARE): Botulinum toxin A: cleaves SNAP-25. Botulinum toxin B: cleaves VAMP. Both prevent vesicle fusion → no NT release → paralysis. Used medically (spasticity, dystonia, cosmetic wrinkles).</a:t>
            </a:r>
          </a:p>
          <a:p>
            <a:r>
              <a:t>- Step 5 (receptors): vast target space (see all of drug discovery!)</a:t>
            </a:r>
          </a:p>
          <a:p>
            <a:r>
              <a:t>- Step 6 (reuptake): SSRIs (fluoxetine, sertraline, escitalopram), SNRIs (venlafaxine), cocaine, amphetamine, MDMA.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understanding of the in silico → in vitro → in vivo pipeline and the role of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3i PIPELINE:</a:t>
            </a:r>
          </a:p>
          <a:p/>
          <a:p>
            <a:r>
              <a:t>IN SILICO (computer simulation):</a:t>
            </a:r>
          </a:p>
          <a:p>
            <a:r>
              <a:t>Step 1: QSAR/GNN model predicts: 'compound X has predicted IC50 = 50 nM for Nav1.2'</a:t>
            </a:r>
          </a:p>
          <a:p>
            <a:r>
              <a:t>Step 2: Computational SpikerBox / HH simulation: 'If I set g_Na to 20% of baseline (80% block), what happens to firing?'</a:t>
            </a:r>
          </a:p>
          <a:p>
            <a:r>
              <a:t>- Maybe the neuron stops firing completely → potential anesthetic/anticonvulsant</a:t>
            </a:r>
          </a:p>
          <a:p>
            <a:r>
              <a:t>- Maybe it only reduces firing frequency → less side effects</a:t>
            </a:r>
          </a:p>
          <a:p>
            <a:r>
              <a:t>- Maybe nothing changes → channel not important at this neuron's firing frequency</a:t>
            </a:r>
          </a:p>
          <a:p>
            <a:r>
              <a:t>- Maybe the neuron fires MORE (paradoxical, but happens with some partial blockers)</a:t>
            </a:r>
          </a:p>
          <a:p>
            <a:r>
              <a:t>Cost: essentially zero. Can test 1000 compounds in minutes.</a:t>
            </a:r>
          </a:p>
          <a:p/>
          <a:p>
            <a:r>
              <a:t>IN VITRO (glass = laboratory, not whole animal):</a:t>
            </a:r>
          </a:p>
          <a:p>
            <a:r>
              <a:t>After filtering with in-silico, take the 10-50 best candidates.</a:t>
            </a:r>
          </a:p>
          <a:p>
            <a:r>
              <a:t>Test on: cockroach SpikerBox, cultured neurons, patch-clamp electrophysiology.</a:t>
            </a:r>
          </a:p>
          <a:p>
            <a:r>
              <a:t>Measure: real IC50 for neural firing. Compare to QSAR prediction.</a:t>
            </a:r>
          </a:p>
          <a:p>
            <a:r>
              <a:t>Cost: ~$100-10,000 per compound depending on assay.</a:t>
            </a:r>
          </a:p>
          <a:p/>
          <a:p>
            <a:r>
              <a:t>IN VIVO (living animal):</a:t>
            </a:r>
          </a:p>
          <a:p>
            <a:r>
              <a:t>Only the 2-5 best in-vitro candidates go to animal models.</a:t>
            </a:r>
          </a:p>
          <a:p>
            <a:r>
              <a:t>Efficacy: does the drug reduce seizures / pain / arrhythmia in mice/rats?</a:t>
            </a:r>
          </a:p>
          <a:p>
            <a:r>
              <a:t>Safety: does it cause cardiac arrhythmia, sedation, weight change?</a:t>
            </a:r>
          </a:p>
          <a:p>
            <a:r>
              <a:t>Cost: ~$50,000-500,000 per compound.</a:t>
            </a:r>
          </a:p>
          <a:p/>
          <a:p>
            <a:r>
              <a:t>CLINICAL TRIALS:</a:t>
            </a:r>
          </a:p>
          <a:p>
            <a:r>
              <a:t>Only 1 in 5000 in-silico candidates typically makes it to clinical trials.</a:t>
            </a:r>
          </a:p>
          <a:p>
            <a:r>
              <a:t>But with better AI + better in-silico filtering, this ratio is improving.</a:t>
            </a:r>
          </a:p>
          <a:p>
            <a:r>
              <a:t>Insilico Medicine used AI to design a new drug (ISM001-055 for IPF) in 18 months (vs. typical 5-6 years).</a:t>
            </a:r>
          </a:p>
          <a:p/>
          <a:p>
            <a:r>
              <a:t>THE COMPUTATIONAL SPIKERBOX'S ROLE:</a:t>
            </a:r>
          </a:p>
          <a:p>
            <a:r>
              <a:t>It's the bridge between 'we predict this blocks Nav' (QSAR) and 'we validated this blocks neural firing' (SpikerBox). By letting you run the HH model interactively (drag a slider for g_Na from 0% to 100%), you build intuition about which ion channel contributions matter at which voltage and firing frequency. This intuition improves your interpretation of QSAR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of Quiz 3 (Physiology). Students should now have a solid working vocabulary of action potential physiology, HH model, SpikerBox, neurotransmitters, fly vision, EM, eye-tracking pharmacology, and synaptic transmission. Transition to the HH explainer deck, or directly to the molecular ML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Calibri"/>
              </a:defRPr>
            </a:pPr>
            <a:r>
              <a:t>DAY 1 — 22 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Physiology &amp; Neuroscience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Action potentials, ion channels, Hodgkin-Huxley, neural circuits, physiological drug readouts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77B4"/>
                </a:solidFill>
                <a:latin typeface="Calibri"/>
              </a:defRPr>
            </a:pPr>
            <a:r>
              <a:t>AI for Drug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Calibri"/>
              </a:defRPr>
            </a:pPr>
            <a:r>
              <a:t>QUIZ — Question 1/10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the resting membrane potential of a typical neuron?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83464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A)  +40 mV (inside more positive than outside)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79476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B)  0 mV (no difference across membrane)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C)  -70 mV (inside more negative than outside)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71500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D)  -200 mV (very strongly negative)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ANSWER — Question 1/10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Calibri"/>
              </a:defRPr>
            </a:pPr>
            <a:r>
              <a:t>What is the resting membrane potential of a typical neuron?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A)  +40 mV (inside more positive than outside)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146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B)  0 mV (no difference across membrane)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9144000" cy="59436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  C)  -70 mV (inside more negative than outside)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8862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D)  -200 mV (very strongly negative)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Correct: -70 mV. Inside of a resting neuron is ~70 millivolts more negative than outside.</a:t>
            </a:r>
            <a:br/>
            <a:r>
              <a:t>Maintained by the Na+/K+ ATPase pump: 3 Na+ out, 2 K+ in per ATP. K+ leaks out through resting K+ channels. When an AP fires, membrane rapidly depolarizes to +40 mV, then repolarizes.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Calibri"/>
              </a:defRPr>
            </a:pPr>
            <a:r>
              <a:t>QUIZ — Question 2/10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During the RISING phase of an action potential, which ion flows INTO the neuron?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83464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A)  K+ (potassium) — driven by its concentration gradient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79476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B)  Cl- (chloride) — driven inward by electrical gradient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C)  Na+ (sodium) — through voltage-gated Na+ channels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71500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D)  Ca2+ (calcium) — through L-type calcium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ANSWER — Question 2/10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Calibri"/>
              </a:defRPr>
            </a:pPr>
            <a:r>
              <a:t>During the RISING phase of an action potential, which ion flows INTO the neuron?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A)  K+ (potassium) — driven by its concentration gradient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146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B)  Cl- (chloride) — driven inward by electrical gradient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9144000" cy="59436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  C)  Na+ (sodium) — through voltage-gated Na+ channels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8862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D)  Ca2+ (calcium) — through L-type calcium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Correct: Na+ (sodium). Voltage-gated Na+ channels (Nav) open at threshold (~-55 mV).</a:t>
            </a:r>
            <a:br/>
            <a:r>
              <a:t>Na+ is 145 mM outside, 12 mM inside: BOTH concentration gradient AND electrical gradient (negative inside) drive Na+ in. Membrane shoots from -70 mV to +40 mV in &lt; 1 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Calibri"/>
              </a:defRPr>
            </a:pPr>
            <a:r>
              <a:t>QUIZ — Question 3/10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did Hodgkin &amp; Huxley model in their Nobel Prize-winning 1952 work?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83464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A)  The structure of DNA in nerve cells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79476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B)  The mathematical equations describing action potential generation in squid axons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C)  The first computer simulation of the human brain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71500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D)  The discovery of synaptic vesicles by electron microscopy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ANSWER — Question 3/10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Calibri"/>
              </a:defRPr>
            </a:pPr>
            <a:r>
              <a:t>What did Hodgkin &amp; Huxley model in their Nobel Prize-winning 1952 work?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A)  The structure of DNA in nerve cells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14600"/>
            <a:ext cx="9144000" cy="59436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  B)  The mathematical equations describing action potential generation in squid axons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C)  The first computer simulation of the human brain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8862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D)  The discovery of synaptic vesicles by electron microscopy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Correct: Hodgkin &amp; Huxley (1952) wrote 4 coupled ODEs describing action potential generation using voltage-clamp data from squid giant axons.</a:t>
            </a:r>
            <a:br/>
            <a:r>
              <a:t>1963 Nobel Prize in Physiology or Medicine. First quantitative biological model of cellular excitability. Still the foundation of all computational neuroscience.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Calibri"/>
              </a:defRPr>
            </a:pPr>
            <a:r>
              <a:t>QUIZ — Question 4/10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does the SpikerBox (Backyard Brains) record?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83464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A)  The electrical activity of individual genes during transcription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79476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B)  Extracellular neural spikes (~100-500 µV) from nearby neurons or muscles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C)  Blood oxygen levels using near-infrared spectroscopy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71500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D)  The force of muscle contractions using strain gauges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ANSWER — Question 4/10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Calibri"/>
              </a:defRPr>
            </a:pPr>
            <a:r>
              <a:t>What does the SpikerBox (Backyard Brains) record?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A)  The electrical activity of individual genes during transcription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14600"/>
            <a:ext cx="9144000" cy="59436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  B)  Extracellular neural spikes (~100-500 µV) from nearby neurons or muscles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C)  Blood oxygen levels using near-infrared spectroscopy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8862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D)  The force of muscle contractions using strain gauges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Correct: Extracellular neural spikes — tiny voltage deflections (~100-500 µV) caused by action potentials in nearby neurons/muscles.</a:t>
            </a:r>
            <a:br/>
            <a:r>
              <a:t>A metal electrode near a neuron picks up the ionic current loop of the spike. Amplified ~1000x. Can be heard as 'pops' through a speaker. Drug experiment: add lidocaine → spikes disappear.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Calibri"/>
              </a:defRPr>
            </a:pPr>
            <a:r>
              <a:t>QUIZ — Question 5/10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the main function of GABA (gamma-aminobutyric acid) in the adult brain?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83464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A)  Main EXCITATORY neurotransmitter — promotes action potential firing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79476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B)  Main INHIBITORY neurotransmitter — reduces neuronal firing via Cl- influx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C)  An oxygen carrier molecule in glial cells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71500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D)  A hormone released from the pituitary that controls sleep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ANSWER — Question 5/10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Calibri"/>
              </a:defRPr>
            </a:pPr>
            <a:r>
              <a:t>What is the main function of GABA (gamma-aminobutyric acid) in the adult brain?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A)  Main EXCITATORY neurotransmitter — promotes action potential firing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14600"/>
            <a:ext cx="9144000" cy="59436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  B)  Main INHIBITORY neurotransmitter — reduces neuronal firing via Cl- influx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C)  An oxygen carrier molecule in glial cells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8862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D)  A hormone released from the pituitary that controls sleep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Correct: GABA is the main INHIBITORY neurotransmitter. GABA-A receptor = Cl- channel.</a:t>
            </a:r>
            <a:br/>
            <a:r>
              <a:t>GABA binds → channel opens → Cl- flows in → membrane hyperpolarizes → less likely to fire.</a:t>
            </a:r>
            <a:br/>
            <a:r>
              <a:t>Drugs: diazepam (Valium), alcohol, propofol all potentiate GABA-A. Same Cys-loop superfamily as GluCl (ivermectin target in flies!).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Calibri"/>
              </a:defRPr>
            </a:pPr>
            <a:r>
              <a:t>QUIZ — Question 6/10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 fly (Drosophila) motion vision, what is the role of T4 neurons?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83464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A)  Detect overall brightness levels in the visual field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79476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B)  Detect ON-motion (a brightening edge moving in one of 4 directions)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C)  Process color information from UV-sensitive photoreceptors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71500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D)  Send feedback signals from the brain back to the 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ANSWER — Question 6/10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Calibri"/>
              </a:defRPr>
            </a:pPr>
            <a:r>
              <a:t>In fly (Drosophila) motion vision, what is the role of T4 neurons?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A)  Detect overall brightness levels in the visual field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14600"/>
            <a:ext cx="9144000" cy="59436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  B)  Detect ON-motion (a brightening edge moving in one of 4 directions)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C)  Process color information from UV-sensitive photoreceptors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8862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D)  Send feedback signals from the brain back to the 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Correct: T4 neurons are elementary motion detectors for ON-motion (brightening edges).</a:t>
            </a:r>
            <a:br/>
            <a:r>
              <a:t>4 subtypes: front-to-back, back-to-front, upward, downward. T5 neurons do the same for OFF-motion (darkening edges). Together they feed into LPTCs for whole-field optic flow. Requires GluCl-mediated inhibition (Ammer, Serbe-Kamp et al. 2023, Nat. Neurosci.).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Calibri"/>
              </a:defRPr>
            </a:pPr>
            <a:r>
              <a:t>QUIZ — Question 7/10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is electron microscopy (EM) essential for connectomics (mapping neural circuits)?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83464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A)  EM is faster than light microscopy for large tissue volumes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79476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B)  EM works on living tissue while light microscopy requires fixation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C)  Synapses (20-40 nm) are below the ~200 nm resolution limit of 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71500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D)  EM can image fluorescent proteins that light microscopes cannot 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ANSWER — Question 7/10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Calibri"/>
              </a:defRPr>
            </a:pPr>
            <a:r>
              <a:t>Why is electron microscopy (EM) essential for connectomics (mapping neural circuits)?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A)  EM is faster than light microscopy for large tissue volumes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146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B)  EM works on living tissue while light microscopy requires fixation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9144000" cy="59436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  C)  Synapses (20-40 nm) are below the ~200 nm resolution limit of 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8862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D)  EM can image fluorescent proteins that light microscopes cannot 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Correct: Synapses are ~20-40 nm wide — far below the diffraction limit of visible light (~200 nm).</a:t>
            </a:r>
            <a:br/>
            <a:r>
              <a:t>Electrons have wavelength ~0.001 nm → 200x better resolution. EM can resolve individual synaptic vesicles (40 nm), cell membranes (5 nm thick), and postsynaptic densities. Essential for identifying every synapse in a neural circuit.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Calibri"/>
              </a:defRPr>
            </a:pPr>
            <a:r>
              <a:t>QUIZ — Question 8/10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do opioids (morphine, fentanyl) cause pinpoint pupils (miosis)?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83464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A)  Opioids block sympathetic pupil dilation receptors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79476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B)  Opioids directly constrict the iris sphincter muscle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C)  Opioids activate the Edinger-Westphal nucleus (parasympathetic) → pupil constriction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71500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D)  Opioids reduce retinal photoreceptor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ANSWER — Question 8/10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Calibri"/>
              </a:defRPr>
            </a:pPr>
            <a:r>
              <a:t>Why do opioids (morphine, fentanyl) cause pinpoint pupils (miosis)?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A)  Opioids block sympathetic pupil dilation receptors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146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B)  Opioids directly constrict the iris sphincter muscle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9144000" cy="59436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  C)  Opioids activate the Edinger-Westphal nucleus (parasympathetic) → pupil constriction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8862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D)  Opioids reduce retinal photoreceptor 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Correct: Opioids activate µ-opioid receptors on the Edinger-Westphal (EW) nucleus.</a:t>
            </a:r>
            <a:br/>
            <a:r>
              <a:t>EW → ciliary ganglion → sphincter pupillae → miosis (small pupils). Tolerance does NOT develop to miosis (unlike analgesia, euphoria). Pinpoint pupils + respiratory depression = opioid overdose triad.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Calibri"/>
              </a:defRPr>
            </a:pPr>
            <a:r>
              <a:t>QUIZ — Question 9/10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Which is the correct order of events at a chemical synapse?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83464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A)  NT release → Ca2+ entry → receptor activation → vesicle 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79476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B)  AP arrives → Ca2+ enters (Cav) → vesicle fuses → NT released → receptor binds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C)  Receptor activation → AP generated → Ca2+ exits → vesicle forms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71500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D)  Ca2+ exits → vesicle fuses → NT uptake → receptor blocked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ANSWER — Question 9/10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Calibri"/>
              </a:defRPr>
            </a:pPr>
            <a:r>
              <a:t>Which is the correct order of events at a chemical synapse?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A)  NT release → Ca2+ entry → receptor activation → vesicle 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14600"/>
            <a:ext cx="9144000" cy="59436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  B)  AP arrives → Ca2+ enters (Cav) → vesicle fuses → NT released → receptor binds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C)  Receptor activation → AP generated → Ca2+ exits → vesicle forms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8862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D)  Ca2+ exits → vesicle fuses → NT uptake → receptor blocked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Correct: AP arrives at terminal → Cav channels open → Ca2+ in → synaptotagmin senses Ca2+ → SNARE proteins fuse vesicle → NT released → diffuses across 20 nm cleft → binds postsynaptic receptors.</a:t>
            </a:r>
            <a:br/>
            <a:r>
              <a:t>Botox cleaves SNARE proteins = blocks step 3. SSRIs block NT reuptake after step 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Calibri"/>
              </a:defRPr>
            </a:pPr>
            <a:r>
              <a:t>QUIZ — Question 10/10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the main benefit of the Computational SpikerBox for drug discovery?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83464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A)  It costs millions and is only available at top research institutes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79476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B)  It records from human brain organoids for direct clinical relevance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C)  It simulates Hodgkin-Huxley in software — test drug effects on ion channels in silico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715000"/>
            <a:ext cx="9144000" cy="77724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  D)  It replaces ChEMBL as the source of molecular activity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ANSWER — Question 10/10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0"/>
                </a:solidFill>
                <a:latin typeface="Calibri"/>
              </a:defRPr>
            </a:pPr>
            <a:r>
              <a:t>What is the main benefit of the Computational SpikerBox for drug discovery?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A)  It costs millions and is only available at top research institutes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146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B)  It records from human brain organoids for direct clinical relevance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9144000" cy="59436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  C)  It simulates Hodgkin-Huxley in software — test drug effects on ion channels in silico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886200"/>
            <a:ext cx="9144000" cy="594360"/>
          </a:xfrm>
          <a:prstGeom prst="roundRect">
            <a:avLst/>
          </a:prstGeom>
          <a:solidFill>
            <a:srgbClr val="3C3C46"/>
          </a:solidFill>
          <a:ln w="25400">
            <a:solidFill>
              <a:srgbClr val="50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  D)  It replaces ChEMBL as the source of molecular activity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Correct: Free HH simulator — instantly test what happens if Nav is 80% blocked, or Kv is prolonged.</a:t>
            </a:r>
            <a:br/>
            <a:r>
              <a:t>The 3i pipeline: AI predicts IC50 (in silico) → HH simulation predicts physiological consequence (in silico) → SpikerBox validates with real neural tissue (in vitro) → then animal models (in vivo). Each step filters candidates, reducing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Neuroscience Unlocked! Ready for Drug Discovery AI? 🧪⚡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Action potentials, HH, GABA, synaptic transmission, SpikerBox, T4/T5, EM, opioid pupils — check!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