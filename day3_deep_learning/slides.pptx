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0-10 min (Unit 1 start)</a:t>
            </a:r>
          </a:p>
          <a:p/>
          <a:p>
            <a:r>
              <a:t>Welcome back after the break! Quick recap: on Day 2 you built QSAR models with fingerprints + RF/XGBoost, learned about scaffold splits, SHAP. Today we level up: molecules as graphs → GNNs → generative AI → AlphaFold.</a:t>
            </a:r>
          </a:p>
          <a:p/>
          <a:p>
            <a:r>
              <a:t>Agenda:</a:t>
            </a:r>
          </a:p>
          <a:p>
            <a:r>
              <a:t>Morning (Units 1-4): Deep learning, GNNs, Practical 1</a:t>
            </a:r>
          </a:p>
          <a:p>
            <a:r>
              <a:t>Afternoon (Units 5-8): Generative AI, AlphaFold, Practical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10-12 min</a:t>
            </a:r>
          </a:p>
          <a:p/>
          <a:p>
            <a:r>
              <a:t>Key insight: GNNs do the SAME thing as Morgan fingerprints (expand neighborhoods, aggregate) but LEARN the aggregation instead of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12-20 min</a:t>
            </a:r>
          </a:p>
          <a:p/>
          <a:p>
            <a:r>
              <a:t>5 min. The key limitation: fingerprint information loss from hashing. GNNs solve this by learning representations directly from graph structure. BUT — RF on fingerprints often matches GNNs on small datasets. The advantage emerges with larger datasets (&gt;10K molecules).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20-27 min</a:t>
            </a:r>
          </a:p>
          <a:p/>
          <a:p>
            <a:r>
              <a:t>5 min. Molecules are NATURALLY graphs. The key difference from fingerprints: features are preserved as separate attributes per atom/bond. The GNN learns which features matter and how to combine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27-37 min</a:t>
            </a:r>
          </a:p>
          <a:p/>
          <a:p>
            <a:r>
              <a:t>7 min. Analogy: each atom is a person at a party. Round 1: talk to direct friends. Round 2: friends tell you what they learned. After K rounds, you know about people up to K handshakes away.</a:t>
            </a:r>
          </a:p>
          <a:p/>
          <a:p>
            <a:r>
              <a:t>Draw on board: pick an atom in aspirin, trace neighborhoods at r=1, r=2. The connection to Morgan fingerprints is the KEY insight.</a:t>
            </a:r>
          </a:p>
          <a:p/>
          <a:p>
            <a:r>
              <a:t>Math: m_v^(k) = AGG({h_u^(k-1): u ∈ N(v)}); h_v^(k) = UPDATE(h_v^(k-1), m_v^(k))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37-44 min</a:t>
            </a:r>
          </a:p>
          <a:p/>
          <a:p>
            <a:r>
              <a:t>5 min overview.</a:t>
            </a:r>
          </a:p>
          <a:p>
            <a:r>
              <a:t>CITATION: GCN: Kipf &amp; Welling (2017) 'Semi-Supervised Classification with Graph Convolutional Networks.' ICLR 2017. ~56,000 citations as of 2026 — one of the most influential ML papers.</a:t>
            </a:r>
          </a:p>
          <a:p>
            <a:r>
              <a:t>CITATION: GAT: Veličković et al. (2018) 'Graph Attention Networks.' ICLR 2018. Learns attention weights so not all neighbors contribute equally.</a:t>
            </a:r>
          </a:p>
          <a:p>
            <a:r>
              <a:t>CITATION: MPNN: Gilmer et al. (2017) 'Neural Message Passing for Quantum Chemistry.' ICML 2017, pp. 1263-1272. The unifying framework — shows GCN, GAT, and others are all special cases of message passing.</a:t>
            </a:r>
          </a:p>
          <a:p>
            <a:r>
              <a:t>CITATION: Chemprop/D-MPNN: Yang et al. (2019) JCIM 59:3370-3388. Best out-of-the-box molecular GNN — use it for projects!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44-59 min (after Unit 2)</a:t>
            </a:r>
          </a:p>
          <a:p/>
          <a:p>
            <a:r>
              <a:t>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59-69 min (Unit 3 start)</a:t>
            </a:r>
          </a:p>
          <a:p/>
          <a:p>
            <a:r>
              <a:t>7 min. CITATION: Stokes et al. (2020) 'A Deep Learning Approach to Antibiotic Discovery.' Cell 180:688-702. Neural network on 2,335 molecules → screened Broad repurposing library → discovered halicin.</a:t>
            </a:r>
          </a:p>
          <a:p/>
          <a:p>
            <a:r>
              <a:t>=== CONNECTOMICS &amp; PHYSIOLOGY ===</a:t>
            </a:r>
          </a:p>
          <a:p>
            <a:r>
              <a:t>CITATION: Dorkenwald et al. (2024) 'Neuronal wiring diagram of an adult brain.' Nature 634:124-138. The Drosophila brain (FlyWire): ~139K neurons, ~54.5M synapses = the ultimate graph dataset.</a:t>
            </a:r>
          </a:p>
          <a:p/>
          <a:p>
            <a:r>
              <a:t>Dr. Serbe-Kamp's 2016 Neuron paper: used PHYSIOLOGY (calcium imaging, electrophysiology, optogenetics) to characterize T5 neuron inputs. This is FUNCTIONAL characterization, not connectomics.</a:t>
            </a:r>
          </a:p>
          <a:p/>
          <a:p>
            <a:r>
              <a:t>Dr. Serbe-Kamp CURRENTLY works on connectomics with the MESH repository — this is his ongoing research.</a:t>
            </a:r>
          </a:p>
          <a:p/>
          <a:p>
            <a:r>
              <a:t>The connection: physiology tells you WHAT neurons do (functional), connectomics tells you HOW they're wired (structural). Both are graph problems. Same GNN architectures 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69-77 min</a:t>
            </a:r>
          </a:p>
          <a:p/>
          <a:p>
            <a:r>
              <a:t>5 min. Key message: graph learning is a UNIVERSAL framework for biology.</a:t>
            </a:r>
          </a:p>
          <a:p/>
          <a:p>
            <a:r>
              <a:t>Dr. Serbe-Kamp's research spans both:</a:t>
            </a:r>
          </a:p>
          <a:p>
            <a:r>
              <a:t>1. PHYSIOLOGY (2016 Neuron paper, 2023 papers): calcium imaging, electrophysiology, optogenetics — measuring FUNCTION</a:t>
            </a:r>
          </a:p>
          <a:p>
            <a:r>
              <a:t>2. CONNECTOMICS (MESH, current work): EM reconstruction — mapping STRUCTURE</a:t>
            </a:r>
          </a:p>
          <a:p>
            <a:r>
              <a:t>These are complementary, not the same. The Neuron paper is physiology.</a:t>
            </a:r>
          </a:p>
          <a:p/>
          <a:p>
            <a:r>
              <a:t>Student project connection: BYB recordings from multiple channels can be treated as graph data (channels as nodes, cross-correlations as edges).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77-80 min (intro), 80-130 min (practical)</a:t>
            </a:r>
          </a:p>
          <a:p/>
          <a:p>
            <a:r>
              <a:t>3 min intro. HIV: large dataset, GNN should outperform RF. BACE: small dataset, RF might win. Use SAME scaffold split from Day 2. Enable GPU in Colab: Runtime → Change runtime type → GPU.</a:t>
            </a:r>
          </a:p>
          <a:p/>
          <a:p>
            <a:r>
              <a:t>Important: they should COMPARE to their Day 2 RF baseline. This demonstrates when deep learning helps and when it doesn't.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80-130 min (Units 3-4, ~50 min coding)</a:t>
            </a:r>
          </a:p>
          <a:p/>
          <a:p>
            <a:r>
              <a:t>Hands-on. Walk around. Help with GPU setup. GNN training takes longer than RF (~5-10 min vs seconds).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130-133 min (Unit 5 start)</a:t>
            </a:r>
          </a:p>
          <a:p/>
          <a:p>
            <a:r>
              <a:t>2 min overview. Afternoon shifts from predicting properties to GENERATING new molecules and understanding protein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133-135 min</a:t>
            </a:r>
          </a:p>
          <a:p/>
          <a:p>
            <a:r>
              <a:t>Transition: we've been predicting properties. Now: can AI CREATE new molecules?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135-148 min</a:t>
            </a:r>
          </a:p>
          <a:p/>
          <a:p>
            <a:r>
              <a:t>8 min. CITATION: Gómez-Bombarelli et al. (2018) 'Automatic Chemical Design Using a Data-Driven Continuous Representation of Molecules.' ACS Central Science 4:268-276. This was the landmark paper: encode molecules to latent space, decode back. Modify the latent representation to change properties.</a:t>
            </a:r>
          </a:p>
          <a:p/>
          <a:p>
            <a:r>
              <a:t>SELFIES is important: with SMILES, randomly generated strings are usually invalid. SELFIES guarantees validity — every string is a valid molecule.</a:t>
            </a:r>
          </a:p>
          <a:p/>
          <a:p>
            <a:r>
              <a:t>Diffusion models (from image generation: DALL-E, Stable Diffusion) are now adapted for molecules.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148-155 min</a:t>
            </a:r>
          </a:p>
          <a:p/>
          <a:p>
            <a:r>
              <a:t>5 min. Real drug design is multi-objective. For CNS drugs: must cross BBB AND avoid hERG block AND be selective for target. This is where neuroscience knowledge is invaluable — knowing which properties matter for neural targets.</a:t>
            </a:r>
          </a:p>
          <a:p/>
          <a:p>
            <a:r>
              <a:t>For student projects using generative models: define 2-3 objectives and optimize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155-157 min</a:t>
            </a:r>
          </a:p>
          <a:p/>
          <a:p>
            <a:r>
              <a:t>Transition: we've covered ligand-based approaches (fingerprints, QSAR, GNN, generation). Now: structure-based — using 3D protein structures for drug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157-167 min</a:t>
            </a:r>
          </a:p>
          <a:p/>
          <a:p>
            <a:r>
              <a:t>7 min. CITATION: Jumper et al. (2021) 'Highly accurate protein structure prediction with AlphaFold.' Nature 596:583-589. doi:10.1038/s41586-021-03819-2. AlphaFold2 accuracy matches experimental methods (GDT &gt;90 on CASP14). 2024 Nobel Prize in Chemistry awarded to Demis Hassabis and John Jumper (shared with David Baker for computational protein design).</a:t>
            </a:r>
          </a:p>
          <a:p/>
          <a:p>
            <a:r>
              <a:t>CITATION: Abramson et al. (2024) 'Accurate structure prediction of biomolecular interactions with AlphaFold 3.' Nature 630:493-500. doi:10.1038/s41586-024-07487-w. AlphaFold3 is the game-changer for drug design: predicts protein-ligand complexes directly. Uses a diffusion-based architecture (different from AF2's end-to-end Evoformer approach).</a:t>
            </a:r>
          </a:p>
          <a:p/>
          <a:p>
            <a:r>
              <a:t>Neuroscience drug targets: ALL major families benefit:</a:t>
            </a:r>
          </a:p>
          <a:p>
            <a:r>
              <a:t>- Ion channels (hERG, Nav, GluCl, GABA-A): membrane proteins that were extremely hard to crystallize. AlphaFold structures opened up structure-based drug design for these targets.</a:t>
            </a:r>
          </a:p>
          <a:p>
            <a:r>
              <a:t>- GPCRs (serotonin 5-HT2A, dopamine D2, opioid receptors): ~34% of all FDA-approved drugs target GPCRs (Saikia et al. 2019, Curr. Drug Targets 20:522-539). AlphaFold structures complement cryo-EM structures.</a:t>
            </a:r>
          </a:p>
          <a:p>
            <a:r>
              <a:t>- Transporters (SERT, DAT): targets for SSRIs (fluoxetine/Prozac), methylphenidate (Ritalin)</a:t>
            </a:r>
          </a:p>
          <a:p/>
          <a:p>
            <a:r>
              <a:t>Student project: pick one of these targets, retrieve AlphaFold structure from uniprot.org → AlphaFold DB, analyze binding site, compare to experimental PDB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167-175 min</a:t>
            </a:r>
          </a:p>
          <a:p/>
          <a:p>
            <a:r>
              <a:t>5 min. The virtual screening workflow ends with EXPERIMENTAL VALIDATION. For ion channel drugs, this means electrophysiology. This connects back to the physiology-as-readout theme.</a:t>
            </a:r>
          </a:p>
          <a:p/>
          <a:p>
            <a:r>
              <a:t>CITATION: DiffDock: Corso et al. (2023) 'DiffDock: Diffusion Steps, Twists, and Turns for Molecular Docking.' ICLR 2023. (arXiv preprint: 2022, arXiv:2210.01776.) Uses diffusion models for molecular docking — generates multiple plausible binding poses and scores them. State-of-the-art for blind docking (no prior knowledge of binding site).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175-190 min (after Unit 6)</a:t>
            </a:r>
          </a:p>
          <a:p/>
          <a:p>
            <a:r>
              <a:t>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190-195 min (intro) then 195-245 min (practical)</a:t>
            </a:r>
          </a:p>
          <a:p/>
          <a:p>
            <a:r>
              <a:t>3 min intro. Track A is better for students doing QSAR projects (6). Track B is better for students doing AlphaFold projects (7). BYB project students can choose either for general understanding.</a:t>
            </a:r>
          </a:p>
          <a:p/>
          <a:p>
            <a:r>
              <a:t>Track B is particularly important: students learn to use AlphaFold DB, visualize protein structures, and identify drug binding sites. This is directly applicable to project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195-245 min (Units 7-8, ~50 min coding)</a:t>
            </a:r>
          </a:p>
          <a:p/>
          <a:p>
            <a:r>
              <a:t>Hands-on. Students choose their track. Walk around and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245-255 min</a:t>
            </a:r>
          </a:p>
          <a:p/>
          <a:p>
            <a:r>
              <a:t>7-min discussion. RF wins on small data, when interpretability is critical, or when compute is limited. GNN wins on large data. CITATION: Yang et al. (2019) 'Analyzing Learned Molecular Representations for Property Prediction.' JCIM 59:3370-3388. Chemprop (D-MPNN) beat RF on 7/8 MoleculeNet tasks, but RF won on 1.</a:t>
            </a:r>
          </a:p>
          <a:p/>
          <a:p>
            <a:r>
              <a:t>Neuroscience analogy: small T5 circuit (~60 neurons) → hand-crafted features + RF. Full 140K-neuron connectome → GNN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255-260 min</a:t>
            </a:r>
          </a:p>
          <a:p/>
          <a:p>
            <a:r>
              <a:t>Quick recap. The key progression: Day 1 (pipeline + physiology), Day 2 (classical ML), Day 3 (deep learning + generation). Day 4 wraps up with ethics and project finalization.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260-265 min</a:t>
            </a:r>
          </a:p>
          <a:p/>
          <a:p>
            <a:r>
              <a:t>Preview of Day 4 (only 4 units). Projects should be well underway by then. Encourage students to start coding their projects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Calibri"/>
              </a:defRPr>
            </a:pPr>
            <a:r>
              <a:t>DAY 3 — 5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Deep Learning, GNNs &amp; Generative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0F0F0"/>
                </a:solidFill>
                <a:latin typeface="Calibri"/>
              </a:defRPr>
            </a:pPr>
            <a:r>
              <a:t>When molecules become graphs and AI creates new drugs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F77B4"/>
                </a:solidFill>
                <a:latin typeface="Calibri"/>
              </a:defRPr>
            </a:pPr>
            <a:r>
              <a:t>AI for Drug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Morning Agenda (Units 1-4)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1. From fingerprints to learned representations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2. Molecules as graphs — nodes, edges, features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3. GNN intuition: message passing = learned fingerprints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4. GNN architectures: GCN, GAT, MPNN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5. Real-world GNN applications: pharma &amp; neuroscience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6. PRACTICAL 1: Train a GNN with DeepChem (~50 min)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☕ BREAK after Unit 2 (after ~90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From Fingerprints to Learned Representations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Day 2 pipeline: SMILES → fingerprints → RF/XGBoost → prediction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Fingerprint limitations: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Fixed-length bit vectors lose information (hash collisions)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Cannot capture 3D spatial relationships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Hand-designed, not learned from data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Deep learning solution: learn representations end-to-end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Input: molecular graph (atoms + bonds)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Model: Graph Neural Network learns optimal features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Output: property prediction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Key question: when does this matter? (hint: dataset size)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Molecules as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77B4"/>
                </a:solidFill>
                <a:latin typeface="Calibri"/>
              </a:defRPr>
            </a:pPr>
            <a:r>
              <a:t>Atom (Node)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Atomic number (C=6, N=7, O=8)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Degree (number of bonds)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Formal charge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Hybridization (sp, sp2, sp3)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Aromaticity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Number of hydrogens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77B4"/>
                </a:solidFill>
                <a:latin typeface="Calibri"/>
              </a:defRPr>
            </a:pPr>
            <a:r>
              <a:t>Bond (Edge)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Bond type (single, double, triple, aromatic)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Is in ring?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Is conjugated?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Stereochemistry (E/Z, cis/trans)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Same features as fingerprints,</a:t>
            </a:r>
          </a:p>
          <a:p>
            <a:pPr>
              <a:spcAft>
                <a:spcPts val="800"/>
              </a:spcAft>
              <a:defRPr sz="1800">
                <a:solidFill>
                  <a:srgbClr val="323232"/>
                </a:solidFill>
                <a:latin typeface="Calibri"/>
              </a:defRPr>
            </a:pPr>
            <a:r>
              <a:t>but preserved per atom/bond!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GNN Intuition: Message Passing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Core idea: each node gathers info from neighbors, then updates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Algorithm (for each node v, K iterations):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1. AGGREGATE: collect features from all neighbors of v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2. UPDATE: combine message with v's own features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3. After K iterations: each node knows K-hop neighborhood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K=1: direct neighbors (≈ Morgan radius=1)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K=2: 2-hop neighborhood (≈ Morgan radius=2)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This IS what ECFP does — but LEARNED, not hashed!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After K layers → READOUT: aggregate all node features → prediction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h_graph = mean/sum/attention pooling of all node representations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Common GNN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GCN — Graph Convolutional Network (Kipf &amp; Welling 2017, ICLR)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Simple, effective, widely adopted (~56,000+ citations as of 2026)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GAT — Graph Attention Network (Veličković et al. 2018, ICLR)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Learns attention weights: some neighbors matter more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MPNN — Message Passing Neural Network (Gilmer et al. 2017, ICML)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The unifying framework for molecular GNNs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D-MPNN — Directed MPNN / Chemprop (Yang et al. 2019, JCIM)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State-of-the-art for molecular property prediction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3D-aware: SchNet, DimeNet — use atomic coordinates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Key insight: architecture matters LESS than data quality + featurization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☕ BREAK — 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GNN practical coming up next!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Real-World GNN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Drug Discovery: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Stokes et al. (2020, Cell) — discovered halicin antibiotic with neural nets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Chemprop: state-of-the-art on MoleculeNet benchmarks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Neuroscience: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Drosophila connectome (FlyWire: ~139K neurons, ~54.5M synapses) → graph!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GNNs predict neuron types from connectivity patterns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Brain imaging graphs: EEG/fMRI → GNN for disease classification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Neuroscience &amp; Connectomics: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Visual motion circuit: physiology + connectomics approach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Connectomics graph data (MESH repository) = neurons as graph nodes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Same GNN architecture works on molecules AND brain circuits!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Cross-Domain: Molecules, Brains, and Physiological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Same GNN framework, different biological graphs: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Molecular graph: atoms = nodes, bonds = edges → predict activity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Brain connectome: neurons = nodes, synapses = edges → predict function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Physiological signals: channels = nodes, correlations = edges → classify states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Neuroscience example: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Physiology: functional characterization of T5 circuit (Serbe et al. 2016, Neuron)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Connectomics: structural graph of neural wiring (MESH repository)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Together: structure constrains function, function validates structure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For your projects: BYB data (EMG/ECG/EEG) can be graphs too!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Record from multiple channels → correlation graph → GNN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Practical 1: Train a GNN with DeepChem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Open: day3_deep_learning/Day3_Practical_GNN.ipynb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Steps: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1. Load MoleculeNet dataset (HIV or BACE)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2. Featurize molecules as graphs using DeepChem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3. Train a Graph Convolutional Network (GCN)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4. Compare to your Day 2 Random Forest baseline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5. Analyze: when does GNN beat RF? When doesn't it?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6. (Bonus) Try Chemprop and compare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Time: ~50 min | GPU recommended (Colab provides free GPU)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HIV: ~41K compounds (large), BACE: ~1.5K (small, Alzheimer's target)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🔬 PRACTICAL 1 — Train Your GNN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50 minutes — molecules as graphs!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Afternoon Agenda (Units 5-8)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7. Generative AI for molecules — creating new drugs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8. VAE, diffusion models, SELFIES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9. Protein targets &amp; AlphaFold for drug design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10. Binding prediction &amp; structure-based drug design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11. PRACTICAL 2: Generative models or AlphaFold exploration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☕ BREAK after Unit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Generative AI for Molecules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Can AI invent new drugs?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Generative AI: Creating New Molecules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Goal: generate novel molecules with desired properties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Not just screen existing libraries — DESIGN new compounds!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Key approaches: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1. Variational Autoencoder (VAE) on SMILES or molecular graphs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   Gómez-Bombarelli et al. (2018), ACS Central Science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2. Recurrent Neural Networks (RNN) on SMILES strings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3. Generative Adversarial Networks (GAN)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4. Reinforcement Learning — optimize for desired properties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5. Diffusion Models — state-of-the-art (Hoogeboom et al., ICML 2022)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SELFIES (Krenn et al. 2020): 100% valid molecular strings!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Every string decodes to a valid molecule → ideal for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Multi-Objective Drug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Real drug design requires optimizing MANY properties simultaneously: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High potency (low IC50)  |  Drug-like (Lipinski/CNS rules)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Low toxicity (no hERG block)  |  Synthetic accessibility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Good ADMET  |  Novel (patentable) |  Soluble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Approaches: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Pareto optimization: no solution dominates all others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Reward shaping: combine objectives into single score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Reinforcement learning: agent learns to generate optimal molecules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This is where domain expertise (neuroscience, pharmacology) is critical!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You need to know WHICH properties matter for your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Protein Targets &amp; Binding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Structure-based drug design with AlphaFold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AlphaFold2 &amp; AlphaFold3: Revolution in Structural Biology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AlphaFold2 (Jumper et al. 2021, Nature) — 2024 Nobel Prize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Solved 50-year protein folding challenge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200+ million structures predicted in AlphaFold DB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AlphaFold3 (Abramson et al. 2024, Nature):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Predicts protein-ligand, protein-DNA, protein-RNA complexes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Directly applicable to drug design!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Neuroscience drug targets with AlphaFold structures: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hERG (cardiac safety)  |  GABA-A (anxiolytics, anesthetics)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GluCl (ivermectin target, Cys-loop receptor superfamily)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Serotonin receptors (5-HT2A: psychedelics, antidepressants)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Dopamine receptors (D2: antipsychotics)  |  nAChR (addiction)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Molecular Docking &amp; Binding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Molecular docking: fit a molecule into a protein binding site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AutoDock Vina, GNINA, DiffDock (Corso et al. 2023, ICLR)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Scoring functions: predict binding affinity from pose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Physics-based: force fields  |  Empirical: trained on data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ML-based: GNNs on protein-ligand complexes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Virtual screening workflow: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1. Get protein structure (experimental or AlphaFold)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2. Prepare binding site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3. Dock library of compounds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4. Score and rank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5. Validate top hits experimentally (including physiology!)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Step 5 = physiological validation = what the SpikerBox does!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☕ BREAK — 15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Last practical coming up!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Practical 2: Explore Generative Models or AlphaFold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Open: day3_deep_learning/Day3_Practical_Advanced.ipynb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Choose your track (both are in the notebook):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Track A — Generative Chemistry: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1. Use SELFIES to generate random valid molecules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2. Train a simple VAE on molecular data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3. Interpolate in latent space between known drugs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4. Score generated molecules with your Day 2 QSAR model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Track B — AlphaFold Exploration: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1. Retrieve AlphaFold predictions for a neuro drug target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2. Visualize with py3Dmol in Colab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3. Identify binding site residues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4. Compare AlphaFold vs experimental structure (if available)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Time: ~50 min | Choose based on your project interest!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7B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🔬 PRACTICAL 2 — Generative AI or AlphaFold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Choose your track and explore!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Calibri"/>
              </a:defRPr>
            </a:pPr>
            <a:r>
              <a:t>DISCUSSION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GNNs beat RF on benchmarks. But when would you</a:t>
            </a:r>
            <a:br/>
            <a:r>
              <a:t>STILL choose Random Forest for drug discovery?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Dataset size: GNN needs &gt;10K molecules to shine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Interpretability: SHAP on RF is straightforward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Computational cost: RF trains in seconds, GNN in hours</a:t>
            </a:r>
          </a:p>
          <a:p>
            <a:pPr>
              <a:spcAft>
                <a:spcPts val="800"/>
              </a:spcAft>
              <a:defRPr sz="1800">
                <a:solidFill>
                  <a:srgbClr val="F0F0F0"/>
                </a:solidFill>
                <a:latin typeface="Calibri"/>
              </a:defRPr>
            </a:pPr>
            <a:r>
              <a:t>Neuroscience angle: small circuit (60 neurons) → RF. Full fly brain (140K) → GNN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 — 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GNNs learn molecular representations end-to-end from graph structure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Message passing ≈ Morgan fingerprints, but LEARNED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Generative AI can CREATE new drug candidates (VAE, diffusion, RL)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AlphaFold: protein structure prediction → structure-based drug design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Same GNN framework applies to molecules, brain circuits, physiology data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Virtual screening ends with physiological validation (SpikerBox!)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ALWAYS compare to RF/XGBoost baseline!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Next (Day 4, 19 May): Ethics, physiology as readout, project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Coming Up: Day 4 — 19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Ethics, Regulation &amp; Responsible AI in Drug Discovery (2 units)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EU AI Act, bias, safety, intellectual property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Discussion: David Willson's mRNA vaccine — ethics of DIY medicine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Physiology as Drug Readout — The BYB Approach (1 unit)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From AI prediction to physiological validation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SpikerBox/SpikerBot demonstrations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Ion channel pharmacology: the final test of drug action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Project Finalization Workshop (1 unit)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  Troubleshoot your project, get feedback, prepare for exam</a:t>
            </a: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323232"/>
                </a:solidFill>
                <a:latin typeface="Calibri"/>
              </a:defRPr>
            </a:pPr>
            <a:r>
              <a:t>EXAM: 27 May — presentations/posters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69696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