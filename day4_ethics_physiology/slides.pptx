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0-10 min (Unit 1 start)</a:t>
            </a:r>
          </a:p>
          <a:p/>
          <a:p>
            <a:r>
              <a:t>Last teaching day before the exam! Today:</a:t>
            </a:r>
          </a:p>
          <a:p>
            <a:r>
              <a:t>- Units 1-2: Ethics &amp; regulation in AI drug discovery + physiology as drug readout</a:t>
            </a:r>
          </a:p>
          <a:p>
            <a:r>
              <a:t>- Units 3-4: Project finalization workshop</a:t>
            </a:r>
          </a:p>
          <a:p/>
          <a:p>
            <a:r>
              <a:t>Check project progress: every group should have their data/analysis well underway. Exam is 27 May — 8 days from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10-12 min</a:t>
            </a:r>
          </a:p>
          <a:p/>
          <a:p>
            <a:r>
              <a:t>2 min overview. This is a compact day (only 4 units = 180 min). Ethics + physiology are front-loaded, then we shift to hands-on project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12-14 min</a:t>
            </a:r>
          </a:p>
          <a:p/>
          <a:p>
            <a:r>
              <a:t>Transition to ethics. This is required content and genuinely important for responsible AI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14-24 min</a:t>
            </a:r>
          </a:p>
          <a:p/>
          <a:p>
            <a:r>
              <a:t>7 min. Connect back to Day 2: scaffold splits directly address chemical bias by testing on novel scaffolds. But other biases (target, population, publication) require different solutions.</a:t>
            </a:r>
          </a:p>
          <a:p/>
          <a:p>
            <a:r>
              <a:t>For neuroscience: CNS drugs have the highest failure rate partly because data quality for brain targets is lower and the biology is more complex.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24-32 min</a:t>
            </a:r>
          </a:p>
          <a:p/>
          <a:p>
            <a:r>
              <a:t>5 min. Key regulatory principle: AI is a TOOL used by human scientists. The human remains responsible. FDA wants to see that models are validated, monitored, and that there is human oversight.</a:t>
            </a:r>
          </a:p>
          <a:p/>
          <a:p>
            <a:r>
              <a:t>IP question: if AI generates a novel molecule, who is the inventor? Current law requires a human inventor. Insilico Medicine listed their human scientists, not the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32-45 min</a:t>
            </a:r>
          </a:p>
          <a:p/>
          <a:p>
            <a:r>
              <a:t>10-min discussion. This is NOT a peer-reviewed study — it's a viral news story. The underlying science (mRNA cancer vaccines, neoantigen prediction) IS well-published (BioNTech, Moderna clinical trials).</a:t>
            </a:r>
          </a:p>
          <a:p/>
          <a:p>
            <a:r>
              <a:t>Key discussion points:</a:t>
            </a:r>
          </a:p>
          <a:p>
            <a:r>
              <a:t>1. TECHNOLOGY: The pipeline (tumor sequencing → neoantigen prediction → mRNA design) uses AI at every step. Students should understand this.</a:t>
            </a:r>
          </a:p>
          <a:p>
            <a:r>
              <a:t>2. ETHICS: No IRB, no FDA, no GMP manufacturing. Safety is unknown.</a:t>
            </a:r>
          </a:p>
          <a:p>
            <a:r>
              <a:t>3. REGULATION: Should people be allowed to make their own medicines? Where's the line?</a:t>
            </a:r>
          </a:p>
          <a:p>
            <a:r>
              <a:t>4. AI CONNECTION: AI-generated drug candidates raise similar questions — how much validation is needed before human use?</a:t>
            </a:r>
          </a:p>
          <a:p/>
          <a:p>
            <a:r>
              <a:t>This discussion is relevant for students considering the mRNA project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45-47 min (Unit 2 start)</a:t>
            </a:r>
          </a:p>
          <a:p/>
          <a:p>
            <a:r>
              <a:t>Transition to the central theme of the course. This slide is about why physiology is indispensable for drug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47-57 min</a:t>
            </a:r>
          </a:p>
          <a:p/>
          <a:p>
            <a:r>
              <a:t>7 min. This is the KEY conceptual slide that ties the course together.</a:t>
            </a:r>
          </a:p>
          <a:p/>
          <a:p>
            <a:r>
              <a:t>The drug readout hierarchy maps directly to the course content AND the student projects:</a:t>
            </a:r>
          </a:p>
          <a:p>
            <a:r>
              <a:t>- Levels 1-2: AI methods from Days 2-3 predict these computationally</a:t>
            </a:r>
          </a:p>
          <a:p>
            <a:r>
              <a:t>- Level 2: Dr. Serbe-Kamp's 2016 Neuron paper used calcium imaging, electrophysiology, and optogenetics — these are the gold standard for measuring cellular drug effects</a:t>
            </a:r>
          </a:p>
          <a:p>
            <a:r>
              <a:t>- Level 3: BYB human signal recording (ECG, EEG, EMG) measures organ-level effects</a:t>
            </a:r>
          </a:p>
          <a:p>
            <a:r>
              <a:t>- Level 4: Eye-tracking and VR measure behavioral effects</a:t>
            </a:r>
          </a:p>
          <a:p/>
          <a:p>
            <a:r>
              <a:t>The SpikerBox/SpikerBot make Level 2 accessible: record from cockroach leg, apply lidocaine (Nav blocker), watch action potentials disappear. This IS drug effect measurement.</a:t>
            </a:r>
          </a:p>
          <a:p/>
          <a:p>
            <a:r>
              <a:t>This perspective justifies ALL the hardware projects:</a:t>
            </a:r>
          </a:p>
          <a:p>
            <a:r>
              <a:t>- Project 1 (SpikerBox): Level 2 — cellular physiology</a:t>
            </a:r>
          </a:p>
          <a:p>
            <a:r>
              <a:t>- Project 2 (SpikerBot): Level 2 — stimulation + recording</a:t>
            </a:r>
          </a:p>
          <a:p>
            <a:r>
              <a:t>- Project 3 (BYB Human): Level 3 — organ-level physiology</a:t>
            </a:r>
          </a:p>
          <a:p>
            <a:r>
              <a:t>- Project 4 (Eye-tracking): Level 4 — behavioral</a:t>
            </a:r>
          </a:p>
          <a:p>
            <a:r>
              <a:t>- Project 5 (VR): Level 4 — behavioral/perceptual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57-67 min</a:t>
            </a:r>
          </a:p>
          <a:p/>
          <a:p>
            <a:r>
              <a:t>7 min. CITATION: Santos et al. (2017) 'A comprehensive map of molecular drug targets.' Nature Rev. Drug Discov. 16:19-34. Note: Santos reports ion channels as ~6% of primary efficacy targets, NOT 18%. The 18% figure is sometimes cited but is incorrect — it likely conflates different target categories. GPCRs are ~34% (the largest family). Ion channels remain critically important despite the smaller percentage because of safety (hERG) and neurological disease applications.</a:t>
            </a:r>
          </a:p>
          <a:p/>
          <a:p>
            <a:r>
              <a:t>=== THE GluCl / IVERMECTIN CONNECTION ===</a:t>
            </a:r>
          </a:p>
          <a:p>
            <a:r>
              <a:t>GluCl is a glutamate-gated chloride channel in the Cys-loop receptor superfamily (same family as GABA-A, glycine receptors, nAChR). Ivermectin locks GluCl open → Cl⁻ influx → hyperpolarization → paralysis in parasites.</a:t>
            </a:r>
          </a:p>
          <a:p/>
          <a:p>
            <a:r>
              <a:t>2015 Nobel Prize (Ōmura &amp; Campbell) for ivermectin discovery.</a:t>
            </a:r>
          </a:p>
          <a:p/>
          <a:p>
            <a:r>
              <a:t>Dr. Serbe-Kamp's 2023 Nature Neuroscience paper (Ammer, Serbe-Kamp et al., Nature Neurosci. 26:1894-1905) found GluClα mediates direction-opponent inhibition in the Drosophila visual system. Same channel family, different organism, different function.</a:t>
            </a:r>
          </a:p>
          <a:p/>
          <a:p>
            <a:r>
              <a:t>=== hERG SAFETY ===</a:t>
            </a:r>
          </a:p>
          <a:p>
            <a:r>
              <a:t>hERG (human Ether-à-go-go Related Gene) channel is MANDATORY for drug safety. Block of hERG can cause QT prolongation → cardiac arrhythmia → sudden death. EVERY drug candidate must be tested. CITATION: Redfern et al. (2003) 'Relationships between preclinical cardiac electrophysiology, clinical QT interval prolongation and torsade de pointes.' Cardiovasc. Res. 58:32-45. The ICH S7B guideline requires hERG testing.</a:t>
            </a:r>
          </a:p>
          <a:p/>
          <a:p>
            <a:r>
              <a:t>AI predicts hERG block from molecular structure (QSAR). Physiology validates it (patch-clamp).</a:t>
            </a:r>
          </a:p>
          <a:p/>
          <a:p>
            <a:r>
              <a:t>=== DIY APPROACH ===</a:t>
            </a:r>
          </a:p>
          <a:p>
            <a:r>
              <a:t>SpikerBox: apply lidocaine to cockroach leg → Nav block → no action potentials. This IS drug testing at the most fundamental level. Making it accessible is the BYB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67-77 min</a:t>
            </a:r>
          </a:p>
          <a:p/>
          <a:p>
            <a:r>
              <a:t>7 min. This slide explicitly clarifies the 2016 Neuron paper.</a:t>
            </a:r>
          </a:p>
          <a:p/>
          <a:p>
            <a:r>
              <a:t>=== IMPORTANT CORRECTION ===</a:t>
            </a:r>
          </a:p>
          <a:p>
            <a:r>
              <a:t>The 2016 Neuron paper ('Comprehensive Characterization of the Major Presynaptic Elements to the Drosophila OFF Motion Detector', Serbe et al.) is a PHYSIOLOGY paper. It used:</a:t>
            </a:r>
          </a:p>
          <a:p>
            <a:r>
              <a:t>1. Calcium imaging (GCaMP6f, two-photon) to measure visual responses of medulla neurons</a:t>
            </a:r>
          </a:p>
          <a:p>
            <a:r>
              <a:t>2. Whole-cell electrophysiology (patch-clamp) to record membrane potential changes</a:t>
            </a:r>
          </a:p>
          <a:p>
            <a:r>
              <a:t>3. Optogenetics (CsChrimson, GtACR1) to activate/silence specific neuron types</a:t>
            </a:r>
          </a:p>
          <a:p/>
          <a:p>
            <a:r>
              <a:t>While it references EM data for anatomical context, its primary contribution is FUNCTIONAL characterization — understanding how neurons RESPOND to stimuli.</a:t>
            </a:r>
          </a:p>
          <a:p/>
          <a:p>
            <a:r>
              <a:t>Dr. Serbe-Kamp is CURRENTLY working on connectomics with the MESH repository — this is a SEPARATE project focused on STRUCTURAL mapping of neural circuits.</a:t>
            </a:r>
          </a:p>
          <a:p/>
          <a:p>
            <a:r>
              <a:t>The distinction:</a:t>
            </a:r>
          </a:p>
          <a:p>
            <a:r>
              <a:t>- Physiology (2016 Neuron, 2023 papers) = FUNCTION (what do neurons do?)</a:t>
            </a:r>
          </a:p>
          <a:p>
            <a:r>
              <a:t>- Connectomics (MESH, current) = STRUCTURE (how are neurons wired?)</a:t>
            </a:r>
          </a:p>
          <a:p/>
          <a:p>
            <a:r>
              <a:t>For drug discovery:</a:t>
            </a:r>
          </a:p>
          <a:p>
            <a:r>
              <a:t>- Physiology techniques directly measure drug effects</a:t>
            </a:r>
          </a:p>
          <a:p>
            <a:r>
              <a:t>- Connectomics identifies potential drug targets (hub neurons, key circuit nodes)</a:t>
            </a:r>
          </a:p>
          <a:p>
            <a:r>
              <a:t>- Together: structure-guided target ID → physiology-based drug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77-92 min</a:t>
            </a:r>
          </a:p>
          <a:p/>
          <a:p>
            <a:r>
              <a:t>Break. When students return, it's project workshop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92-94 min (Unit 3 start)</a:t>
            </a:r>
          </a:p>
          <a:p/>
          <a:p>
            <a:r>
              <a:t>Transition to workshop mode. This is hands-on time for students to work on their projects with instructor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94-100 min</a:t>
            </a:r>
          </a:p>
          <a:p/>
          <a:p>
            <a:r>
              <a:t>4 min. Go through the checklist. The key message: depth matters more than breadth. I'd rather see a simple analysis done well and understood deeply than a complex analysis the students can't explain.</a:t>
            </a:r>
          </a:p>
          <a:p/>
          <a:p>
            <a:r>
              <a:t>For poster projects: the minimum is data + ML analysis + interpretation + drug discovery connection.</a:t>
            </a:r>
          </a:p>
          <a:p>
            <a:r>
              <a:t>For presentations: understanding HOW figures were generated (methods) is as important as WHAT they show (results).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100-107 min</a:t>
            </a:r>
          </a:p>
          <a:p/>
          <a:p>
            <a:r>
              <a:t>5 min. Be explicit about grading. Implementation 40% emphasizes that the code must work. Scientific reasoning 25% means they must understand the biology behind their analysis. Evaluation 20% checks proper methodology. Presentation 15% rewards clear communication.</a:t>
            </a:r>
          </a:p>
          <a:p/>
          <a:p>
            <a:r>
              <a:t>All group members must participate in the presentation/poster defense. I will ask individual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107-165 min (Units 3-4, ~58 min of workshop)</a:t>
            </a:r>
          </a:p>
          <a:p/>
          <a:p>
            <a:r>
              <a:t>This is dedicated project time. Circulate among groups, answer questions, troubleshoot code. Check on each group at least once.</a:t>
            </a:r>
          </a:p>
          <a:p/>
          <a:p>
            <a:r>
              <a:t>Common issues to anticipate:</a:t>
            </a:r>
          </a:p>
          <a:p>
            <a:r>
              <a:t>- Data loading problems (ChEMBL, BYB data formats)</a:t>
            </a:r>
          </a:p>
          <a:p>
            <a:r>
              <a:t>- Feature engineering choices</a:t>
            </a:r>
          </a:p>
          <a:p>
            <a:r>
              <a:t>- Evaluation methodology (remind: scaffold split!)</a:t>
            </a:r>
          </a:p>
          <a:p>
            <a:r>
              <a:t>- AlphaFold structure retrieval</a:t>
            </a:r>
          </a:p>
          <a:p>
            <a:r>
              <a:t>- SpikerBox data analysis pipeline</a:t>
            </a:r>
          </a:p>
          <a:p/>
          <a:p>
            <a:r>
              <a:t>Encourage students to use all the course notebooks as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165-175 min</a:t>
            </a:r>
          </a:p>
          <a:p/>
          <a:p>
            <a:r>
              <a:t>Final recap. Thank the students for their engagement over the 4 days. Remind: exam 27 May. Publications are in the repository. Reach out with questions.</a:t>
            </a:r>
          </a:p>
          <a:p/>
          <a:p>
            <a:r>
              <a:t>The 4-day arc:</a:t>
            </a:r>
          </a:p>
          <a:p>
            <a:r>
              <a:t>Day 1: What is drug discovery? Where does AI fit? What projects will you do?</a:t>
            </a:r>
          </a:p>
          <a:p>
            <a:r>
              <a:t>Day 2: How to represent molecules and build ML models</a:t>
            </a:r>
          </a:p>
          <a:p>
            <a:r>
              <a:t>Day 3: Deep learning, GNNs, generative AI, AlphaFold</a:t>
            </a:r>
          </a:p>
          <a:p>
            <a:r>
              <a:t>Day 4: Ethics, physiology as readout, project finalization</a:t>
            </a:r>
          </a:p>
          <a:p/>
          <a:p>
            <a:r>
              <a:t>The key insight: AI and physiology are complementary. AI predicts, physiology validates. The SpikerBox/SpikerBot make that validation accessible.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175-180 min (end)</a:t>
            </a:r>
          </a:p>
          <a:p/>
          <a:p>
            <a:r>
              <a:t>Final slide. Open for last questions. See everyone on 27 May!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DAY 4 — 19 May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Ethics, Physiology &amp; Project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Responsible AI, the physiological readout of drugs, and your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77B4"/>
                </a:solidFill>
                <a:latin typeface="Calibri"/>
              </a:defRPr>
            </a:pPr>
            <a:r>
              <a:t>AI for Drug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Unit 1 — Ethics &amp; Regulation in AI Drug Discovery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AI bias in chemical data, FDA/EMA AI frameworks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Intellectual property: who owns an AI-designed drug?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Discussion: David Willson's mRNA vaccine — DIY medicine ethics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Unit 2 — Physiology: The Last Readout of Drug Action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From AI prediction to experimental validation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Ion channel pharmacology: patch-clamp, SpikerBox, SpikerBot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Physiology research meets drug discovery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☕ BREAK — 15 min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Units 3-4 — Project Workshop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Group consultations, troubleshooting, exam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Ethics &amp; Regulation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Responsible AI in drug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 Bias in Drug Discovery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Chemical bias: historical datasets over-represent certain scaffolds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e.g., benzodiazepines dominate GABA-A data → model learns scaffold, not binding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Target bias: most data on 'popular' targets (kinases, GPCRs)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Neglected tropical diseases have very little data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Population bias: clinical trial data skews toward certain demographics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Pharmacogenomics: drug metabolism varies by population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Publication bias: positive results published, negative results hidden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ChEMBL is biased toward active compounds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Question: how do scaffold splits (Day 2) address some of these biases?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Regulatory Landscape for AI in Drug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FDA: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AI/ML Action Plan (2021): 'Good Machine Learning Practice' principles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Focus on transparency, clinical validation, performance monitoring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EMA (European Medicines Agency):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Reflection paper on AI (2023): emphasizes human oversight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EU AI Act (2024):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Medical AI = high-risk → requires conformity assessment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Transparency, documentation, human oversight obligations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Intellectual property: who owns an AI-designed drug?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Patent offices increasingly require human inventor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AI as a tool, not an inventor (for now)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77B4"/>
                </a:solidFill>
                <a:latin typeface="Calibri"/>
              </a:defRPr>
            </a:pPr>
            <a:r>
              <a:t>DISCUSSION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David Willson designed an mRNA cancer vaccine for his dog.</a:t>
            </a:r>
            <a:br/>
            <a:r>
              <a:t>Is this the future of personalized medicine or a cautionary tale?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Arguments FOR: democratization of medicine, personalized treatment</a:t>
            </a:r>
          </a:p>
          <a:p>
            <a:pPr>
              <a:spcAft>
                <a:spcPts val="8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Arguments AGAINST: safety risks, no clinical trial, no oversight</a:t>
            </a:r>
          </a:p>
          <a:p>
            <a:pPr>
              <a:spcAft>
                <a:spcPts val="8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What if the vaccine caused harm? Who is responsible?</a:t>
            </a:r>
          </a:p>
          <a:p>
            <a:pPr>
              <a:spcAft>
                <a:spcPts val="8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How does this relate to AI-generated drug candidates?</a:t>
            </a:r>
          </a:p>
          <a:p>
            <a:pPr>
              <a:spcAft>
                <a:spcPts val="8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Should there be an 'open-source medicine' movement?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Physiology: The Last Readout of Drugs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From AI prediction to biological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Drug Readout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Every drug must ultimately change PHYSIOLOGY in living systems: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Level 1 — Molecular: binding affinity (Ki, IC50)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→ In silico prediction (QSAR, GNN, docking) — Day 2-3 content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Level 2 — Cellular: physiological response (channel currents, Ca²⁺ signals)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→ Patch-clamp, calcium imaging — Serbe et al. (2016) Neuron 89:829-841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→ SpikerBox: extracellular recording of drug effects on neural/muscle firing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Level 3 — Tissue/Organ: cardiac QT interval, neural circuit function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→ ECG, EEG, EMG — BYB Human Signals project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Level 4 — Organism: behavior, clinical outcome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→ Eye-tracking, VR experiments — student projects 4, 5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AI predicts levels 1-2. Physiology VALIDATES all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Ion Channel Pharmacology: Where AI Meets the SpikerBox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Ion channels = ~6% of primary drug targets (Santos et al. 2017, Nat. Rev. Drug Discov. 16:19-34)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Critical ion channel drug targets: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Nav: antiepileptics (carbamazepine), local anesthetics (lidocaine)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GABA-A: anxiolytics (diazepam), anesthetics (propofol)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GluCl: antiparasitics (ivermectin) — same family as GABA-A!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hERG: cardiac safety (MANDATORY screening for ALL drugs)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nAChR: smoking cessation (varenicline)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Measuring drug effects on ion channels: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Lab: patch-clamp electrophysiology (gold standard)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DIY: SpikerBox (extracellular recording, ~$100)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Computational: Hodgkin-Huxley simulation (Day 1 notebook!)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GluClα research: Ammer, Serbe-Kamp et al. (2023, Nat. Neurosci. 26:1894-1905) → ivermectin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Physiology Research → Drug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Key publication: Serbe et al. (2016) Neuron 89:829-841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'Comprehensive Characterization of the Major Presynaptic Elements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to the Drosophila OFF Motion Detector'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Methods: calcium imaging + electrophysiology + optogenetics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This is a PHYSIOLOGY paper — functional characterization of neurons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NOT a connectomics paper (that's the current MESH project)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Why this matters for drug discovery: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Same techniques measure drug effects on neural function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Calcium imaging → FLIPR assays for GPCR drug screens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Electrophysiology → patch-clamp for ion channel IC50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Optogenetics → precise control of neural activity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Current work: MESH repository for connectomics (structural mapping)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Physiology (function) + Connectomics (structure) = complete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☕ BREAK — 15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Project workshop starts after the break!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Project Finalization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Get your projects ready for the exam (27 May)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Checklist — What You Need for 27 May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POSTER (Projects 1-5: own data):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□ Data collected and cleaned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□ ML analysis applied (classification, regression, or clustering)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□ Results visualized (plots, figures, confusion matrices)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□ Connection to drug discovery / pharmacology explained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□ Poster formatted and ready to present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PRESENTATION (Projects 6-7 or publication-based):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□ Key figures reproduced OR explained in detail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□ Methods understood (not just results)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□ Critical analysis: strengths, limitations, alternatives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□ Connection to course content (QSAR, GNN, AlphaFold)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□ 15-20 min presentation + Q&amp;A slides ready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ALL: Be ready for questions! I will probe your understanding.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Exam: 27 May 2026 — Presentations / Posters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77B4"/>
                </a:solidFill>
                <a:latin typeface="Calibri"/>
              </a:defRPr>
            </a:pPr>
            <a:r>
              <a:t>Grading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Implementation (40%)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Is the analysis correct and complete?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Is the code well-documented?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Scientific Reasoning (25%)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Do you understand the biology?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Can you explain your choices?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Evaluation (20%)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Did you evaluate properly?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Scaffold splits? Cross-validation?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77B4"/>
                </a:solidFill>
                <a:latin typeface="Calibri"/>
              </a:defRPr>
            </a:pPr>
            <a:r>
              <a:t>Format &amp; Logistics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Presentation Quality (15%)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Clear, well-structured, within time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POSTER: printed or digital, 5 min pitch + Q&amp;A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PRESENTATION: 15-20 min + 5-10 min Q&amp;A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Groups of 3-4, all members must contribute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Publications in: publications/ folder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  (organized by topic, upload your PDFs)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🔧 WORKSHOP — Work on Your Projects!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I'm available for questions and troubleshooting!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TAKEAWAYS — DAY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The 4-day journey: pipeline → molecular ML → deep learning → ethics/physiology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Physiology is the FINAL readout of every drug — from patch-clamp to SpikerBox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AI predicts, physiology validates — both are essential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Serbe et al. (2016) Neuron paper = physiology of cells (not connectomics!)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  Current work: MESH repository for connectomics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Ethics matters: bias, regulation, responsible innovation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Your projects bridge AI methods with biological reality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EXAM: 27 May 2026 — presentations/posters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Good luck! 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 &amp; Good Luck! 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Exam: 27 May 2026 — See you there!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