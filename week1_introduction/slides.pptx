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AI for Drug Discovery! Take a moment to introduce yourself and your background. Explain that this is a 7-week course plus a project week. The goal is to give students hands-on skills in applying ML/AI to pharmaceutical research. Today we cover the big picture: what drug discovery looks like, why it is so hard, and where AI changes the game. Spend about 2 minutes on introductions. Ask students: how many of you have a chemistry background? How many CS? This diversity is exactly what modern drug discovery teams look like.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roadmap quickly, about 2 minutes. Emphasize that the course is hands-on: every week has a practical coding session. Tell students they will work in groups of 3-4 for the final project and can choose from QSAR prediction, GNN-based activity prediction, generative molecule design, or binding affinity modeling. Groups should start forming informally over the next few weeks. All code will be in Python and Jupyter notebooks, primarily using RDKit, scikit-learn, PyTorch, and DeepChem. No prior chemistry knowledge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here. Let these numbers sink in. Ask students: does anyone know how much a single Phase III clinical trial costs? Answer: $50-100M+. The DiMasi 2016 study in the Journal of Health Economics is the landmark reference for drug development costs. The Wong et al. 2019 paper in Biostatistics analyzed 406,038 entries from ClinicalTrials.gov. Point out that for every drug that reaches patients, thousands of candidates were tested and discarded. This is why even small improvements in efficiency from AI could save billions. Transition: So where exactly does it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step in 4-5 minutes. At HIT DISCOVERY, mention that traditional HTS screens 1-2 million compounds physically, incredibly expensive. At LEAD OPTIMIZATION, mention that medicinal chemists manually tweak molecules, this is where AI has huge potential. ADMET stands for Absorption, Distribution, Metabolism, Excretion, Toxicity. Finding a drug is like finding a needle in a haystack, except the haystack is the size of a galaxy. Chemical space is estimated at 10^60 drug-like molecules. Transition: So what goes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here. The left column shows aggregate statistics from Kola &amp; Landis (2004, Nature Reviews Drug Discovery). On the right, give brief stories: Vioxx was a blockbuster painkiller withdrawn after ~88,000 estimated cardiac events. Torcetrapib raised HDL cholesterol as intended but also raised blood pressure, $800M lost. These failures are not just financial, they affect patients. This is WHY we need better predictive tools. Ask students: can you think of other drug safety scandals? Transition: Now let me tell you an inspiring 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hook story, spend 4-5 minutes here and make it personal. David Willson's story went viral in 2024. He leveraged mRNA technology to create a personalized cancer vaccine for his dog, working with his veterinarian. The point is NOT that everyone should make DIY vaccines, there are serious safety and regulatory considerations. The point IS that the fundamental technologies (sequencing, mRNA design, neoantigen prediction) are becoming accessible and affordable. AI plays a role at every step: predicting which neoantigens will elicit an immune response, optimizing mRNA sequences for stability and expression, and modeling immune responses. Connect this to the course: by the end, students will understand the AI/ML methods that power these advances.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transition slide, 30 seconds. Tell students: we have seen the problem. It is slow, expensive, and risky. Now let us see how AI is fundamentally changing the game. Major pharma companies (Pfizer, Novartis, AstraZeneca, Roche) are all investing heavily in AI. Startups like Insilico Medicine, Recursion Pharmaceuticals, and Isomorphic Labs are dedicated AI drug discovery companies.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this slide. Go through each bullet with a real example. Virtual screening: BenevolentAI used AI to identify baricitinib as a potential COVID-19 treatment in Feb 2020, later validated in clinical trials and received FDA emergency use authorization. Lead optimization: Relay Therapeutics uses molecular dynamics + ML. De novo design: Insilico Medicine designed a novel drug candidate from scratch using AI. Clinical trials: Unlearn.AI creates digital twins to reduce control group sizes. AI does not replace wet-lab experiments, it prioritizes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this landmark case. Insilico Medicine, founded by Alex Zhavoronkov, is based in Hong Kong. ISM001-055 targets TNIK (TRAF2 and NCK-interacting kinase), a novel target for IPF that was not previously known to be relevant. The AI both discovered the target AND designed the drug, end-to-end AI-driven discovery. The cost comparison is staggering: $2.6M vs. $100M+. Ren F. et al. (2024) Chemical Science. Ask: what do you think the biggest challenge is in translating AI-designed drugs to the clinic?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AlphaFold is probably the most famous AI success story in biology. Spend 3 minutes here. Jumper J. et al. (2021) Highly accurate protein structure prediction with AlphaFold, Nature 596:583-589, won the 2024 Nobel Prize in Chemistry for Demis Hassabis and John Jumper. AlphaFold3 (Abramson et al. 2024, Nature) extends to protein-ligand complexes, directly relevant to drug design. We will revisit protein structures in Week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that we have seen the big picture, let us get technical. How do we actually represent molecules for a computer? We will cover SMILES, bioactivity data, and protein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SMILES. Key rules: atoms are letters, single bonds are implicit, double bonds =, triple bonds #, branches in parentheses, rings with number pairs. Lowercase letters mean aromatic atoms. The Weininger 1988 paper is the original reference. We will go much deeper into SMILES in Week 2. For now, just get comfortable with the idea that molecules can be written as strings for machine learning models. Ask: can anyone guess what c1ccccc1 represents? It is benzene!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explaining bioactivity measures. Use an analogy: IC50 is like asking how much of this molecule do I need to shut down 50% of the enzyme? Lower IC50 = more potent = better drug. We convert to pIC50 because it makes the numbers easier to work with. A pIC50 of 8 means IC50 = 10nM, that is a very potent drug candidate. ChEMBL maintained by the European Bioinformatics Institute is the gold standard. We will use ChEMBL data extensively in our practicals.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go through quickly in 2 minutes. Emphasize that one of the great things about drug discovery research is that so much data is publicly available. MoleculeNet (Wu et al. 2018, Chemical Science) provides standardized benchmarks. Students should bookmark ChEMBL and MoleculeNet.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here. This is a unique connection point. If you have a SpikerBox, this is the moment for a live demo. Show a spike train recording: voltage trace over time, with action potentials. Then show a dose-response curve: drug concentration vs. biological response. Both are SIGNAL to FEATURES to MODEL problems. The SpikerBox was developed by Backyard Brains (backyardbrains.com). Marzullo et al. 2012 published the original educational paper. Ion channel drugs include: local anesthetics (sodium channel blockers), anti-epileptics. hERG channel toxicity (cardiac risk) is one of the most common reasons drugs fail.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RDKit. Created by Greg Landrum at Novartis, now maintained by a large open-source community. Think of RDKit as the NumPy of chemistry. In today's practical, we will install it and use it to load molecules, calculate properties, and draw structures. RDKit converts SMILES strings into rich molecular objects that we can compute features from. This is the bridge between chemistry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explaining the practical, then transition to the hands-on session. The notebook is designed to run in Google Colab. We use EGFR (Epidermal Growth Factor Receptor) inhibitors as our example dataset because EGFR is a well-studied cancer target with lots of data in ChEMBL. Students may have heard of drugs like gefitinib (Iressa) or erlotinib (Tarceva). Encourage students to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5-7 minute discussion. Let students discuss in small groups first, then share with the class. Guide the discussion toward: there is no single answer. AI helps at every stage, but the highest-impact areas are probably lead optimization (most time-consuming) and clinical trial design (most expensive). If someone mentions risks, validate that: AI can learn biases in data, predict artifacts, or create false confidence. We will dedicate time to ethics in Week 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recap each point in 2-3 minutes. Emphasize the overarching narrative: drug discovery has a problem (slow/expensive/risky), AI is the solution, and this course will give students the tools to contribute. Remind students about the practical notebook.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preview, 1 minute. Next week we go from exploring molecules to actually predicting their properties. The optional reading by Muegge and Mukherjee is a nice accessible review of molecular fingerprints. Thank them for a great first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1</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Introduction &amp; The Drug Discovery Pipeline</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From bench to bedside - and how AI is rewriting the rules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Course Roadmap - 7 Weeks + Project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Week 1: Introduction &amp; Drug Discovery Pipeline (TODAY)</a:t>
            </a:r>
          </a:p>
          <a:p>
            <a:pPr>
              <a:spcAft>
                <a:spcPts val="800"/>
              </a:spcAft>
              <a:defRPr sz="2000">
                <a:solidFill>
                  <a:srgbClr val="323232"/>
                </a:solidFill>
                <a:latin typeface="Calibri"/>
              </a:defRPr>
            </a:pPr>
            <a:r>
              <a:t>Week 2: Molecular Representation &amp; Baseline ML</a:t>
            </a:r>
          </a:p>
          <a:p>
            <a:pPr>
              <a:spcAft>
                <a:spcPts val="800"/>
              </a:spcAft>
              <a:defRPr sz="2000">
                <a:solidFill>
                  <a:srgbClr val="323232"/>
                </a:solidFill>
                <a:latin typeface="Calibri"/>
              </a:defRPr>
            </a:pPr>
            <a:r>
              <a:t>Week 3: Model Evaluation &amp; Interpretability</a:t>
            </a:r>
          </a:p>
          <a:p>
            <a:pPr>
              <a:spcAft>
                <a:spcPts val="800"/>
              </a:spcAft>
              <a:defRPr sz="2000">
                <a:solidFill>
                  <a:srgbClr val="323232"/>
                </a:solidFill>
                <a:latin typeface="Calibri"/>
              </a:defRPr>
            </a:pPr>
            <a:r>
              <a:t>Week 4: Deep Learning &amp; Graph Neural Networks</a:t>
            </a:r>
          </a:p>
          <a:p>
            <a:pPr>
              <a:spcAft>
                <a:spcPts val="800"/>
              </a:spcAft>
              <a:defRPr sz="2000">
                <a:solidFill>
                  <a:srgbClr val="323232"/>
                </a:solidFill>
                <a:latin typeface="Calibri"/>
              </a:defRPr>
            </a:pPr>
            <a:r>
              <a:t>Week 5: Generative AI for Molecule Design</a:t>
            </a:r>
          </a:p>
          <a:p>
            <a:pPr>
              <a:spcAft>
                <a:spcPts val="800"/>
              </a:spcAft>
              <a:defRPr sz="2000">
                <a:solidFill>
                  <a:srgbClr val="323232"/>
                </a:solidFill>
                <a:latin typeface="Calibri"/>
              </a:defRPr>
            </a:pPr>
            <a:r>
              <a:t>Week 6: Protein Targets &amp; Binding Prediction</a:t>
            </a:r>
          </a:p>
          <a:p>
            <a:pPr>
              <a:spcAft>
                <a:spcPts val="800"/>
              </a:spcAft>
              <a:defRPr sz="2000">
                <a:solidFill>
                  <a:srgbClr val="323232"/>
                </a:solidFill>
                <a:latin typeface="Calibri"/>
              </a:defRPr>
            </a:pPr>
            <a:r>
              <a:t>Week 7: Ethics, Regulation &amp; Project Workshop</a:t>
            </a:r>
          </a:p>
          <a:p>
            <a:pPr>
              <a:spcAft>
                <a:spcPts val="800"/>
              </a:spcAft>
              <a:defRPr sz="2000">
                <a:solidFill>
                  <a:srgbClr val="323232"/>
                </a:solidFill>
                <a:latin typeface="Calibri"/>
              </a:defRPr>
            </a:pPr>
            <a:r>
              <a:t>Week 8: Group Project Exam (Presentation + Code + Report)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Assessment: Implementation 40% | Scientific reasoning 25% | Evaluation 20% | Presentation 15%</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Brutal Reality of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Average time to market: 12-15 years</a:t>
            </a:r>
          </a:p>
          <a:p>
            <a:pPr>
              <a:spcAft>
                <a:spcPts val="800"/>
              </a:spcAft>
              <a:defRPr sz="2000">
                <a:solidFill>
                  <a:srgbClr val="323232"/>
                </a:solidFill>
                <a:latin typeface="Calibri"/>
              </a:defRPr>
            </a:pPr>
            <a:r>
              <a:t>Average cost: $2.6 billion per approved drug (DiMasi et al., 2016, J. Health Economics)</a:t>
            </a:r>
          </a:p>
          <a:p>
            <a:pPr>
              <a:spcAft>
                <a:spcPts val="800"/>
              </a:spcAft>
              <a:defRPr sz="2000">
                <a:solidFill>
                  <a:srgbClr val="323232"/>
                </a:solidFill>
                <a:latin typeface="Calibri"/>
              </a:defRPr>
            </a:pPr>
            <a:r>
              <a:t>Success rate from Phase I to approval: ~7.9% (Wong et al., 2019, Biostatistics)</a:t>
            </a:r>
          </a:p>
          <a:p>
            <a:pPr>
              <a:spcAft>
                <a:spcPts val="800"/>
              </a:spcAft>
              <a:defRPr sz="2000">
                <a:solidFill>
                  <a:srgbClr val="323232"/>
                </a:solidFill>
                <a:latin typeface="Calibri"/>
              </a:defRPr>
            </a:pPr>
            <a:r>
              <a:t>Over 90% of drug candidates fail in clinical trials</a:t>
            </a:r>
          </a:p>
          <a:p>
            <a:pPr>
              <a:spcAft>
                <a:spcPts val="800"/>
              </a:spcAft>
              <a:defRPr sz="2000">
                <a:solidFill>
                  <a:srgbClr val="323232"/>
                </a:solidFill>
                <a:latin typeface="Calibri"/>
              </a:defRPr>
            </a:pPr>
            <a:r>
              <a:t>Only ~14% of drugs entering Phase I get FDA approval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most expensive experiment in science is a failed clinical trial."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Traditional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TARGET IDENTIFICATION - Find a biological target (protein, enzyme, receptor)</a:t>
            </a:r>
          </a:p>
          <a:p>
            <a:pPr>
              <a:spcAft>
                <a:spcPts val="800"/>
              </a:spcAft>
              <a:defRPr sz="2000">
                <a:solidFill>
                  <a:srgbClr val="323232"/>
                </a:solidFill>
                <a:latin typeface="Calibri"/>
              </a:defRPr>
            </a:pPr>
            <a:r>
              <a:t>2. TARGET VALIDATION - Confirm the target is relevant to the disease</a:t>
            </a:r>
          </a:p>
          <a:p>
            <a:pPr>
              <a:spcAft>
                <a:spcPts val="800"/>
              </a:spcAft>
              <a:defRPr sz="2000">
                <a:solidFill>
                  <a:srgbClr val="323232"/>
                </a:solidFill>
                <a:latin typeface="Calibri"/>
              </a:defRPr>
            </a:pPr>
            <a:r>
              <a:t>3. HIT DISCOVERY - Screen millions of compounds (High-Throughput Screening)</a:t>
            </a:r>
          </a:p>
          <a:p>
            <a:pPr>
              <a:spcAft>
                <a:spcPts val="800"/>
              </a:spcAft>
              <a:defRPr sz="2000">
                <a:solidFill>
                  <a:srgbClr val="323232"/>
                </a:solidFill>
                <a:latin typeface="Calibri"/>
              </a:defRPr>
            </a:pPr>
            <a:r>
              <a:t>4. LEAD OPTIMIZATION - Improve hits for potency, selectivity, ADMET</a:t>
            </a:r>
          </a:p>
          <a:p>
            <a:pPr>
              <a:spcAft>
                <a:spcPts val="800"/>
              </a:spcAft>
              <a:defRPr sz="2000">
                <a:solidFill>
                  <a:srgbClr val="323232"/>
                </a:solidFill>
                <a:latin typeface="Calibri"/>
              </a:defRPr>
            </a:pPr>
            <a:r>
              <a:t>5. PRECLINICAL - Animal studies for safety and efficacy</a:t>
            </a:r>
          </a:p>
          <a:p>
            <a:pPr>
              <a:spcAft>
                <a:spcPts val="800"/>
              </a:spcAft>
              <a:defRPr sz="2000">
                <a:solidFill>
                  <a:srgbClr val="323232"/>
                </a:solidFill>
                <a:latin typeface="Calibri"/>
              </a:defRPr>
            </a:pPr>
            <a:r>
              <a:t>6. PHASE I - Safety in healthy volunteers (20-100 people)</a:t>
            </a:r>
          </a:p>
          <a:p>
            <a:pPr>
              <a:spcAft>
                <a:spcPts val="800"/>
              </a:spcAft>
              <a:defRPr sz="2000">
                <a:solidFill>
                  <a:srgbClr val="323232"/>
                </a:solidFill>
                <a:latin typeface="Calibri"/>
              </a:defRPr>
            </a:pPr>
            <a:r>
              <a:t>7. PHASE II - Efficacy in patients (100-300 people)</a:t>
            </a:r>
          </a:p>
          <a:p>
            <a:pPr>
              <a:spcAft>
                <a:spcPts val="800"/>
              </a:spcAft>
              <a:defRPr sz="2000">
                <a:solidFill>
                  <a:srgbClr val="323232"/>
                </a:solidFill>
                <a:latin typeface="Calibri"/>
              </a:defRPr>
            </a:pPr>
            <a:r>
              <a:t>8. PHASE III - Large-scale trials (1,000-3,000+ people)</a:t>
            </a:r>
          </a:p>
          <a:p>
            <a:pPr>
              <a:spcAft>
                <a:spcPts val="800"/>
              </a:spcAft>
              <a:defRPr sz="2000">
                <a:solidFill>
                  <a:srgbClr val="323232"/>
                </a:solidFill>
                <a:latin typeface="Calibri"/>
              </a:defRPr>
            </a:pPr>
            <a:r>
              <a:t>9. FDA REVIEW &amp; APPROVAL</a:t>
            </a:r>
          </a:p>
          <a:p>
            <a:pPr>
              <a:spcAft>
                <a:spcPts val="800"/>
              </a:spcAft>
              <a:defRPr sz="2000">
                <a:solidFill>
                  <a:srgbClr val="323232"/>
                </a:solidFill>
                <a:latin typeface="Calibri"/>
              </a:defRPr>
            </a:pPr>
            <a:r>
              <a:t>10. POST-MARKET SURVEILLANCE (Phase IV)</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Drug Candidates Fail</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Clinical Failure Reasons</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Lack of efficacy: ~40-50%</a:t>
            </a:r>
          </a:p>
          <a:p>
            <a:pPr>
              <a:spcAft>
                <a:spcPts val="800"/>
              </a:spcAft>
              <a:defRPr sz="1800">
                <a:solidFill>
                  <a:srgbClr val="323232"/>
                </a:solidFill>
                <a:latin typeface="Calibri"/>
              </a:defRPr>
            </a:pPr>
            <a:r>
              <a:t>Safety / toxicity: ~30%</a:t>
            </a:r>
          </a:p>
          <a:p>
            <a:pPr>
              <a:spcAft>
                <a:spcPts val="800"/>
              </a:spcAft>
              <a:defRPr sz="1800">
                <a:solidFill>
                  <a:srgbClr val="323232"/>
                </a:solidFill>
                <a:latin typeface="Calibri"/>
              </a:defRPr>
            </a:pPr>
            <a:r>
              <a:t>Poor pharmacokinetics: ~10%</a:t>
            </a:r>
          </a:p>
          <a:p>
            <a:pPr>
              <a:spcAft>
                <a:spcPts val="800"/>
              </a:spcAft>
              <a:defRPr sz="1800">
                <a:solidFill>
                  <a:srgbClr val="323232"/>
                </a:solidFill>
                <a:latin typeface="Calibri"/>
              </a:defRPr>
            </a:pPr>
            <a:r>
              <a:t>Commercial reasons: ~10%</a:t>
            </a:r>
          </a:p>
          <a:p>
            <a:pPr>
              <a:spcAft>
                <a:spcPts val="800"/>
              </a:spcAft>
              <a:defRPr sz="1800">
                <a:solidFill>
                  <a:srgbClr val="323232"/>
                </a:solidFill>
                <a:latin typeface="Calibri"/>
              </a:defRPr>
            </a:pPr>
            <a:r>
              <a:t>Other: ~5%</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Infamous Failures</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Vioxx (rofecoxib) - withdrawn 2004, cardiac risk</a:t>
            </a:r>
          </a:p>
          <a:p>
            <a:pPr>
              <a:spcAft>
                <a:spcPts val="800"/>
              </a:spcAft>
              <a:defRPr sz="1800">
                <a:solidFill>
                  <a:srgbClr val="323232"/>
                </a:solidFill>
                <a:latin typeface="Calibri"/>
              </a:defRPr>
            </a:pPr>
            <a:r>
              <a:t>Thalidomide (1960s) - birth defects</a:t>
            </a:r>
          </a:p>
          <a:p>
            <a:pPr>
              <a:spcAft>
                <a:spcPts val="800"/>
              </a:spcAft>
              <a:defRPr sz="1800">
                <a:solidFill>
                  <a:srgbClr val="323232"/>
                </a:solidFill>
                <a:latin typeface="Calibri"/>
              </a:defRPr>
            </a:pPr>
            <a:r>
              <a:t>BIA 10-2474 (2016) - Phase I death in France</a:t>
            </a:r>
          </a:p>
          <a:p>
            <a:pPr>
              <a:spcAft>
                <a:spcPts val="800"/>
              </a:spcAft>
              <a:defRPr sz="1800">
                <a:solidFill>
                  <a:srgbClr val="323232"/>
                </a:solidFill>
                <a:latin typeface="Calibri"/>
              </a:defRPr>
            </a:pPr>
            <a:r>
              <a:t>Pfizer torcetrapib - $800M Phase III failure</a:t>
            </a:r>
          </a:p>
          <a:p>
            <a:pPr>
              <a:spcAft>
                <a:spcPts val="800"/>
              </a:spcAft>
              <a:defRPr sz="1800">
                <a:solidFill>
                  <a:srgbClr val="323232"/>
                </a:solidFill>
                <a:latin typeface="Calibri"/>
              </a:defRPr>
            </a:pPr>
            <a:r>
              <a:t>Eli Lilly semagacestat - worsened Alzheimer's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David Willson's mRNA Vaccine for His Dog</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In 2024, David Willson's beloved dog was diagnosed with cancer.</a:t>
            </a:r>
            <a:br/>
            <a:br/>
            <a:r>
              <a:t>Rather than accept the prognosis, Willson worked with his veterinarian to design a personalized mRNA vaccine targeting his dog's specific tumor antigens.</a:t>
            </a:r>
            <a:br/>
            <a:br/>
            <a:r>
              <a:t>The approach: sequence the tumor, identify neoantigens, design mRNA encoding those antigens, and inject it to train the dog's immune system.</a:t>
            </a:r>
            <a:br/>
            <a:br/>
            <a:r>
              <a:t>The story went viral, sparking global conversation about personalized medicine.</a:t>
            </a:r>
            <a:br/>
            <a:br/>
            <a:r>
              <a:t>This is the same technology behind COVID-19 vaccines (Moderna, BioNTech/Pfizer) now being applied to individual patients and even pets.</a:t>
            </a:r>
            <a:br/>
            <a:br/>
            <a:r>
              <a:t>Key insight: The tools for personalized medicine are becoming accessible. AI accelerates every step, from neoantigen prediction to vaccine design.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Enter AI: The Game Changer</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machine learning is reshaping pharmaceutical R&amp;D</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AI Fits in the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Target Identification - NLP on literature, network biology, multi-omics</a:t>
            </a:r>
          </a:p>
          <a:p>
            <a:pPr>
              <a:spcAft>
                <a:spcPts val="800"/>
              </a:spcAft>
              <a:defRPr sz="2000">
                <a:solidFill>
                  <a:srgbClr val="323232"/>
                </a:solidFill>
                <a:latin typeface="Calibri"/>
              </a:defRPr>
            </a:pPr>
            <a:r>
              <a:t>Virtual Screening - Score millions of compounds in silico (vs. months in HTS)</a:t>
            </a:r>
          </a:p>
          <a:p>
            <a:pPr>
              <a:spcAft>
                <a:spcPts val="800"/>
              </a:spcAft>
              <a:defRPr sz="2000">
                <a:solidFill>
                  <a:srgbClr val="323232"/>
                </a:solidFill>
                <a:latin typeface="Calibri"/>
              </a:defRPr>
            </a:pPr>
            <a:r>
              <a:t>Lead Optimization - Predict ADMET, suggest modifications, multi-objective optimization</a:t>
            </a:r>
          </a:p>
          <a:p>
            <a:pPr>
              <a:spcAft>
                <a:spcPts val="800"/>
              </a:spcAft>
              <a:defRPr sz="2000">
                <a:solidFill>
                  <a:srgbClr val="323232"/>
                </a:solidFill>
                <a:latin typeface="Calibri"/>
              </a:defRPr>
            </a:pPr>
            <a:r>
              <a:t>De novo Drug Design - Generate entirely new molecules with desired properties</a:t>
            </a:r>
          </a:p>
          <a:p>
            <a:pPr>
              <a:spcAft>
                <a:spcPts val="800"/>
              </a:spcAft>
              <a:defRPr sz="2000">
                <a:solidFill>
                  <a:srgbClr val="323232"/>
                </a:solidFill>
                <a:latin typeface="Calibri"/>
              </a:defRPr>
            </a:pPr>
            <a:r>
              <a:t>Clinical Trial Optimization - Patient stratification, endpoint prediction</a:t>
            </a:r>
          </a:p>
          <a:p>
            <a:pPr>
              <a:spcAft>
                <a:spcPts val="800"/>
              </a:spcAft>
              <a:defRPr sz="2000">
                <a:solidFill>
                  <a:srgbClr val="323232"/>
                </a:solidFill>
                <a:latin typeface="Calibri"/>
              </a:defRPr>
            </a:pPr>
            <a:r>
              <a:t>Repurposing - Find new uses for existing approved drugs (e.g., Baricitinib for COVID-19)</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AI can reduce timelines by 2-4 years and costs by 30-50% (McKinsey, 2021)</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Case Study: Insilico Medicine ISM001-055</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First AI-designed drug to reach Phase II clinical trials (2023)</a:t>
            </a:r>
          </a:p>
          <a:p>
            <a:pPr>
              <a:spcAft>
                <a:spcPts val="800"/>
              </a:spcAft>
              <a:defRPr sz="2000">
                <a:solidFill>
                  <a:srgbClr val="323232"/>
                </a:solidFill>
                <a:latin typeface="Calibri"/>
              </a:defRPr>
            </a:pPr>
            <a:r>
              <a:t>Target: Idiopathic Pulmonary Fibrosis (IPF)</a:t>
            </a:r>
          </a:p>
          <a:p>
            <a:pPr>
              <a:spcAft>
                <a:spcPts val="800"/>
              </a:spcAft>
              <a:defRPr sz="2000">
                <a:solidFill>
                  <a:srgbClr val="323232"/>
                </a:solidFill>
                <a:latin typeface="Calibri"/>
              </a:defRPr>
            </a:pPr>
            <a:r>
              <a:t>AI identified a novel target (TNIK) AND designed the molecule</a:t>
            </a:r>
          </a:p>
          <a:p>
            <a:pPr>
              <a:spcAft>
                <a:spcPts val="800"/>
              </a:spcAft>
              <a:defRPr sz="2000">
                <a:solidFill>
                  <a:srgbClr val="323232"/>
                </a:solidFill>
                <a:latin typeface="Calibri"/>
              </a:defRPr>
            </a:pPr>
            <a:r>
              <a:t>Timeline: Target to preclinical candidate in 18 months (vs. typical 4-5 years)</a:t>
            </a:r>
          </a:p>
          <a:p>
            <a:pPr>
              <a:spcAft>
                <a:spcPts val="800"/>
              </a:spcAft>
              <a:defRPr sz="2000">
                <a:solidFill>
                  <a:srgbClr val="323232"/>
                </a:solidFill>
                <a:latin typeface="Calibri"/>
              </a:defRPr>
            </a:pPr>
            <a:r>
              <a:t>Cost: ~$2.6M (vs. typical $100M+)</a:t>
            </a:r>
          </a:p>
          <a:p>
            <a:pPr>
              <a:spcAft>
                <a:spcPts val="800"/>
              </a:spcAft>
              <a:defRPr sz="2000">
                <a:solidFill>
                  <a:srgbClr val="323232"/>
                </a:solidFill>
                <a:latin typeface="Calibri"/>
              </a:defRPr>
            </a:pPr>
            <a:r>
              <a:t>Published: Ren et al. (2024), Chemical Science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AI methods used:</a:t>
            </a:r>
          </a:p>
          <a:p>
            <a:pPr>
              <a:spcAft>
                <a:spcPts val="800"/>
              </a:spcAft>
              <a:defRPr sz="2000">
                <a:solidFill>
                  <a:srgbClr val="323232"/>
                </a:solidFill>
                <a:latin typeface="Calibri"/>
              </a:defRPr>
            </a:pPr>
            <a:r>
              <a:t>  PandaOmics - target identification from multi-omics data</a:t>
            </a:r>
          </a:p>
          <a:p>
            <a:pPr>
              <a:spcAft>
                <a:spcPts val="800"/>
              </a:spcAft>
              <a:defRPr sz="2000">
                <a:solidFill>
                  <a:srgbClr val="323232"/>
                </a:solidFill>
                <a:latin typeface="Calibri"/>
              </a:defRPr>
            </a:pPr>
            <a:r>
              <a:t>  Chemistry42 - generative chemistry for molecule design</a:t>
            </a:r>
          </a:p>
          <a:p>
            <a:pPr>
              <a:spcAft>
                <a:spcPts val="800"/>
              </a:spcAft>
              <a:defRPr sz="2000">
                <a:solidFill>
                  <a:srgbClr val="323232"/>
                </a:solidFill>
                <a:latin typeface="Calibri"/>
              </a:defRPr>
            </a:pPr>
            <a:r>
              <a:t>  InClinico - clinical trial outcome prediction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AlphaFold2: The Protein Folding Revolution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Protein structure prediction - a 50-year grand challenge in biology</a:t>
            </a:r>
          </a:p>
          <a:p>
            <a:pPr>
              <a:spcAft>
                <a:spcPts val="800"/>
              </a:spcAft>
              <a:defRPr sz="2000">
                <a:solidFill>
                  <a:srgbClr val="323232"/>
                </a:solidFill>
                <a:latin typeface="Calibri"/>
              </a:defRPr>
            </a:pPr>
            <a:r>
              <a:t>CASP14 (2020): AlphaFold2 achieved accuracy comparable to experimental methods</a:t>
            </a:r>
          </a:p>
          <a:p>
            <a:pPr>
              <a:spcAft>
                <a:spcPts val="800"/>
              </a:spcAft>
              <a:defRPr sz="2000">
                <a:solidFill>
                  <a:srgbClr val="323232"/>
                </a:solidFill>
                <a:latin typeface="Calibri"/>
              </a:defRPr>
            </a:pPr>
            <a:r>
              <a:t>Jumper et al. (2021), Nature - most-cited paper of the decade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Impact on drug discovery:</a:t>
            </a:r>
          </a:p>
          <a:p>
            <a:pPr>
              <a:spcAft>
                <a:spcPts val="800"/>
              </a:spcAft>
              <a:defRPr sz="2000">
                <a:solidFill>
                  <a:srgbClr val="323232"/>
                </a:solidFill>
                <a:latin typeface="Calibri"/>
              </a:defRPr>
            </a:pPr>
            <a:r>
              <a:t>  200+ million protein structures predicted (AlphaFold DB)</a:t>
            </a:r>
          </a:p>
          <a:p>
            <a:pPr>
              <a:spcAft>
                <a:spcPts val="800"/>
              </a:spcAft>
              <a:defRPr sz="2000">
                <a:solidFill>
                  <a:srgbClr val="323232"/>
                </a:solidFill>
                <a:latin typeface="Calibri"/>
              </a:defRPr>
            </a:pPr>
            <a:r>
              <a:t>  Structure-based drug design now possible for undruggable targets</a:t>
            </a:r>
          </a:p>
          <a:p>
            <a:pPr>
              <a:spcAft>
                <a:spcPts val="800"/>
              </a:spcAft>
              <a:defRPr sz="2000">
                <a:solidFill>
                  <a:srgbClr val="323232"/>
                </a:solidFill>
                <a:latin typeface="Calibri"/>
              </a:defRPr>
            </a:pPr>
            <a:r>
              <a:t>  Faster understanding of disease mechanisms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AlphaFold3 (2024): predicts protein-ligand, protein-DNA, protein-RNA complexes</a:t>
            </a:r>
          </a:p>
          <a:p>
            <a:pPr>
              <a:spcAft>
                <a:spcPts val="800"/>
              </a:spcAft>
              <a:defRPr sz="2000">
                <a:solidFill>
                  <a:srgbClr val="323232"/>
                </a:solidFill>
                <a:latin typeface="Calibri"/>
              </a:defRPr>
            </a:pPr>
            <a:r>
              <a:t>Isomorphic Labs (DeepMind spin-off) - applying this directly to drug design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Data Types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do we represent molecules for computers?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Simplified Molecular-Input Line-Entry System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way to write molecular structures as text strings</a:t>
            </a:r>
          </a:p>
          <a:p>
            <a:pPr>
              <a:spcAft>
                <a:spcPts val="800"/>
              </a:spcAft>
              <a:defRPr sz="2000">
                <a:solidFill>
                  <a:srgbClr val="323232"/>
                </a:solidFill>
                <a:latin typeface="Calibri"/>
              </a:defRPr>
            </a:pPr>
            <a:r>
              <a:t>Invented by David Weininger (1988), J. Chem. Inf. Comput. Sci. 28:31-36</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Examples:</a:t>
            </a:r>
          </a:p>
          <a:p>
            <a:pPr>
              <a:spcAft>
                <a:spcPts val="800"/>
              </a:spcAft>
              <a:defRPr sz="2000">
                <a:solidFill>
                  <a:srgbClr val="323232"/>
                </a:solidFill>
                <a:latin typeface="Calibri"/>
              </a:defRPr>
            </a:pPr>
            <a:r>
              <a:t>  Water: O</a:t>
            </a:r>
          </a:p>
          <a:p>
            <a:pPr>
              <a:spcAft>
                <a:spcPts val="800"/>
              </a:spcAft>
              <a:defRPr sz="2000">
                <a:solidFill>
                  <a:srgbClr val="323232"/>
                </a:solidFill>
                <a:latin typeface="Calibri"/>
              </a:defRPr>
            </a:pPr>
            <a:r>
              <a:t>  Ethanol: CCO</a:t>
            </a:r>
          </a:p>
          <a:p>
            <a:pPr>
              <a:spcAft>
                <a:spcPts val="800"/>
              </a:spcAft>
              <a:defRPr sz="2000">
                <a:solidFill>
                  <a:srgbClr val="323232"/>
                </a:solidFill>
                <a:latin typeface="Calibri"/>
              </a:defRPr>
            </a:pPr>
            <a:r>
              <a:t>  Aspirin: CC(=O)Oc1ccccc1C(=O)O</a:t>
            </a:r>
          </a:p>
          <a:p>
            <a:pPr>
              <a:spcAft>
                <a:spcPts val="800"/>
              </a:spcAft>
              <a:defRPr sz="2000">
                <a:solidFill>
                  <a:srgbClr val="323232"/>
                </a:solidFill>
                <a:latin typeface="Calibri"/>
              </a:defRPr>
            </a:pPr>
            <a:r>
              <a:t>  Caffeine: Cn1c(=O)c2c(ncn2C)n(C)c1=O</a:t>
            </a:r>
          </a:p>
          <a:p>
            <a:pPr>
              <a:spcAft>
                <a:spcPts val="800"/>
              </a:spcAft>
              <a:defRPr sz="2000">
                <a:solidFill>
                  <a:srgbClr val="323232"/>
                </a:solidFill>
                <a:latin typeface="Calibri"/>
              </a:defRPr>
            </a:pPr>
            <a:r>
              <a:t>  Ibuprofen: CC(C)Cc1ccc(cc1)C(C)C(=O)O</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SMILES matters: compact, human-readable, machine-parseable</a:t>
            </a:r>
          </a:p>
          <a:p>
            <a:pPr>
              <a:spcAft>
                <a:spcPts val="800"/>
              </a:spcAft>
              <a:defRPr sz="2000">
                <a:solidFill>
                  <a:srgbClr val="323232"/>
                </a:solidFill>
                <a:latin typeface="Calibri"/>
              </a:defRPr>
            </a:pPr>
            <a:r>
              <a:t>One molecule can have multiple valid SMILES (canonical vs. random)</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Bioactivity Data: Measuring Drug-Target Interactions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How well does a molecule interact with its biological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measures:</a:t>
            </a:r>
          </a:p>
          <a:p>
            <a:pPr>
              <a:spcAft>
                <a:spcPts val="800"/>
              </a:spcAft>
              <a:defRPr sz="2000">
                <a:solidFill>
                  <a:srgbClr val="323232"/>
                </a:solidFill>
                <a:latin typeface="Calibri"/>
              </a:defRPr>
            </a:pPr>
            <a:r>
              <a:t>  IC50 - Concentration that inhibits 50% of target activity</a:t>
            </a:r>
          </a:p>
          <a:p>
            <a:pPr>
              <a:spcAft>
                <a:spcPts val="800"/>
              </a:spcAft>
              <a:defRPr sz="2000">
                <a:solidFill>
                  <a:srgbClr val="323232"/>
                </a:solidFill>
                <a:latin typeface="Calibri"/>
              </a:defRPr>
            </a:pPr>
            <a:r>
              <a:t>  Ki - Binding affinity constant (inhibition constant)</a:t>
            </a:r>
          </a:p>
          <a:p>
            <a:pPr>
              <a:spcAft>
                <a:spcPts val="800"/>
              </a:spcAft>
              <a:defRPr sz="2000">
                <a:solidFill>
                  <a:srgbClr val="323232"/>
                </a:solidFill>
                <a:latin typeface="Calibri"/>
              </a:defRPr>
            </a:pPr>
            <a:r>
              <a:t>  EC50 - Concentration that produces 50% of maximum effect</a:t>
            </a:r>
          </a:p>
          <a:p>
            <a:pPr>
              <a:spcAft>
                <a:spcPts val="800"/>
              </a:spcAft>
              <a:defRPr sz="2000">
                <a:solidFill>
                  <a:srgbClr val="323232"/>
                </a:solidFill>
                <a:latin typeface="Calibri"/>
              </a:defRPr>
            </a:pPr>
            <a:r>
              <a:t>  Kd - Dissociation constant (binding strength)</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Typically reported as pIC50 = -log10(IC50) for easier modeling</a:t>
            </a:r>
          </a:p>
          <a:p>
            <a:pPr>
              <a:spcAft>
                <a:spcPts val="800"/>
              </a:spcAft>
              <a:defRPr sz="2000">
                <a:solidFill>
                  <a:srgbClr val="323232"/>
                </a:solidFill>
                <a:latin typeface="Calibri"/>
              </a:defRPr>
            </a:pPr>
            <a:r>
              <a:t>Higher pIC50 = more potent compound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databases: ChEMBL (&gt;2.4M compounds), PubChem (&gt;110M), BindingDB</a:t>
            </a:r>
          </a:p>
          <a:p>
            <a:pPr>
              <a:spcAft>
                <a:spcPts val="800"/>
              </a:spcAft>
              <a:defRPr sz="2000">
                <a:solidFill>
                  <a:srgbClr val="323232"/>
                </a:solidFill>
                <a:latin typeface="Calibri"/>
              </a:defRPr>
            </a:pPr>
            <a:r>
              <a:t>Reference: Gaulton et al. (2017), Nucleic Acids Research 45:D986-D994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Key Public Databases for Drug Discovery</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Molecular / Chemical</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ChEMBL - curated bioactivity data</a:t>
            </a:r>
          </a:p>
          <a:p>
            <a:pPr>
              <a:spcAft>
                <a:spcPts val="800"/>
              </a:spcAft>
              <a:defRPr sz="1800">
                <a:solidFill>
                  <a:srgbClr val="323232"/>
                </a:solidFill>
                <a:latin typeface="Calibri"/>
              </a:defRPr>
            </a:pPr>
            <a:r>
              <a:t>PubChem - largest public chemistry DB</a:t>
            </a:r>
          </a:p>
          <a:p>
            <a:pPr>
              <a:spcAft>
                <a:spcPts val="800"/>
              </a:spcAft>
              <a:defRPr sz="1800">
                <a:solidFill>
                  <a:srgbClr val="323232"/>
                </a:solidFill>
                <a:latin typeface="Calibri"/>
              </a:defRPr>
            </a:pPr>
            <a:r>
              <a:t>ZINC - purchasable compounds for screening</a:t>
            </a:r>
          </a:p>
          <a:p>
            <a:pPr>
              <a:spcAft>
                <a:spcPts val="800"/>
              </a:spcAft>
              <a:defRPr sz="1800">
                <a:solidFill>
                  <a:srgbClr val="323232"/>
                </a:solidFill>
                <a:latin typeface="Calibri"/>
              </a:defRPr>
            </a:pPr>
            <a:r>
              <a:t>DrugBank - approved drug information</a:t>
            </a:r>
          </a:p>
          <a:p>
            <a:pPr>
              <a:spcAft>
                <a:spcPts val="800"/>
              </a:spcAft>
              <a:defRPr sz="1800">
                <a:solidFill>
                  <a:srgbClr val="323232"/>
                </a:solidFill>
                <a:latin typeface="Calibri"/>
              </a:defRPr>
            </a:pPr>
            <a:r>
              <a:t>MoleculeNet - benchmark datasets for ML</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Biological / Protein</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UniProt - protein sequences &amp; annotation</a:t>
            </a:r>
          </a:p>
          <a:p>
            <a:pPr>
              <a:spcAft>
                <a:spcPts val="800"/>
              </a:spcAft>
              <a:defRPr sz="1800">
                <a:solidFill>
                  <a:srgbClr val="323232"/>
                </a:solidFill>
                <a:latin typeface="Calibri"/>
              </a:defRPr>
            </a:pPr>
            <a:r>
              <a:t>PDB - experimental 3D structures</a:t>
            </a:r>
          </a:p>
          <a:p>
            <a:pPr>
              <a:spcAft>
                <a:spcPts val="800"/>
              </a:spcAft>
              <a:defRPr sz="1800">
                <a:solidFill>
                  <a:srgbClr val="323232"/>
                </a:solidFill>
                <a:latin typeface="Calibri"/>
              </a:defRPr>
            </a:pPr>
            <a:r>
              <a:t>AlphaFold DB - predicted structures</a:t>
            </a:r>
          </a:p>
          <a:p>
            <a:pPr>
              <a:spcAft>
                <a:spcPts val="800"/>
              </a:spcAft>
              <a:defRPr sz="1800">
                <a:solidFill>
                  <a:srgbClr val="323232"/>
                </a:solidFill>
                <a:latin typeface="Calibri"/>
              </a:defRPr>
            </a:pPr>
            <a:r>
              <a:t>STRING - protein-protein interactions</a:t>
            </a:r>
          </a:p>
          <a:p>
            <a:pPr>
              <a:spcAft>
                <a:spcPts val="800"/>
              </a:spcAft>
              <a:defRPr sz="1800">
                <a:solidFill>
                  <a:srgbClr val="323232"/>
                </a:solidFill>
                <a:latin typeface="Calibri"/>
              </a:defRPr>
            </a:pPr>
            <a:r>
              <a:t>KEGG / Reactome - biological pathways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From Neurons to Molecules: The Computational SpikerBox</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The SpikerBox (Backyard Brains) - records real neural action potentials</a:t>
            </a:r>
          </a:p>
          <a:p>
            <a:pPr>
              <a:spcAft>
                <a:spcPts val="800"/>
              </a:spcAft>
              <a:defRPr sz="2000">
                <a:solidFill>
                  <a:srgbClr val="323232"/>
                </a:solidFill>
                <a:latin typeface="Calibri"/>
              </a:defRPr>
            </a:pPr>
            <a:r>
              <a:t>Marzullo et al. (2012), Advances in Physiology Education 36:2-14</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is this relevant to drug discovery?</a:t>
            </a:r>
          </a:p>
          <a:p>
            <a:pPr>
              <a:spcAft>
                <a:spcPts val="800"/>
              </a:spcAft>
              <a:defRPr sz="2000">
                <a:solidFill>
                  <a:srgbClr val="323232"/>
                </a:solidFill>
                <a:latin typeface="Calibri"/>
              </a:defRPr>
            </a:pPr>
            <a:r>
              <a:t>  Ion channels are major drug targets (~18% of approved drugs)</a:t>
            </a:r>
          </a:p>
          <a:p>
            <a:pPr>
              <a:spcAft>
                <a:spcPts val="800"/>
              </a:spcAft>
              <a:defRPr sz="2000">
                <a:solidFill>
                  <a:srgbClr val="323232"/>
                </a:solidFill>
                <a:latin typeface="Calibri"/>
              </a:defRPr>
            </a:pPr>
            <a:r>
              <a:t>  Neural signals are driven by the same ion channels drugs modulate</a:t>
            </a:r>
          </a:p>
          <a:p>
            <a:pPr>
              <a:spcAft>
                <a:spcPts val="800"/>
              </a:spcAft>
              <a:defRPr sz="2000">
                <a:solidFill>
                  <a:srgbClr val="323232"/>
                </a:solidFill>
                <a:latin typeface="Calibri"/>
              </a:defRPr>
            </a:pPr>
            <a:r>
              <a:t>  The recording paradigm: biological signal -&gt; digitize -&gt; features -&gt; model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Same computational pipeline in drug discovery:</a:t>
            </a:r>
          </a:p>
          <a:p>
            <a:pPr>
              <a:spcAft>
                <a:spcPts val="800"/>
              </a:spcAft>
              <a:defRPr sz="2000">
                <a:solidFill>
                  <a:srgbClr val="323232"/>
                </a:solidFill>
                <a:latin typeface="Calibri"/>
              </a:defRPr>
            </a:pPr>
            <a:r>
              <a:t>  Molecular structure -&gt; fingerprint -&gt; features -&gt; ML model -&gt; prediction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instructor's research: 512-channel ECoG brain-computer interfaces</a:t>
            </a:r>
          </a:p>
          <a:p>
            <a:pPr>
              <a:spcAft>
                <a:spcPts val="800"/>
              </a:spcAft>
              <a:defRPr sz="2000">
                <a:solidFill>
                  <a:srgbClr val="323232"/>
                </a:solidFill>
                <a:latin typeface="Calibri"/>
              </a:defRPr>
            </a:pPr>
            <a:r>
              <a:t>  (FUTRUE Neurosciences - same ML pipeline, different data domain!)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Introduction to RDKit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RDKit - open-source cheminformatics library (C++ core, Python bindings)</a:t>
            </a:r>
          </a:p>
          <a:p>
            <a:pPr>
              <a:spcAft>
                <a:spcPts val="800"/>
              </a:spcAft>
              <a:defRPr sz="2000">
                <a:solidFill>
                  <a:srgbClr val="323232"/>
                </a:solidFill>
                <a:latin typeface="Calibri"/>
              </a:defRPr>
            </a:pPr>
            <a:r>
              <a:t>Landrum, G. (2006-2024). https://www.rdkit.org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can RDKit do?</a:t>
            </a:r>
          </a:p>
          <a:p>
            <a:pPr>
              <a:spcAft>
                <a:spcPts val="800"/>
              </a:spcAft>
              <a:defRPr sz="2000">
                <a:solidFill>
                  <a:srgbClr val="323232"/>
                </a:solidFill>
                <a:latin typeface="Calibri"/>
              </a:defRPr>
            </a:pPr>
            <a:r>
              <a:t>  Parse SMILES strings into molecular objects</a:t>
            </a:r>
          </a:p>
          <a:p>
            <a:pPr>
              <a:spcAft>
                <a:spcPts val="800"/>
              </a:spcAft>
              <a:defRPr sz="2000">
                <a:solidFill>
                  <a:srgbClr val="323232"/>
                </a:solidFill>
                <a:latin typeface="Calibri"/>
              </a:defRPr>
            </a:pPr>
            <a:r>
              <a:t>  Calculate molecular properties (MW, LogP, HBD, HBA, TPSA)</a:t>
            </a:r>
          </a:p>
          <a:p>
            <a:pPr>
              <a:spcAft>
                <a:spcPts val="800"/>
              </a:spcAft>
              <a:defRPr sz="2000">
                <a:solidFill>
                  <a:srgbClr val="323232"/>
                </a:solidFill>
                <a:latin typeface="Calibri"/>
              </a:defRPr>
            </a:pPr>
            <a:r>
              <a:t>  Generate molecular fingerprints (Morgan/ECFP, RDKit, MACCS)</a:t>
            </a:r>
          </a:p>
          <a:p>
            <a:pPr>
              <a:spcAft>
                <a:spcPts val="800"/>
              </a:spcAft>
              <a:defRPr sz="2000">
                <a:solidFill>
                  <a:srgbClr val="323232"/>
                </a:solidFill>
                <a:latin typeface="Calibri"/>
              </a:defRPr>
            </a:pPr>
            <a:r>
              <a:t>  Substructure searching and molecular similarity</a:t>
            </a:r>
          </a:p>
          <a:p>
            <a:pPr>
              <a:spcAft>
                <a:spcPts val="800"/>
              </a:spcAft>
              <a:defRPr sz="2000">
                <a:solidFill>
                  <a:srgbClr val="323232"/>
                </a:solidFill>
                <a:latin typeface="Calibri"/>
              </a:defRPr>
            </a:pPr>
            <a:r>
              <a:t>  2D and 3D molecular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Installation: pip install rdkit</a:t>
            </a:r>
          </a:p>
          <a:p>
            <a:pPr>
              <a:spcAft>
                <a:spcPts val="800"/>
              </a:spcAft>
              <a:defRPr sz="2000">
                <a:solidFill>
                  <a:srgbClr val="323232"/>
                </a:solidFill>
                <a:latin typeface="Calibri"/>
              </a:defRPr>
            </a:pPr>
            <a:r>
              <a:t>We will use RDKit in EVERY week of this course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Today's Practical: Explore Molecules with RDKit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the Week 1 Jupyter Notebook: week1_introduction/Week1_Practical.ipynb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we will do:</a:t>
            </a:r>
          </a:p>
          <a:p>
            <a:pPr>
              <a:spcAft>
                <a:spcPts val="800"/>
              </a:spcAft>
              <a:defRPr sz="2000">
                <a:solidFill>
                  <a:srgbClr val="323232"/>
                </a:solidFill>
                <a:latin typeface="Calibri"/>
              </a:defRPr>
            </a:pPr>
            <a:r>
              <a:t>  1. Install and import RDKit in Google Colab</a:t>
            </a:r>
          </a:p>
          <a:p>
            <a:pPr>
              <a:spcAft>
                <a:spcPts val="800"/>
              </a:spcAft>
              <a:defRPr sz="2000">
                <a:solidFill>
                  <a:srgbClr val="323232"/>
                </a:solidFill>
                <a:latin typeface="Calibri"/>
              </a:defRPr>
            </a:pPr>
            <a:r>
              <a:t>  2. Load a molecular dataset from ChEMBL (EGFR inhibitors)</a:t>
            </a:r>
          </a:p>
          <a:p>
            <a:pPr>
              <a:spcAft>
                <a:spcPts val="800"/>
              </a:spcAft>
              <a:defRPr sz="2000">
                <a:solidFill>
                  <a:srgbClr val="323232"/>
                </a:solidFill>
                <a:latin typeface="Calibri"/>
              </a:defRPr>
            </a:pPr>
            <a:r>
              <a:t>  3. Parse SMILES and visualize molecules</a:t>
            </a:r>
          </a:p>
          <a:p>
            <a:pPr>
              <a:spcAft>
                <a:spcPts val="800"/>
              </a:spcAft>
              <a:defRPr sz="2000">
                <a:solidFill>
                  <a:srgbClr val="323232"/>
                </a:solidFill>
                <a:latin typeface="Calibri"/>
              </a:defRPr>
            </a:pPr>
            <a:r>
              <a:t>  4. Calculate molecular properties (MW, LogP, number of rings, etc.)</a:t>
            </a:r>
          </a:p>
          <a:p>
            <a:pPr>
              <a:spcAft>
                <a:spcPts val="800"/>
              </a:spcAft>
              <a:defRPr sz="2000">
                <a:solidFill>
                  <a:srgbClr val="323232"/>
                </a:solidFill>
                <a:latin typeface="Calibri"/>
              </a:defRPr>
            </a:pPr>
            <a:r>
              <a:t>  5. Plot property distributions</a:t>
            </a:r>
          </a:p>
          <a:p>
            <a:pPr>
              <a:spcAft>
                <a:spcPts val="800"/>
              </a:spcAft>
              <a:defRPr sz="2000">
                <a:solidFill>
                  <a:srgbClr val="323232"/>
                </a:solidFill>
                <a:latin typeface="Calibri"/>
              </a:defRPr>
            </a:pPr>
            <a:r>
              <a:t>  6. Compare drug-like vs. non-drug-like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a:t>
            </a:r>
          </a:p>
          <a:p>
            <a:pPr>
              <a:spcAft>
                <a:spcPts val="800"/>
              </a:spcAft>
              <a:defRPr sz="2000">
                <a:solidFill>
                  <a:srgbClr val="323232"/>
                </a:solidFill>
                <a:latin typeface="Calibri"/>
              </a:defRPr>
            </a:pPr>
            <a:r>
              <a:t>Work in pairs - discuss what you observe!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If you could use AI to accelerate ANY aspect</a:t>
            </a:r>
            <a:br/>
            <a:r>
              <a:t>of drug discovery, which would you choose and why?</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Think about: target identification, molecule design, clinical trials, safety prediction...</a:t>
            </a:r>
          </a:p>
          <a:p>
            <a:pPr>
              <a:spcAft>
                <a:spcPts val="800"/>
              </a:spcAft>
              <a:defRPr sz="1800">
                <a:solidFill>
                  <a:srgbClr val="F0F0F0"/>
                </a:solidFill>
                <a:latin typeface="Calibri"/>
              </a:defRPr>
            </a:pPr>
            <a:r>
              <a:t>Consider: what is currently the biggest bottleneck?</a:t>
            </a:r>
          </a:p>
          <a:p>
            <a:pPr>
              <a:spcAft>
                <a:spcPts val="800"/>
              </a:spcAft>
              <a:defRPr sz="1800">
                <a:solidFill>
                  <a:srgbClr val="F0F0F0"/>
                </a:solidFill>
                <a:latin typeface="Calibri"/>
              </a:defRPr>
            </a:pPr>
            <a:r>
              <a:t>Bonus: what are the risks of using AI in each area?</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WEEK 1</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Drug discovery is slow (12-15 years), expensive ($2.6B), and risky (&gt;90% failure)</a:t>
            </a:r>
          </a:p>
          <a:p>
            <a:pPr>
              <a:spcAft>
                <a:spcPts val="800"/>
              </a:spcAft>
              <a:defRPr sz="2200">
                <a:solidFill>
                  <a:srgbClr val="FFFFFF"/>
                </a:solidFill>
                <a:latin typeface="Calibri"/>
              </a:defRPr>
            </a:pPr>
            <a:r>
              <a:t>AI can accelerate every stage - from target ID to clinical trials</a:t>
            </a:r>
          </a:p>
          <a:p>
            <a:pPr>
              <a:spcAft>
                <a:spcPts val="800"/>
              </a:spcAft>
              <a:defRPr sz="2200">
                <a:solidFill>
                  <a:srgbClr val="FFFFFF"/>
                </a:solidFill>
                <a:latin typeface="Calibri"/>
              </a:defRPr>
            </a:pPr>
            <a:r>
              <a:t>Real examples: Insilico Medicine, AlphaFold, BenevolentAI</a:t>
            </a:r>
          </a:p>
          <a:p>
            <a:pPr>
              <a:spcAft>
                <a:spcPts val="800"/>
              </a:spcAft>
              <a:defRPr sz="2200">
                <a:solidFill>
                  <a:srgbClr val="FFFFFF"/>
                </a:solidFill>
                <a:latin typeface="Calibri"/>
              </a:defRPr>
            </a:pPr>
            <a:r>
              <a:t>SMILES notation converts molecules into computer-readable text</a:t>
            </a:r>
          </a:p>
          <a:p>
            <a:pPr>
              <a:spcAft>
                <a:spcPts val="800"/>
              </a:spcAft>
              <a:defRPr sz="2200">
                <a:solidFill>
                  <a:srgbClr val="FFFFFF"/>
                </a:solidFill>
                <a:latin typeface="Calibri"/>
              </a:defRPr>
            </a:pPr>
            <a:r>
              <a:t>Bioactivity data (IC50, Ki) measures drug-target interactions</a:t>
            </a:r>
          </a:p>
          <a:p>
            <a:pPr>
              <a:spcAft>
                <a:spcPts val="800"/>
              </a:spcAft>
              <a:defRPr sz="2200">
                <a:solidFill>
                  <a:srgbClr val="FFFFFF"/>
                </a:solidFill>
                <a:latin typeface="Calibri"/>
              </a:defRPr>
            </a:pPr>
            <a:r>
              <a:t>RDKit is the essential Python toolkit for cheminformatics</a:t>
            </a:r>
          </a:p>
          <a:p>
            <a:pPr>
              <a:spcAft>
                <a:spcPts val="800"/>
              </a:spcAft>
              <a:defRPr sz="2200">
                <a:solidFill>
                  <a:srgbClr val="FFFFFF"/>
                </a:solidFill>
                <a:latin typeface="Calibri"/>
              </a:defRPr>
            </a:pPr>
            <a:r>
              <a:t>The computational pipeline (signal -&gt; features -&gt; model) is universal</a:t>
            </a:r>
          </a:p>
          <a:p>
            <a:pPr>
              <a:spcAft>
                <a:spcPts val="800"/>
              </a:spcAft>
              <a:defRPr sz="2200">
                <a:solidFill>
                  <a:srgbClr val="FFFFFF"/>
                </a:solidFill>
                <a:latin typeface="Calibri"/>
              </a:defRPr>
            </a:pPr>
            <a:r>
              <a:t>Personalized medicine (mRNA vaccines) shows where we are heading</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Next Week: Molecular Representation &amp; Baseline ML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Deep dive into SMILES notation</a:t>
            </a:r>
          </a:p>
          <a:p>
            <a:pPr>
              <a:spcAft>
                <a:spcPts val="800"/>
              </a:spcAft>
              <a:defRPr sz="2000">
                <a:solidFill>
                  <a:srgbClr val="323232"/>
                </a:solidFill>
                <a:latin typeface="Calibri"/>
              </a:defRPr>
            </a:pPr>
            <a:r>
              <a:t>Molecular fingerprints: ECFP / Morgan</a:t>
            </a:r>
          </a:p>
          <a:p>
            <a:pPr>
              <a:spcAft>
                <a:spcPts val="800"/>
              </a:spcAft>
              <a:defRPr sz="2000">
                <a:solidFill>
                  <a:srgbClr val="323232"/>
                </a:solidFill>
                <a:latin typeface="Calibri"/>
              </a:defRPr>
            </a:pPr>
            <a:r>
              <a:t>Feature engineering for molecules</a:t>
            </a:r>
          </a:p>
          <a:p>
            <a:pPr>
              <a:spcAft>
                <a:spcPts val="800"/>
              </a:spcAft>
              <a:defRPr sz="2000">
                <a:solidFill>
                  <a:srgbClr val="323232"/>
                </a:solidFill>
                <a:latin typeface="Calibri"/>
              </a:defRPr>
            </a:pPr>
            <a:r>
              <a:t>QSAR: Quantitative Structure-Activity Relationships</a:t>
            </a:r>
          </a:p>
          <a:p>
            <a:pPr>
              <a:spcAft>
                <a:spcPts val="800"/>
              </a:spcAft>
              <a:defRPr sz="2000">
                <a:solidFill>
                  <a:srgbClr val="323232"/>
                </a:solidFill>
                <a:latin typeface="Calibri"/>
              </a:defRPr>
            </a:pPr>
            <a:r>
              <a:t>Train your first ML model on molecular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Finish today's practical notebook</a:t>
            </a:r>
          </a:p>
          <a:p>
            <a:pPr>
              <a:spcAft>
                <a:spcPts val="800"/>
              </a:spcAft>
              <a:defRPr sz="2000">
                <a:solidFill>
                  <a:srgbClr val="323232"/>
                </a:solidFill>
                <a:latin typeface="Calibri"/>
              </a:defRPr>
            </a:pPr>
            <a:r>
              <a:t>  Read: Muegge &amp; Mukherjee (2016), Expert Opinion on Drug Discovery 11:137-148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