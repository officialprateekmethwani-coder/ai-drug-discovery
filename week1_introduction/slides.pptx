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 AI for Drug Discovery! Take a moment to introduce yourself and your background. Explain that this is a 7-week course plus a project week. The goal is to give students hands-on skills in applying ML/AI to pharmaceutical research. Today we cover the big picture: what drug discovery looks like, why it is so hard, and where AI changes the game. Spend about 2 minutes on introductions. Ask students: how many of you have a chemistry background? How many CS? This diversity is exactly what modern drug discovery teams look 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quickly, about 2 minutes. Emphasize that the course is hands-on: every week has a practical coding session. Tell students they will work in groups of 3-4 for the final project and can choose from QSAR prediction, GNN-based activity prediction, generative molecule design, or binding affinity modeling. Groups should start forming informally over the next few weeks. All code will be in Python and Jupyter notebooks, primarily using RDKit, scikit-learn, PyTorch, and DeepChem. No prior chemistry knowledge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Let these numbers sink in. Ask students: does anyone know how much a single Phase III clinical trial costs? Answer: $50-100M+. The DiMasi 2016 study in the Journal of Health Economics is the landmark reference for drug development costs. The Wong et al. 2019 paper in Biostatistics analyzed 406,038 entries from ClinicalTrials.gov. Point out that for every drug that reaches patients, thousands of candidates were tested and discarded. This is why even small improvements in efficiency from AI could save billions. Transition: So where exactly does it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step in 4-5 minutes. At HIT DISCOVERY, mention that traditional HTS screens 1-2 million compounds physically, incredibly expensive. At LEAD OPTIMIZATION, mention that medicinal chemists manually tweak molecules, this is where AI has huge potential. ADMET stands for Absorption, Distribution, Metabolism, Excretion, Toxicity. Finding a drug is like finding a needle in a haystack, except the haystack is the size of a galaxy. Chemical space is estimated at 10^60 drug-like molecules. Transition: So what goes wrong?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here. The left column shows aggregate statistics from Kola &amp; Landis (2004, Nature Reviews Drug Discovery). On the right, give brief stories: Vioxx was a blockbuster painkiller withdrawn after ~88,000 estimated cardiac events. Torcetrapib raised HDL cholesterol as intended but also raised blood pressure, $800M lost. These failures are not just financial, they affect patients. This is WHY we need better predictive tools. Ask students: can you think of other drug safety scandals? Transition: Now let me tell you an inspiring story.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hook story, spend 4-5 minutes here and make it personal. David Willson's story went viral in 2024. He leveraged mRNA technology to create a personalized cancer vaccine for his dog, working with his veterinarian. The point is NOT that everyone should make DIY vaccines, there are serious safety and regulatory considerations. The point IS that the fundamental technologies (sequencing, mRNA design, neoantigen prediction) are becoming accessible and affordable. AI plays a role at every step: predicting which neoantigens will elicit an immune response, optimizing mRNA sequences for stability and expression, and modeling immune responses. Connect this to the course: by the end, students will understand the AI/ML methods that power these advances.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transition slide, 30 seconds. Tell students: we have seen the problem. It is slow, expensive, and risky. Now let us see how AI is fundamentally changing the game. Major pharma companies (Pfizer, Novartis, AstraZeneca, Roche) are all investing heavily in AI. Startups like Insilico Medicine, Recursion Pharmaceuticals, and Isomorphic Labs are dedicated AI drug discovery companies.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this slide. Go through each bullet with a real example. Virtual screening: BenevolentAI used AI to identify baricitinib as a potential COVID-19 treatment in Feb 2020, later validated in clinical trials and received FDA emergency use authorization. Lead optimization: Relay Therapeutics uses molecular dynamics + ML. De novo design: Insilico Medicine designed a novel drug candidate from scratch using AI. Clinical trials: Unlearn.AI creates digital twins to reduce control group sizes. AI does not replace wet-lab experiments, it prioritizes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this landmark case. Insilico Medicine, founded by Alex Zhavoronkov, is based in Hong Kong. ISM001-055 targets TNIK (TRAF2 and NCK-interacting kinase), a novel target for IPF that was not previously known to be relevant. The AI both discovered the target AND designed the drug, end-to-end AI-driven discovery. The cost comparison is staggering: $2.6M vs. $100M+. Ren F. et al. (2024) Chemical Science. Ask: what do you think the biggest challenge is in translating AI-designed drugs to the clinic?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AlphaFold is probably the most famous AI success story in biology. Spend 3 minutes here. Jumper J. et al. (2021) Highly accurate protein structure prediction with AlphaFold, Nature 596:583-589, won the 2024 Nobel Prize in Chemistry for Demis Hassabis and John Jumper. AlphaFold3 (Abramson et al. 2024, Nature) extends to protein-ligand complexes, directly relevant to drug design. We will revisit protein structures in Week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Now that we have seen the big picture, let us get technical. How do we actually represent molecules for a computer? We will cover SMILES, bioactivity data, and protein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SMILES. Key rules: atoms are letters, single bonds are implicit, double bonds =, triple bonds #, branches in parentheses, rings with number pairs. Lowercase letters mean aromatic atoms. The Weininger 1988 paper is the original reference. We will go much deeper into SMILES in Week 2. For now, just get comfortable with the idea that molecules can be written as strings for machine learning models. Ask: can anyone guess what c1ccccc1 represents? It is benzene!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explaining bioactivity measures. Use an analogy: IC50 is like asking how much of this molecule do I need to shut down 50% of the enzyme? Lower IC50 = more potent = better drug. We convert to pIC50 because it makes the numbers easier to work with. A pIC50 of 8 means IC50 = 10nM, that is a very potent drug candidate. ChEMBL maintained by the European Bioinformatics Institute is the gold standard. We will use ChEMBL data extensively in our practicals.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go through quickly in 2 minutes. Emphasize that one of the great things about drug discovery research is that so much data is publicly available. MoleculeNet (Wu et al. 2018, Chemical Science) provides standardized benchmarks. Students should bookmark ChEMBL and MoleculeNet.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PRESENTER NOTES - BIOPHYSICAL MODELLING &amp; SPIKERBOT</a:t>
            </a:r>
          </a:p>
          <a:p/>
          <a:p>
            <a:r>
              <a:t>Spend 5-7 minutes on this slide. This is a unique hands-on connection between neuroscience and drug discovery.</a:t>
            </a:r>
          </a:p>
          <a:p/>
          <a:p>
            <a:r>
              <a:t>=== THE SPIKERBOT ===</a:t>
            </a:r>
          </a:p>
          <a:p>
            <a:r>
              <a:t>The SpikerBot is made by Backyard Brains (backyardbrains.com). It is an open-source neuroscience education platform that can both RECORD and STIMULATE neural signals. The original SpikerBox paper is Marzullo &amp; Gage (2012), Advances in Physiology Education 36:2-14. The SpikerBot extends this with programmable stimulation and a robotic gripper controlled by neural signals.</a:t>
            </a:r>
          </a:p>
          <a:p/>
          <a:p>
            <a:r>
              <a:t>Key hardware components:</a:t>
            </a:r>
          </a:p>
          <a:p>
            <a:r>
              <a:t>- Electrodes that interface with biological tissue (cockroach leg, earthworm, or human EMG)</a:t>
            </a:r>
          </a:p>
          <a:p>
            <a:r>
              <a:t>- Amplifier that boosts microvolt signals to measurable range</a:t>
            </a:r>
          </a:p>
          <a:p>
            <a:r>
              <a:t>- ADC (analog-to-digital converter) that digitizes the signal</a:t>
            </a:r>
          </a:p>
          <a:p>
            <a:r>
              <a:t>- Microcontroller (Arduino-compatible) for programmable stimulation</a:t>
            </a:r>
          </a:p>
          <a:p>
            <a:r>
              <a:t>- Software: Spike Recorder app for visualization and analysis</a:t>
            </a:r>
          </a:p>
          <a:p/>
          <a:p>
            <a:r>
              <a:t>=== PROGRAMMABLE NEURAL MOTIFS ===</a:t>
            </a:r>
          </a:p>
          <a:p>
            <a:r>
              <a:t>The SpikerBot can be programmed to deliver different electrical stimulation patterns, and you can observe the neural response in real-time:</a:t>
            </a:r>
          </a:p>
          <a:p/>
          <a:p>
            <a:r>
              <a:t>1. TONIC FIRING: Regular, evenly-spaced action potentials. This is what you see in motor neurons during sustained muscle contraction, or in cardiac pacemaker cells. On the SpikerBot, program this as a constant-frequency pulse train (e.g., 10 Hz = one pulse every 100 ms). Students should observe that increasing stimulation frequency increases muscle contraction force (temporal summation).</a:t>
            </a:r>
          </a:p>
          <a:p/>
          <a:p>
            <a:r>
              <a:t>2. BURST FIRING: Clusters of rapid spikes separated by silent periods. This is characteristic of thalamocortical relay neurons (involved in sleep spindles and absence seizures), dopaminergic neurons in the VTA (reward signaling), and hippocampal place cells. On the SpikerBot, program this as 3-5 rapid pulses at 50-100 Hz, then a 200-500 ms pause, then repeat. Burst firing is more effective at triggering synaptic plasticity than tonic firing at the same average rate.</a:t>
            </a:r>
          </a:p>
          <a:p/>
          <a:p>
            <a:r>
              <a:t>3. IRREGULAR / POISSON FIRING: Random inter-spike intervals following an exponential distribution. This is the dominant pattern in cortical neurons during wakefulness. On the SpikerBot, program this with randomized inter-pulse intervals drawn from an exponential distribution with a given mean rate. Students should compare the muscle response to irregular vs. regular stimulation at the same average rate.</a:t>
            </a:r>
          </a:p>
          <a:p/>
          <a:p>
            <a:r>
              <a:t>=== NEUROPHARMACOLOGY ===</a:t>
            </a:r>
          </a:p>
          <a:p>
            <a:r>
              <a:t>This is where the SpikerBot connects directly to drug discovery:</a:t>
            </a:r>
          </a:p>
          <a:p/>
          <a:p>
            <a:r>
              <a:t>Ion channels are transmembrane proteins that allow ions (Na+, K+, Ca2+, Cl-) to flow across cell membranes. They are essential for ALL electrical signaling in the body: neurons, muscles, heart. About 18% of all FDA-approved drugs target ion channels (Santos et al. 2017, Nature Reviews Drug Discovery 16:19-34).</a:t>
            </a:r>
          </a:p>
          <a:p/>
          <a:p>
            <a:r>
              <a:t>Key ion channel drug targets:</a:t>
            </a:r>
          </a:p>
          <a:p>
            <a:r>
              <a:t>- Voltage-gated Na+ channels (Nav): Targeted by local anesthetics (lidocaine, bupivacaine), anti-epileptics (carbamazepine, phenytoin, lamotrigine), and some analgesics. These drugs block the channel pore, preventing Na+ influx and thus preventing action potentials. With the SpikerBot, applying lidocaine to a cockroach leg preparation will reduce/abolish action potentials in real-time.</a:t>
            </a:r>
          </a:p>
          <a:p/>
          <a:p>
            <a:r>
              <a:t>- Voltage-gated K+ channels (Kv): The hERG channel (Kv11.1, encoded by KCNH2 gene) is the SINGLE MOST IMPORTANT safety target in all of drug development. Blocking hERG causes QT interval prolongation on the ECG, which can lead to a lethal cardiac arrhythmia called Torsades de Pointes. Multiple drugs have been withdrawn from the market for hERG liability: terfenadine (Seldane), cisapride (Propulsid), astemizole. Today, hERG screening is MANDATORY for all drug candidates (ICH S7B guideline). ML models for hERG prediction are a hot research area.</a:t>
            </a:r>
          </a:p>
          <a:p/>
          <a:p>
            <a:r>
              <a:t>- Voltage-gated Ca2+ channels (Cav): Targeted by anti-hypertensives (amlodipine, nifedipine - L-type blockers), anti-epileptics (ethosuximide - T-type blockers), and pain drugs (gabapentin targets alpha-2-delta subunit).</a:t>
            </a:r>
          </a:p>
          <a:p/>
          <a:p>
            <a:r>
              <a:t>- Ligand-gated channels: GABA-A receptor (Cl- channel) targeted by benzodiazepines (diazepam, lorazepam) and barbiturates. Nicotinic acetylcholine receptor (Na+/K+ channel) targeted by smoking cessation drug varenicline (Chantix). NMDA receptor (Ca2+ channel) targeted by anesthetic ketamine and Alzheimer's drug memantine.</a:t>
            </a:r>
          </a:p>
          <a:p/>
          <a:p>
            <a:r>
              <a:t>=== THE HODGKIN-HUXLEY MODEL (1952) ===</a:t>
            </a:r>
          </a:p>
          <a:p>
            <a:r>
              <a:t>Alan Hodgkin and Andrew Huxley published their mathematical model of the action potential in 1952 (Journal of Physiology 117:500-544), for which they won the 1963 Nobel Prize in Physiology or Medicine. This is THE foundational biophysical model.</a:t>
            </a:r>
          </a:p>
          <a:p/>
          <a:p>
            <a:r>
              <a:t>The model describes the membrane potential V as:</a:t>
            </a:r>
          </a:p>
          <a:p>
            <a:r>
              <a:t>  C_m * dV/dt = -g_Na * m^3 * h * (V - E_Na) - g_K * n^4 * (V - E_K) - g_L * (V - E_L) + I_ext</a:t>
            </a:r>
          </a:p>
          <a:p/>
          <a:p>
            <a:r>
              <a:t>Where:</a:t>
            </a:r>
          </a:p>
          <a:p>
            <a:r>
              <a:t>- C_m = membrane capacitance (~1 uF/cm2)</a:t>
            </a:r>
          </a:p>
          <a:p>
            <a:r>
              <a:t>- g_Na, g_K, g_L = maximum conductances for sodium, potassium, and leak channels</a:t>
            </a:r>
          </a:p>
          <a:p>
            <a:r>
              <a:t>- m, h, n = gating variables (0 to 1) that describe channel opening/closing probability</a:t>
            </a:r>
          </a:p>
          <a:p>
            <a:r>
              <a:t>- E_Na, E_K, E_L = reversal (Nernst) potentials for each ion</a:t>
            </a:r>
          </a:p>
          <a:p>
            <a:r>
              <a:t>- I_ext = external stimulation current</a:t>
            </a:r>
          </a:p>
          <a:p/>
          <a:p>
            <a:r>
              <a:t>The gating variables m, h, n each follow first-order kinetics: dx/dt = alpha_x(V)*(1-x) - beta_x(V)*x, where alpha and beta are voltage-dependent rate constants. Drug effects can be modeled by modifying these parameters: a Na+ channel blocker reduces g_Na, a K+ channel blocker reduces g_K.</a:t>
            </a:r>
          </a:p>
          <a:p/>
          <a:p>
            <a:r>
              <a:t>In the Week 1 practical notebook, students will simulate the Hodgkin-Huxley model and see how modifying conductances (simulating drug effects) changes firing patterns. This directly connects to the SpikerBot observations.</a:t>
            </a:r>
          </a:p>
          <a:p/>
          <a:p>
            <a:r>
              <a:t>=== HUMAN PHYSIOLOGY EXPERIMENTS ===</a:t>
            </a:r>
          </a:p>
          <a:p>
            <a:r>
              <a:t>Students can use the SpikerBot / Muscle SpikerShield to record their OWN signals:</a:t>
            </a:r>
          </a:p>
          <a:p>
            <a:r>
              <a:t>- EMG (electromyography): Record muscle electrical activity from the forearm. Observe motor unit recruitment. Compare grip strength to EMG amplitude.</a:t>
            </a:r>
          </a:p>
          <a:p>
            <a:r>
              <a:t>- ECG (electrocardiography): Record heart rhythm. Identify P, QRS, T waves. Measure heart rate variability.</a:t>
            </a:r>
          </a:p>
          <a:p>
            <a:r>
              <a:t>- Grip force experiments: Measure how stimulation frequency affects force (the SpikerBot can stimulate and record).</a:t>
            </a:r>
          </a:p>
          <a:p/>
          <a:p>
            <a:r>
              <a:t>The computational pipeline is IDENTICAL to drug discovery:</a:t>
            </a:r>
          </a:p>
          <a:p>
            <a:r>
              <a:t>  Biological signal -&gt; digitize -&gt; extract features -&gt; build ML model -&gt; predict</a:t>
            </a:r>
          </a:p>
          <a:p>
            <a:r>
              <a:t>  Molecular structure -&gt; fingerprint -&gt; extract features -&gt; build ML model -&gt; predict</a:t>
            </a:r>
          </a:p>
          <a:p/>
          <a:p>
            <a:r>
              <a:t>This parallel is the key teaching point: the same ML methods work across domains.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RDKit. Created by Greg Landrum at Novartis, now maintained by a large open-source community. Think of RDKit as the NumPy of chemistry. In today's practical, we will install it and use it to load molecules, calculate properties, and draw structures. RDKit converts SMILES strings into rich molecular objects that we can compute features from. This is the bridge between chemistry and machine learning.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explaining the practical, then transition to the hands-on session. The notebook is designed to run in Google Colab. We use EGFR (Epidermal Growth Factor Receptor) inhibitors as our example dataset because EGFR is a well-studied cancer target with lots of data in ChEMBL. Students may have heard of drugs like gefitinib (Iressa) or erlotinib (Tarceva). Encourage students to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5-7 minute discussion. Let students discuss in small groups first, then share with the class. Guide the discussion toward: there is no single answer. AI helps at every stage, but the highest-impact areas are probably lead optimization (most time-consuming) and clinical trial design (most expensive). If someone mentions risks, validate that: AI can learn biases in data, predict artifacts, or create false confidence. We will dedicate time to ethics in Week 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Quickly recap each point in 2-3 minutes. Emphasize the overarching narrative: drug discovery has a problem (slow/expensive/risky), AI is the solution, and this course will give students the tools to contribute. Remind students about the practical notebook.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preview, 1 minute. Next week we go from exploring molecules to actually predicting their properties. The optional reading by Muegge and Mukherjee is a nice accessible review of molecular fingerprints. Thank them for a great first session.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1</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Introduction &amp; The Drug Discovery Pipeline</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bench to bedside - and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Roadmap - 7 Weeks + Project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Week 1: Introduction &amp; Drug Discovery Pipeline (TODAY)</a:t>
            </a:r>
          </a:p>
          <a:p>
            <a:pPr>
              <a:spcAft>
                <a:spcPts val="800"/>
              </a:spcAft>
              <a:defRPr sz="2000">
                <a:solidFill>
                  <a:srgbClr val="323232"/>
                </a:solidFill>
                <a:latin typeface="Calibri"/>
              </a:defRPr>
            </a:pPr>
            <a:r>
              <a:t>Week 2: Molecular Representation &amp; Baseline ML</a:t>
            </a:r>
          </a:p>
          <a:p>
            <a:pPr>
              <a:spcAft>
                <a:spcPts val="800"/>
              </a:spcAft>
              <a:defRPr sz="2000">
                <a:solidFill>
                  <a:srgbClr val="323232"/>
                </a:solidFill>
                <a:latin typeface="Calibri"/>
              </a:defRPr>
            </a:pPr>
            <a:r>
              <a:t>Week 3: Model Evaluation &amp; Interpretability</a:t>
            </a:r>
          </a:p>
          <a:p>
            <a:pPr>
              <a:spcAft>
                <a:spcPts val="800"/>
              </a:spcAft>
              <a:defRPr sz="2000">
                <a:solidFill>
                  <a:srgbClr val="323232"/>
                </a:solidFill>
                <a:latin typeface="Calibri"/>
              </a:defRPr>
            </a:pPr>
            <a:r>
              <a:t>Week 4: Deep Learning &amp; Graph Neural Networks</a:t>
            </a:r>
          </a:p>
          <a:p>
            <a:pPr>
              <a:spcAft>
                <a:spcPts val="800"/>
              </a:spcAft>
              <a:defRPr sz="2000">
                <a:solidFill>
                  <a:srgbClr val="323232"/>
                </a:solidFill>
                <a:latin typeface="Calibri"/>
              </a:defRPr>
            </a:pPr>
            <a:r>
              <a:t>Week 5: Generative AI for Molecule Design</a:t>
            </a:r>
          </a:p>
          <a:p>
            <a:pPr>
              <a:spcAft>
                <a:spcPts val="800"/>
              </a:spcAft>
              <a:defRPr sz="2000">
                <a:solidFill>
                  <a:srgbClr val="323232"/>
                </a:solidFill>
                <a:latin typeface="Calibri"/>
              </a:defRPr>
            </a:pPr>
            <a:r>
              <a:t>Week 6: Protein Targets &amp; Binding Prediction</a:t>
            </a:r>
          </a:p>
          <a:p>
            <a:pPr>
              <a:spcAft>
                <a:spcPts val="800"/>
              </a:spcAft>
              <a:defRPr sz="2000">
                <a:solidFill>
                  <a:srgbClr val="323232"/>
                </a:solidFill>
                <a:latin typeface="Calibri"/>
              </a:defRPr>
            </a:pPr>
            <a:r>
              <a:t>Week 7: Ethics, Regulation &amp; Project Workshop</a:t>
            </a:r>
          </a:p>
          <a:p>
            <a:pPr>
              <a:spcAft>
                <a:spcPts val="800"/>
              </a:spcAft>
              <a:defRPr sz="2000">
                <a:solidFill>
                  <a:srgbClr val="323232"/>
                </a:solidFill>
                <a:latin typeface="Calibri"/>
              </a:defRPr>
            </a:pPr>
            <a:r>
              <a:t>Week 8: Group Project Exam (Presentation + Code + Report)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Assessment: Implementation 40% | Scientific reasoning 25% | Evaluation 20% | Presentation 15%</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 J. Health Economics)</a:t>
            </a:r>
          </a:p>
          <a:p>
            <a:pPr>
              <a:spcAft>
                <a:spcPts val="800"/>
              </a:spcAft>
              <a:defRPr sz="2000">
                <a:solidFill>
                  <a:srgbClr val="323232"/>
                </a:solidFill>
                <a:latin typeface="Calibri"/>
              </a:defRPr>
            </a:pPr>
            <a:r>
              <a:t>Success rate from Phase I to approval: ~7.9% (Wong et al., 2019, Biostatistics)</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r>
              <a:t>Only ~14% of drugs entering Phase I get FDA approval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Traditional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enzyme, receptor)</a:t>
            </a:r>
          </a:p>
          <a:p>
            <a:pPr>
              <a:spcAft>
                <a:spcPts val="800"/>
              </a:spcAft>
              <a:defRPr sz="2000">
                <a:solidFill>
                  <a:srgbClr val="323232"/>
                </a:solidFill>
                <a:latin typeface="Calibri"/>
              </a:defRPr>
            </a:pPr>
            <a:r>
              <a:t>2. TARGET VALIDATION - Confirm the target is relevant to the disease</a:t>
            </a:r>
          </a:p>
          <a:p>
            <a:pPr>
              <a:spcAft>
                <a:spcPts val="800"/>
              </a:spcAft>
              <a:defRPr sz="2000">
                <a:solidFill>
                  <a:srgbClr val="323232"/>
                </a:solidFill>
                <a:latin typeface="Calibri"/>
              </a:defRPr>
            </a:pPr>
            <a:r>
              <a:t>3. HIT DISCOVERY - Screen millions of compounds (High-Throughput Screening)</a:t>
            </a:r>
          </a:p>
          <a:p>
            <a:pPr>
              <a:spcAft>
                <a:spcPts val="800"/>
              </a:spcAft>
              <a:defRPr sz="2000">
                <a:solidFill>
                  <a:srgbClr val="323232"/>
                </a:solidFill>
                <a:latin typeface="Calibri"/>
              </a:defRPr>
            </a:pPr>
            <a:r>
              <a:t>4. LEAD OPTIMIZATION - Improve hits for potency, selectivity, ADMET</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 REVIEW &amp; APPROVAL</a:t>
            </a:r>
          </a:p>
          <a:p>
            <a:pPr>
              <a:spcAft>
                <a:spcPts val="800"/>
              </a:spcAft>
              <a:defRPr sz="2000">
                <a:solidFill>
                  <a:srgbClr val="323232"/>
                </a:solidFill>
                <a:latin typeface="Calibri"/>
              </a:defRPr>
            </a:pPr>
            <a:r>
              <a:t>10. POST-MARKET SURVEILLANCE (Phase IV)</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Drug Candidates Fail</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Clinical Failure Reasons</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Lack of efficacy: ~40-50%</a:t>
            </a:r>
          </a:p>
          <a:p>
            <a:pPr>
              <a:spcAft>
                <a:spcPts val="800"/>
              </a:spcAft>
              <a:defRPr sz="1800">
                <a:solidFill>
                  <a:srgbClr val="323232"/>
                </a:solidFill>
                <a:latin typeface="Calibri"/>
              </a:defRPr>
            </a:pPr>
            <a:r>
              <a:t>Safety / toxicity: ~30%</a:t>
            </a:r>
          </a:p>
          <a:p>
            <a:pPr>
              <a:spcAft>
                <a:spcPts val="800"/>
              </a:spcAft>
              <a:defRPr sz="1800">
                <a:solidFill>
                  <a:srgbClr val="323232"/>
                </a:solidFill>
                <a:latin typeface="Calibri"/>
              </a:defRPr>
            </a:pPr>
            <a:r>
              <a:t>Poor pharmacokinetics: ~10%</a:t>
            </a:r>
          </a:p>
          <a:p>
            <a:pPr>
              <a:spcAft>
                <a:spcPts val="800"/>
              </a:spcAft>
              <a:defRPr sz="1800">
                <a:solidFill>
                  <a:srgbClr val="323232"/>
                </a:solidFill>
                <a:latin typeface="Calibri"/>
              </a:defRPr>
            </a:pPr>
            <a:r>
              <a:t>Commercial reasons: ~10%</a:t>
            </a:r>
          </a:p>
          <a:p>
            <a:pPr>
              <a:spcAft>
                <a:spcPts val="800"/>
              </a:spcAft>
              <a:defRPr sz="1800">
                <a:solidFill>
                  <a:srgbClr val="323232"/>
                </a:solidFill>
                <a:latin typeface="Calibri"/>
              </a:defRPr>
            </a:pPr>
            <a:r>
              <a:t>Other: ~5%</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Infamous Failures</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Vioxx (rofecoxib) - withdrawn 2004, cardiac risk</a:t>
            </a:r>
          </a:p>
          <a:p>
            <a:pPr>
              <a:spcAft>
                <a:spcPts val="800"/>
              </a:spcAft>
              <a:defRPr sz="1800">
                <a:solidFill>
                  <a:srgbClr val="323232"/>
                </a:solidFill>
                <a:latin typeface="Calibri"/>
              </a:defRPr>
            </a:pPr>
            <a:r>
              <a:t>Thalidomide (1960s) - birth defects</a:t>
            </a:r>
          </a:p>
          <a:p>
            <a:pPr>
              <a:spcAft>
                <a:spcPts val="800"/>
              </a:spcAft>
              <a:defRPr sz="1800">
                <a:solidFill>
                  <a:srgbClr val="323232"/>
                </a:solidFill>
                <a:latin typeface="Calibri"/>
              </a:defRPr>
            </a:pPr>
            <a:r>
              <a:t>BIA 10-2474 (2016) - Phase I death in France</a:t>
            </a:r>
          </a:p>
          <a:p>
            <a:pPr>
              <a:spcAft>
                <a:spcPts val="800"/>
              </a:spcAft>
              <a:defRPr sz="1800">
                <a:solidFill>
                  <a:srgbClr val="323232"/>
                </a:solidFill>
                <a:latin typeface="Calibri"/>
              </a:defRPr>
            </a:pPr>
            <a:r>
              <a:t>Pfizer torcetrapib - $800M Phase III failure</a:t>
            </a:r>
          </a:p>
          <a:p>
            <a:pPr>
              <a:spcAft>
                <a:spcPts val="800"/>
              </a:spcAft>
              <a:defRPr sz="1800">
                <a:solidFill>
                  <a:srgbClr val="323232"/>
                </a:solidFill>
                <a:latin typeface="Calibri"/>
              </a:defRPr>
            </a:pPr>
            <a:r>
              <a:t>Eli Lilly semagacestat - worsened Alzheimer's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beloved dog was diagnosed with cancer.</a:t>
            </a:r>
            <a:br/>
            <a:br/>
            <a:r>
              <a:t>Rather than accept the prognosis, Willson worked with his veterinarian to design a personalized mRNA vaccine targeting his dog's specific tumor antigens.</a:t>
            </a:r>
            <a:br/>
            <a:br/>
            <a:r>
              <a:t>The approach: sequence the tumor, identify neoantigens, design mRNA encoding those antigens, and inject it to train the dog's immune system.</a:t>
            </a:r>
            <a:br/>
            <a:br/>
            <a:r>
              <a:t>The story went viral, sparking global conversation about personalized medicine.</a:t>
            </a:r>
            <a:br/>
            <a:br/>
            <a:r>
              <a:t>This is the same technology behind COVID-19 vaccines (Moderna, BioNTech/Pfizer) now being applied to individual patients and even pets.</a:t>
            </a:r>
            <a:br/>
            <a:br/>
            <a:r>
              <a:t>Key insight: The tools for personalized medicine are becoming accessible. AI accelerates every step, from neoantigen prediction to vaccine design.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Enter AI: The Game Changer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machine learning is reshaping pharmaceutical R&amp;D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 multi-objective optimization</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approved drugs (e.g., Baricitinib for COVID-19)</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can reduce timelines by 2-4 years and costs by 30-50% (McKinsey, 2021)</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Case Study: Insilico Medicine ISM001-055</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First AI-designed drug to reach Phase II clinical trials (2023)</a:t>
            </a:r>
          </a:p>
          <a:p>
            <a:pPr>
              <a:spcAft>
                <a:spcPts val="800"/>
              </a:spcAft>
              <a:defRPr sz="2000">
                <a:solidFill>
                  <a:srgbClr val="323232"/>
                </a:solidFill>
                <a:latin typeface="Calibri"/>
              </a:defRPr>
            </a:pPr>
            <a:r>
              <a:t>Target: Idiopathic Pulmonary Fibrosis (IPF)</a:t>
            </a:r>
          </a:p>
          <a:p>
            <a:pPr>
              <a:spcAft>
                <a:spcPts val="800"/>
              </a:spcAft>
              <a:defRPr sz="2000">
                <a:solidFill>
                  <a:srgbClr val="323232"/>
                </a:solidFill>
                <a:latin typeface="Calibri"/>
              </a:defRPr>
            </a:pPr>
            <a:r>
              <a:t>AI identified a novel target (TNIK) AND designed the molecule</a:t>
            </a:r>
          </a:p>
          <a:p>
            <a:pPr>
              <a:spcAft>
                <a:spcPts val="800"/>
              </a:spcAft>
              <a:defRPr sz="2000">
                <a:solidFill>
                  <a:srgbClr val="323232"/>
                </a:solidFill>
                <a:latin typeface="Calibri"/>
              </a:defRPr>
            </a:pPr>
            <a:r>
              <a:t>Timeline: Target to preclinical candidate in 18 months (vs. typical 4-5 years)</a:t>
            </a:r>
          </a:p>
          <a:p>
            <a:pPr>
              <a:spcAft>
                <a:spcPts val="800"/>
              </a:spcAft>
              <a:defRPr sz="2000">
                <a:solidFill>
                  <a:srgbClr val="323232"/>
                </a:solidFill>
                <a:latin typeface="Calibri"/>
              </a:defRPr>
            </a:pPr>
            <a:r>
              <a:t>Cost: ~$2.6M (vs. typical $100M+)</a:t>
            </a:r>
          </a:p>
          <a:p>
            <a:pPr>
              <a:spcAft>
                <a:spcPts val="800"/>
              </a:spcAft>
              <a:defRPr sz="2000">
                <a:solidFill>
                  <a:srgbClr val="323232"/>
                </a:solidFill>
                <a:latin typeface="Calibri"/>
              </a:defRPr>
            </a:pPr>
            <a:r>
              <a:t>Published: Ren et al. (2024), Chemical Science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AI methods used:</a:t>
            </a:r>
          </a:p>
          <a:p>
            <a:pPr>
              <a:spcAft>
                <a:spcPts val="800"/>
              </a:spcAft>
              <a:defRPr sz="2000">
                <a:solidFill>
                  <a:srgbClr val="323232"/>
                </a:solidFill>
                <a:latin typeface="Calibri"/>
              </a:defRPr>
            </a:pPr>
            <a:r>
              <a:t>  PandaOmics - target identification from multi-omics data</a:t>
            </a:r>
          </a:p>
          <a:p>
            <a:pPr>
              <a:spcAft>
                <a:spcPts val="800"/>
              </a:spcAft>
              <a:defRPr sz="2000">
                <a:solidFill>
                  <a:srgbClr val="323232"/>
                </a:solidFill>
                <a:latin typeface="Calibri"/>
              </a:defRPr>
            </a:pPr>
            <a:r>
              <a:t>  Chemistry42 - generative chemistry for molecule design</a:t>
            </a:r>
          </a:p>
          <a:p>
            <a:pPr>
              <a:spcAft>
                <a:spcPts val="800"/>
              </a:spcAft>
              <a:defRPr sz="2000">
                <a:solidFill>
                  <a:srgbClr val="323232"/>
                </a:solidFill>
                <a:latin typeface="Calibri"/>
              </a:defRPr>
            </a:pPr>
            <a:r>
              <a:t>  InClinico - clinical trial outcome prediction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AlphaFold2: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 in biology</a:t>
            </a:r>
          </a:p>
          <a:p>
            <a:pPr>
              <a:spcAft>
                <a:spcPts val="800"/>
              </a:spcAft>
              <a:defRPr sz="2000">
                <a:solidFill>
                  <a:srgbClr val="323232"/>
                </a:solidFill>
                <a:latin typeface="Calibri"/>
              </a:defRPr>
            </a:pPr>
            <a:r>
              <a:t>CASP14 (2020): AlphaFold2 achieved accuracy comparable to experimental methods</a:t>
            </a:r>
          </a:p>
          <a:p>
            <a:pPr>
              <a:spcAft>
                <a:spcPts val="800"/>
              </a:spcAft>
              <a:defRPr sz="2000">
                <a:solidFill>
                  <a:srgbClr val="323232"/>
                </a:solidFill>
                <a:latin typeface="Calibri"/>
              </a:defRPr>
            </a:pPr>
            <a:r>
              <a:t>Jumper et al. (2021), Nature - most-cited paper of the decade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Structure-based drug design now possible for undruggable targets</a:t>
            </a:r>
          </a:p>
          <a:p>
            <a:pPr>
              <a:spcAft>
                <a:spcPts val="800"/>
              </a:spcAft>
              <a:defRPr sz="2000">
                <a:solidFill>
                  <a:srgbClr val="323232"/>
                </a:solidFill>
                <a:latin typeface="Calibri"/>
              </a:defRPr>
            </a:pPr>
            <a:r>
              <a:t>  Faster understanding of disease mechanisms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protein-DNA, protein-RNA complexes</a:t>
            </a:r>
          </a:p>
          <a:p>
            <a:pPr>
              <a:spcAft>
                <a:spcPts val="800"/>
              </a:spcAft>
              <a:defRPr sz="2000">
                <a:solidFill>
                  <a:srgbClr val="323232"/>
                </a:solidFill>
                <a:latin typeface="Calibri"/>
              </a:defRPr>
            </a:pPr>
            <a:r>
              <a:t>Isomorphic Labs (DeepMind spin-off) - applying this directly to drug design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Simplified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Invented by David 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a:t>
            </a:r>
          </a:p>
          <a:p>
            <a:pPr>
              <a:spcAft>
                <a:spcPts val="800"/>
              </a:spcAft>
              <a:defRPr sz="2000">
                <a:solidFill>
                  <a:srgbClr val="323232"/>
                </a:solidFill>
                <a:latin typeface="Calibri"/>
              </a:defRPr>
            </a:pPr>
            <a:r>
              <a:t>  Water: O</a:t>
            </a:r>
          </a:p>
          <a:p>
            <a:pPr>
              <a:spcAft>
                <a:spcPts val="800"/>
              </a:spcAft>
              <a:defRPr sz="2000">
                <a:solidFill>
                  <a:srgbClr val="323232"/>
                </a:solidFill>
                <a:latin typeface="Calibri"/>
              </a:defRPr>
            </a:pPr>
            <a:r>
              <a:t>  Ethanol: CCO</a:t>
            </a:r>
          </a:p>
          <a:p>
            <a:pPr>
              <a:spcAft>
                <a:spcPts val="800"/>
              </a:spcAft>
              <a:defRPr sz="2000">
                <a:solidFill>
                  <a:srgbClr val="323232"/>
                </a:solidFill>
                <a:latin typeface="Calibri"/>
              </a:defRPr>
            </a:pPr>
            <a:r>
              <a:t>  Aspirin: CC(=O)Oc1ccccc1C(=O)O</a:t>
            </a:r>
          </a:p>
          <a:p>
            <a:pPr>
              <a:spcAft>
                <a:spcPts val="800"/>
              </a:spcAft>
              <a:defRPr sz="2000">
                <a:solidFill>
                  <a:srgbClr val="323232"/>
                </a:solidFill>
                <a:latin typeface="Calibri"/>
              </a:defRPr>
            </a:pPr>
            <a:r>
              <a:t>  Caffeine: Cn1c(=O)c2c(ncn2C)n(C)c1=O</a:t>
            </a:r>
          </a:p>
          <a:p>
            <a:pPr>
              <a:spcAft>
                <a:spcPts val="800"/>
              </a:spcAft>
              <a:defRPr sz="2000">
                <a:solidFill>
                  <a:srgbClr val="323232"/>
                </a:solidFill>
                <a:latin typeface="Calibri"/>
              </a:defRPr>
            </a:pPr>
            <a:r>
              <a:t>  Ibuprofen: CC(C)Cc1ccc(cc1)C(C)C(=O)O</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a:p>
            <a:pPr>
              <a:spcAft>
                <a:spcPts val="800"/>
              </a:spcAft>
              <a:defRPr sz="2000">
                <a:solidFill>
                  <a:srgbClr val="323232"/>
                </a:solidFill>
                <a:latin typeface="Calibri"/>
              </a:defRPr>
            </a:pPr>
            <a:r>
              <a:t>One molecule can have multiple valid SMILES (canonical vs. random)</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Data: Measuring Drug-Target Interactions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biological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that inhibits 50% of target activity</a:t>
            </a:r>
          </a:p>
          <a:p>
            <a:pPr>
              <a:spcAft>
                <a:spcPts val="800"/>
              </a:spcAft>
              <a:defRPr sz="2000">
                <a:solidFill>
                  <a:srgbClr val="323232"/>
                </a:solidFill>
                <a:latin typeface="Calibri"/>
              </a:defRPr>
            </a:pPr>
            <a:r>
              <a:t>  Ki - Binding affinity constant (inhibition constant)</a:t>
            </a:r>
          </a:p>
          <a:p>
            <a:pPr>
              <a:spcAft>
                <a:spcPts val="800"/>
              </a:spcAft>
              <a:defRPr sz="2000">
                <a:solidFill>
                  <a:srgbClr val="323232"/>
                </a:solidFill>
                <a:latin typeface="Calibri"/>
              </a:defRPr>
            </a:pPr>
            <a:r>
              <a:t>  EC50 - Concentration that produces 50% of maximum effect</a:t>
            </a:r>
          </a:p>
          <a:p>
            <a:pPr>
              <a:spcAft>
                <a:spcPts val="800"/>
              </a:spcAft>
              <a:defRPr sz="2000">
                <a:solidFill>
                  <a:srgbClr val="323232"/>
                </a:solidFill>
                <a:latin typeface="Calibri"/>
              </a:defRPr>
            </a:pPr>
            <a:r>
              <a:t>  Kd - Dissociation constant (binding strength)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Typically reported as pIC50 = -log10(IC50) for easier modeling</a:t>
            </a:r>
          </a:p>
          <a:p>
            <a:pPr>
              <a:spcAft>
                <a:spcPts val="800"/>
              </a:spcAft>
              <a:defRPr sz="2000">
                <a:solidFill>
                  <a:srgbClr val="323232"/>
                </a:solidFill>
                <a:latin typeface="Calibri"/>
              </a:defRPr>
            </a:pPr>
            <a:r>
              <a:t>Higher pIC50 = more potent compound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databases: ChEMBL (&gt;2.4M compounds), PubChem (&gt;110M), BindingDB</a:t>
            </a:r>
          </a:p>
          <a:p>
            <a:pPr>
              <a:spcAft>
                <a:spcPts val="800"/>
              </a:spcAft>
              <a:defRPr sz="2000">
                <a:solidFill>
                  <a:srgbClr val="323232"/>
                </a:solidFill>
                <a:latin typeface="Calibri"/>
              </a:defRPr>
            </a:pPr>
            <a:r>
              <a:t>Reference: Gaulton et al. (2017), Nucleic Acids Research 45:D986-D994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Key Public Databases for Drug Discovery</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Molecular / Chemical</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ChEMBL - curated bioactivity data</a:t>
            </a:r>
          </a:p>
          <a:p>
            <a:pPr>
              <a:spcAft>
                <a:spcPts val="800"/>
              </a:spcAft>
              <a:defRPr sz="1800">
                <a:solidFill>
                  <a:srgbClr val="323232"/>
                </a:solidFill>
                <a:latin typeface="Calibri"/>
              </a:defRPr>
            </a:pPr>
            <a:r>
              <a:t>PubChem - largest public chemistry DB</a:t>
            </a:r>
          </a:p>
          <a:p>
            <a:pPr>
              <a:spcAft>
                <a:spcPts val="800"/>
              </a:spcAft>
              <a:defRPr sz="1800">
                <a:solidFill>
                  <a:srgbClr val="323232"/>
                </a:solidFill>
                <a:latin typeface="Calibri"/>
              </a:defRPr>
            </a:pPr>
            <a:r>
              <a:t>ZINC - purchasable compounds for screening</a:t>
            </a:r>
          </a:p>
          <a:p>
            <a:pPr>
              <a:spcAft>
                <a:spcPts val="800"/>
              </a:spcAft>
              <a:defRPr sz="1800">
                <a:solidFill>
                  <a:srgbClr val="323232"/>
                </a:solidFill>
                <a:latin typeface="Calibri"/>
              </a:defRPr>
            </a:pPr>
            <a:r>
              <a:t>DrugBank - approved drug information</a:t>
            </a:r>
          </a:p>
          <a:p>
            <a:pPr>
              <a:spcAft>
                <a:spcPts val="800"/>
              </a:spcAft>
              <a:defRPr sz="1800">
                <a:solidFill>
                  <a:srgbClr val="323232"/>
                </a:solidFill>
                <a:latin typeface="Calibri"/>
              </a:defRPr>
            </a:pPr>
            <a:r>
              <a:t>MoleculeNet - benchmark datasets for ML</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Biological / Protein</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UniProt - protein sequences &amp; annotation</a:t>
            </a:r>
          </a:p>
          <a:p>
            <a:pPr>
              <a:spcAft>
                <a:spcPts val="800"/>
              </a:spcAft>
              <a:defRPr sz="1800">
                <a:solidFill>
                  <a:srgbClr val="323232"/>
                </a:solidFill>
                <a:latin typeface="Calibri"/>
              </a:defRPr>
            </a:pPr>
            <a:r>
              <a:t>PDB - experimental 3D structures</a:t>
            </a:r>
          </a:p>
          <a:p>
            <a:pPr>
              <a:spcAft>
                <a:spcPts val="800"/>
              </a:spcAft>
              <a:defRPr sz="1800">
                <a:solidFill>
                  <a:srgbClr val="323232"/>
                </a:solidFill>
                <a:latin typeface="Calibri"/>
              </a:defRPr>
            </a:pPr>
            <a:r>
              <a:t>AlphaFold DB - predicted structures</a:t>
            </a:r>
          </a:p>
          <a:p>
            <a:pPr>
              <a:spcAft>
                <a:spcPts val="800"/>
              </a:spcAft>
              <a:defRPr sz="1800">
                <a:solidFill>
                  <a:srgbClr val="323232"/>
                </a:solidFill>
                <a:latin typeface="Calibri"/>
              </a:defRPr>
            </a:pPr>
            <a:r>
              <a:t>STRING - protein-protein interactions</a:t>
            </a:r>
          </a:p>
          <a:p>
            <a:pPr>
              <a:spcAft>
                <a:spcPts val="800"/>
              </a:spcAft>
              <a:defRPr sz="1800">
                <a:solidFill>
                  <a:srgbClr val="323232"/>
                </a:solidFill>
                <a:latin typeface="Calibri"/>
              </a:defRPr>
            </a:pPr>
            <a:r>
              <a:t>KEGG / Reactome - biological pathways</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Biophysical Modelling &amp; The Programmable SpikerBot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SpikerBot (Backyard Brains) - record AND stimulate real neurons</a:t>
            </a:r>
          </a:p>
          <a:p>
            <a:pPr>
              <a:spcAft>
                <a:spcPts val="800"/>
              </a:spcAft>
              <a:defRPr sz="2000">
                <a:solidFill>
                  <a:srgbClr val="323232"/>
                </a:solidFill>
                <a:latin typeface="Calibri"/>
              </a:defRPr>
            </a:pPr>
            <a:r>
              <a:t>  Marzullo et al. (2012), Advances in Physiology Education 36:2-14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Programmable neural motifs you will explore:</a:t>
            </a:r>
          </a:p>
          <a:p>
            <a:pPr>
              <a:spcAft>
                <a:spcPts val="800"/>
              </a:spcAft>
              <a:defRPr sz="2000">
                <a:solidFill>
                  <a:srgbClr val="323232"/>
                </a:solidFill>
                <a:latin typeface="Calibri"/>
              </a:defRPr>
            </a:pPr>
            <a:r>
              <a:t>  Tonic firing - regular spikes (motor neurons, pacemaker cells)</a:t>
            </a:r>
          </a:p>
          <a:p>
            <a:pPr>
              <a:spcAft>
                <a:spcPts val="800"/>
              </a:spcAft>
              <a:defRPr sz="2000">
                <a:solidFill>
                  <a:srgbClr val="323232"/>
                </a:solidFill>
                <a:latin typeface="Calibri"/>
              </a:defRPr>
            </a:pPr>
            <a:r>
              <a:t>  Burst firing - clustered spikes (thalamic relay, dopamine neurons)</a:t>
            </a:r>
          </a:p>
          <a:p>
            <a:pPr>
              <a:spcAft>
                <a:spcPts val="800"/>
              </a:spcAft>
              <a:defRPr sz="2000">
                <a:solidFill>
                  <a:srgbClr val="323232"/>
                </a:solidFill>
                <a:latin typeface="Calibri"/>
              </a:defRPr>
            </a:pPr>
            <a:r>
              <a:t>  Irregular / Poisson firing - random intervals (cortical neurons)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Neuropharmacology connection:</a:t>
            </a:r>
          </a:p>
          <a:p>
            <a:pPr>
              <a:spcAft>
                <a:spcPts val="800"/>
              </a:spcAft>
              <a:defRPr sz="2000">
                <a:solidFill>
                  <a:srgbClr val="323232"/>
                </a:solidFill>
                <a:latin typeface="Calibri"/>
              </a:defRPr>
            </a:pPr>
            <a:r>
              <a:t>  Ion channels (Na+, K+, Ca2+) are major drug targets (~18% of approved drugs)</a:t>
            </a:r>
          </a:p>
          <a:p>
            <a:pPr>
              <a:spcAft>
                <a:spcPts val="800"/>
              </a:spcAft>
              <a:defRPr sz="2000">
                <a:solidFill>
                  <a:srgbClr val="323232"/>
                </a:solidFill>
                <a:latin typeface="Calibri"/>
              </a:defRPr>
            </a:pPr>
            <a:r>
              <a:t>  The Hodgkin-Huxley model (1952) describes how drugs alter channel gating</a:t>
            </a:r>
          </a:p>
          <a:p>
            <a:pPr>
              <a:spcAft>
                <a:spcPts val="800"/>
              </a:spcAft>
              <a:defRPr sz="2000">
                <a:solidFill>
                  <a:srgbClr val="323232"/>
                </a:solidFill>
                <a:latin typeface="Calibri"/>
              </a:defRPr>
            </a:pPr>
            <a:r>
              <a:t>  hERG (K+ channel) block -&gt; cardiac arrhythmia, #1 reason drugs are withdrawn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Same pipeline: biological signal -&gt; digitize -&gt; features -&gt; ML model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Introduction to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can RDKit do?</a:t>
            </a:r>
          </a:p>
          <a:p>
            <a:pPr>
              <a:spcAft>
                <a:spcPts val="800"/>
              </a:spcAft>
              <a:defRPr sz="2000">
                <a:solidFill>
                  <a:srgbClr val="323232"/>
                </a:solidFill>
                <a:latin typeface="Calibri"/>
              </a:defRPr>
            </a:pPr>
            <a:r>
              <a:t>  Parse SMILES strings into molecular objects</a:t>
            </a:r>
          </a:p>
          <a:p>
            <a:pPr>
              <a:spcAft>
                <a:spcPts val="800"/>
              </a:spcAft>
              <a:defRPr sz="2000">
                <a:solidFill>
                  <a:srgbClr val="323232"/>
                </a:solidFill>
                <a:latin typeface="Calibri"/>
              </a:defRPr>
            </a:pPr>
            <a:r>
              <a:t>  Calculate molecular properties (MW, LogP, HBD, HBA, TPSA)</a:t>
            </a:r>
          </a:p>
          <a:p>
            <a:pPr>
              <a:spcAft>
                <a:spcPts val="800"/>
              </a:spcAft>
              <a:defRPr sz="2000">
                <a:solidFill>
                  <a:srgbClr val="323232"/>
                </a:solidFill>
                <a:latin typeface="Calibri"/>
              </a:defRPr>
            </a:pPr>
            <a:r>
              <a:t>  Generate molecular fingerprints (Morgan/ECFP, RDKit,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molecular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will use RDKit in EVERY week of this course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Today's Practical: Explore Molecules with RDKit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the Week 1 Jupyter Notebook: week1_introduction/Week1_Practical.ipynb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we will do:</a:t>
            </a:r>
          </a:p>
          <a:p>
            <a:pPr>
              <a:spcAft>
                <a:spcPts val="800"/>
              </a:spcAft>
              <a:defRPr sz="2000">
                <a:solidFill>
                  <a:srgbClr val="323232"/>
                </a:solidFill>
                <a:latin typeface="Calibri"/>
              </a:defRPr>
            </a:pPr>
            <a:r>
              <a:t>  1. Install and import RDKit in Google Colab</a:t>
            </a:r>
          </a:p>
          <a:p>
            <a:pPr>
              <a:spcAft>
                <a:spcPts val="800"/>
              </a:spcAft>
              <a:defRPr sz="2000">
                <a:solidFill>
                  <a:srgbClr val="323232"/>
                </a:solidFill>
                <a:latin typeface="Calibri"/>
              </a:defRPr>
            </a:pPr>
            <a:r>
              <a:t>  2. Load a molecular dataset from ChEMBL (EGFR inhibitors)</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number of rings, etc.)</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r>
              <a:t>  6. Compare drug-like vs. non-drug-like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a:t>
            </a:r>
          </a:p>
          <a:p>
            <a:pPr>
              <a:spcAft>
                <a:spcPts val="800"/>
              </a:spcAft>
              <a:defRPr sz="2000">
                <a:solidFill>
                  <a:srgbClr val="323232"/>
                </a:solidFill>
                <a:latin typeface="Calibri"/>
              </a:defRPr>
            </a:pPr>
            <a:r>
              <a:t>Work in pairs - discuss what you observe!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use AI to accelerate ANY aspect</a:t>
            </a:r>
            <a:br/>
            <a:r>
              <a:t>of drug discovery, which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Think about: target identification, molecule design, clinical trials, safety prediction...</a:t>
            </a:r>
          </a:p>
          <a:p>
            <a:pPr>
              <a:spcAft>
                <a:spcPts val="800"/>
              </a:spcAft>
              <a:defRPr sz="1800">
                <a:solidFill>
                  <a:srgbClr val="F0F0F0"/>
                </a:solidFill>
                <a:latin typeface="Calibri"/>
              </a:defRPr>
            </a:pPr>
            <a:r>
              <a:t>Consider: what is currently the biggest bottleneck?</a:t>
            </a:r>
          </a:p>
          <a:p>
            <a:pPr>
              <a:spcAft>
                <a:spcPts val="800"/>
              </a:spcAft>
              <a:defRPr sz="1800">
                <a:solidFill>
                  <a:srgbClr val="F0F0F0"/>
                </a:solidFill>
                <a:latin typeface="Calibri"/>
              </a:defRPr>
            </a:pPr>
            <a:r>
              <a:t>Bonus: what are the risks of using AI in each area?</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WEEK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is slow (12-15 years), expensive ($2.6B), and risky (&gt;90% failure)</a:t>
            </a:r>
          </a:p>
          <a:p>
            <a:pPr>
              <a:spcAft>
                <a:spcPts val="800"/>
              </a:spcAft>
              <a:defRPr sz="2200">
                <a:solidFill>
                  <a:srgbClr val="FFFFFF"/>
                </a:solidFill>
                <a:latin typeface="Calibri"/>
              </a:defRPr>
            </a:pPr>
            <a:r>
              <a:t>AI can accelerate every stage - from target ID to clinical trials</a:t>
            </a:r>
          </a:p>
          <a:p>
            <a:pPr>
              <a:spcAft>
                <a:spcPts val="800"/>
              </a:spcAft>
              <a:defRPr sz="2200">
                <a:solidFill>
                  <a:srgbClr val="FFFFFF"/>
                </a:solidFill>
                <a:latin typeface="Calibri"/>
              </a:defRPr>
            </a:pPr>
            <a:r>
              <a:t>Real examples: Insilico Medicine, AlphaFold, BenevolentAI</a:t>
            </a:r>
          </a:p>
          <a:p>
            <a:pPr>
              <a:spcAft>
                <a:spcPts val="800"/>
              </a:spcAft>
              <a:defRPr sz="2200">
                <a:solidFill>
                  <a:srgbClr val="FFFFFF"/>
                </a:solidFill>
                <a:latin typeface="Calibri"/>
              </a:defRPr>
            </a:pPr>
            <a:r>
              <a:t>SMILES notation converts molecules into computer-readable text</a:t>
            </a:r>
          </a:p>
          <a:p>
            <a:pPr>
              <a:spcAft>
                <a:spcPts val="800"/>
              </a:spcAft>
              <a:defRPr sz="2200">
                <a:solidFill>
                  <a:srgbClr val="FFFFFF"/>
                </a:solidFill>
                <a:latin typeface="Calibri"/>
              </a:defRPr>
            </a:pPr>
            <a:r>
              <a:t>Bioactivity data (IC50, Ki) measures drug-target interactions</a:t>
            </a:r>
          </a:p>
          <a:p>
            <a:pPr>
              <a:spcAft>
                <a:spcPts val="800"/>
              </a:spcAft>
              <a:defRPr sz="2200">
                <a:solidFill>
                  <a:srgbClr val="FFFFFF"/>
                </a:solidFill>
                <a:latin typeface="Calibri"/>
              </a:defRPr>
            </a:pPr>
            <a:r>
              <a:t>RDKit is the essential Python toolkit for cheminformatics</a:t>
            </a:r>
          </a:p>
          <a:p>
            <a:pPr>
              <a:spcAft>
                <a:spcPts val="800"/>
              </a:spcAft>
              <a:defRPr sz="2200">
                <a:solidFill>
                  <a:srgbClr val="FFFFFF"/>
                </a:solidFill>
                <a:latin typeface="Calibri"/>
              </a:defRPr>
            </a:pPr>
            <a:r>
              <a:t>The computational pipeline (signal -&gt; features -&gt; model) is universal</a:t>
            </a:r>
          </a:p>
          <a:p>
            <a:pPr>
              <a:spcAft>
                <a:spcPts val="800"/>
              </a:spcAft>
              <a:defRPr sz="2200">
                <a:solidFill>
                  <a:srgbClr val="FFFFFF"/>
                </a:solidFill>
                <a:latin typeface="Calibri"/>
              </a:defRPr>
            </a:pPr>
            <a:r>
              <a:t>Personalized medicine (mRNA vaccines) shows where we are heading</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Next Week: Molecular Representation &amp; Baseline ML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Deep dive into SMILES notation</a:t>
            </a:r>
          </a:p>
          <a:p>
            <a:pPr>
              <a:spcAft>
                <a:spcPts val="800"/>
              </a:spcAft>
              <a:defRPr sz="2000">
                <a:solidFill>
                  <a:srgbClr val="323232"/>
                </a:solidFill>
                <a:latin typeface="Calibri"/>
              </a:defRPr>
            </a:pPr>
            <a:r>
              <a:t>Molecular fingerprints: ECFP / Morgan</a:t>
            </a:r>
          </a:p>
          <a:p>
            <a:pPr>
              <a:spcAft>
                <a:spcPts val="800"/>
              </a:spcAft>
              <a:defRPr sz="2000">
                <a:solidFill>
                  <a:srgbClr val="323232"/>
                </a:solidFill>
                <a:latin typeface="Calibri"/>
              </a:defRPr>
            </a:pPr>
            <a:r>
              <a:t>Feature engineering for molecules</a:t>
            </a:r>
          </a:p>
          <a:p>
            <a:pPr>
              <a:spcAft>
                <a:spcPts val="800"/>
              </a:spcAft>
              <a:defRPr sz="2000">
                <a:solidFill>
                  <a:srgbClr val="323232"/>
                </a:solidFill>
                <a:latin typeface="Calibri"/>
              </a:defRPr>
            </a:pPr>
            <a:r>
              <a:t>QSAR: Quantitative Structure-Activity Relationships</a:t>
            </a:r>
          </a:p>
          <a:p>
            <a:pPr>
              <a:spcAft>
                <a:spcPts val="800"/>
              </a:spcAft>
              <a:defRPr sz="2000">
                <a:solidFill>
                  <a:srgbClr val="323232"/>
                </a:solidFill>
                <a:latin typeface="Calibri"/>
              </a:defRPr>
            </a:pPr>
            <a:r>
              <a:t>Train your first ML model on molecular data!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Read: Muegge &amp; Mukherjee (2016), Expert Opinion on Drug Discovery 11:137-148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