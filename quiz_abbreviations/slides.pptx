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quiz at the start of Day 2 AFTER the physiology intro and BEFORE the molecular ML lecture. It takes about 20-25 minutes. Questions are deliberately easier than Quiz 1 — the goal is to introduce and reinforce terminology that CS students will encounter all day. Each answer slide has a detailed explanation that teaches the concept from first principles.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CS students guess 'Simplified' correctly if they've seen it on Day 1. If not, this is a great vocabulary intro.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CITATION: Weininger, D. (1988) 'SMILES, a chemical language and information system. 1. Introduction to methodology and encoding rules.' J. Chem. Inf. Comput. Sci. 28:31-36.</a:t>
            </a:r>
          </a:p>
          <a:p/>
          <a:p>
            <a:r>
              <a:t>EXPLAIN IN DETAIL:</a:t>
            </a:r>
          </a:p>
          <a:p>
            <a:r>
              <a:t>- Before SMILES, there was no good standard way to put molecules into computers. Chemists drew structures by hand or used complicated graph formats.</a:t>
            </a:r>
          </a:p>
          <a:p>
            <a:r>
              <a:t>- Weininger designed SMILES to be human-readable AND machine-parseable. Key insight: if you do a depth-first traversal of the molecular graph and write down each atom and bond you encounter, you get a compact linear string.</a:t>
            </a:r>
          </a:p>
          <a:p>
            <a:r>
              <a:t>- Example: Ethanol = CCO (a chain of 2 carbons and an oxygen). Aspirin = CC(=O)Oc1ccccc1C(=O)O (more complex: an acetyl group, an ester oxygen, a benzene ring, and a carboxylic acid).</a:t>
            </a:r>
          </a:p>
          <a:p>
            <a:r>
              <a:t>- The 'Simplified' part: SMILES doesn't capture all stereochemistry by default, and it ignores most hydrogen atoms (they are implicit). A 'Full' version with explicit hydrogens and stereochemistry is InChI (IUPAC standard).</a:t>
            </a:r>
          </a:p>
          <a:p>
            <a:r>
              <a:t>- WHY IT MATTERS FOR ML: Any ML model that works with molecules needs a way to represent them. SMILES = the standard text input. From SMILES, we compute fingerprints (today's lecture), graph representations (Day 3), or feed directly into language models (SMILES as a 'molecular language').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QSAR is the central concept of today's lecture. Students should know this from Day 1 but may not remember the full expansion.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CITATION: Hansch, C. &amp; Fujita, T. (1964) 'ρ-σ-π Analysis. A Method for the Correlation of Biological Activity and Chemical Structure.' J. Am. Chem. Soc. 86:1616-1626. This 1964 paper by Corwin Hansch is the founding paper of computational medicinal chemistry.</a:t>
            </a:r>
          </a:p>
          <a:p/>
          <a:p>
            <a:r>
              <a:t>EXPLAIN IN DETAIL:</a:t>
            </a:r>
          </a:p>
          <a:p>
            <a:r>
              <a:t>- The core hypothesis of QSAR: if you know the STRUCTURE of a molecule (its atoms, bonds, shape, electronic properties), you can PREDICT its biological ACTIVITY (how strongly it binds to a protein, how toxic it is, how soluble it is).</a:t>
            </a:r>
          </a:p>
          <a:p>
            <a:r>
              <a:t>- This is actually a deep biological insight: drugs work by binding to proteins. Binding depends on shape complementarity and chemical compatibility (hydrogen bonds, hydrophobic contacts, electrostatics). Both the drug shape/chemistry AND the protein shape/chemistry are determined by molecular structure. Therefore structure → activity.</a:t>
            </a:r>
          </a:p>
          <a:p>
            <a:r>
              <a:t>- For CS students: QSAR is essentially supervised learning with molecules as inputs and activity values as outputs. The main challenge is: how do you represent a molecule as a feature vector? (Answer: fingerprints and descriptors — today's lecture.)</a:t>
            </a:r>
          </a:p>
          <a:p>
            <a:r>
              <a:t>- QUANTITATIVE: not just active/inactive (binary), but the actual IC50 or logS or binding affinity value. This allows regression, not just classification.</a:t>
            </a:r>
          </a:p>
          <a:p>
            <a:r>
              <a:t>- EXAMPLES: Predict aqueous solubility (today's practical), predict hERG channel blocking, predict BBB penetration, predict metabolic stability — all QSAR tasks.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ADMET is a central concept in drug optimization. Knowing what each letter stands for helps students understand why we care about properties beyond just binding affinity.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IN DETAIL (each letter matters):</a:t>
            </a:r>
          </a:p>
          <a:p/>
          <a:p>
            <a:r>
              <a:t>A — ABSORPTION: Can the drug get from where you take it (stomach, skin, lung) into the bloodstream? For oral drugs, this means surviving stomach acid, crossing the intestinal wall, and surviving first-pass metabolism in the liver. Lipinski's Ro5 predicts this from molecular structure.</a:t>
            </a:r>
          </a:p>
          <a:p/>
          <a:p>
            <a:r>
              <a:t>D — DISTRIBUTION: Once in the bloodstream, does the drug reach the RIGHT tissue? For CNS drugs, the blood-brain barrier (BBB) is the key challenge. For cancer drugs, the tumor microenvironment. For heart drugs, cardiac tissue. Predicted by BBB permeability models, LogP, plasma protein binding models.</a:t>
            </a:r>
          </a:p>
          <a:p/>
          <a:p>
            <a:r>
              <a:t>M — METABOLISM: How quickly is the drug broken down, and into what products? The liver is the main metabolic organ (cytochrome P450 enzymes metabolize most drugs). Fast metabolism = drug is cleared quickly (short half-life). Some metabolites can be MORE toxic than the original drug (e.g., acetaminophen overdose: its metabolite NAPQI is the toxic species). AI predicts CYP450 interactions.</a:t>
            </a:r>
          </a:p>
          <a:p/>
          <a:p>
            <a:r>
              <a:t>E — EXCRETION: How does the drug leave the body? Mainly kidneys (urine) or bile (feces). Important for dosing schedules. Poor excretion → drug accumulates → toxicity.</a:t>
            </a:r>
          </a:p>
          <a:p/>
          <a:p>
            <a:r>
              <a:t>T — TOXICITY: Does the drug harm any tissue/organ? The most feared: hERG block (cardiac arrhythmia), hepatotoxicity (liver damage), genotoxicity (DNA damage → cancer risk). Predicting toxicity is one of the main AI applications in drug discovery — if you can eliminate toxic compounds in silico (computationally), you save enormously expensive animal and clinical trials.</a:t>
            </a:r>
          </a:p>
          <a:p/>
          <a:p>
            <a:r>
              <a:t>WHY AI IS ESSENTIAL: A drug that binds its target but fails ADMET is useless. In drug discovery, roughly 40% of failures are due to ADMET issues. Traditional approaches test ADMET in animals (expensive, slow). AI models trained on large databases can predict ADMET properties from structure alone — potentially before synthesis.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IC50 is the most common bioactivity measure in medicinal chemistry. Students need to understand this to interpret ChEMBL data and QSAR predictions.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IN DETAIL:</a:t>
            </a:r>
          </a:p>
          <a:p>
            <a:r>
              <a:t>- IC50 = Inhibitory Concentration 50%. The concentration of drug needed to reduce a target's activity by 50%. This is measured in an assay: add increasing concentrations of drug, measure how much the target is inhibited at each concentration, fit a sigmoidal curve, read off the 50% point.</a:t>
            </a:r>
          </a:p>
          <a:p>
            <a:r>
              <a:t>- Units: usually nM (nanomolar), μM (micromolar), or mM (millimolar). 1 nM = one billionth of a mole per liter.</a:t>
            </a:r>
          </a:p>
          <a:p>
            <a:r>
              <a:t>- A drug with IC50 = 1 nM is MORE potent than a drug with IC50 = 1000 nM (1 μM), because you need 1000× less of it to achieve the same effect.</a:t>
            </a:r>
          </a:p>
          <a:p>
            <a:r>
              <a:t>- WHY 50%? It's the midpoint of the dose-response curve, where the measurement is most precise (the slope is steepest). It's a convention, not a magic threshold.</a:t>
            </a:r>
          </a:p>
          <a:p>
            <a:r>
              <a:t>- pIC50 = -log10(IC50). If IC50 = 1 nM = 10^-9 M, then pIC50 = -log10(10^-9) = 9. Higher pIC50 = better drug. QSAR models often predict pIC50 (or logIC50) because it's a better scale for linear regression.</a:t>
            </a:r>
          </a:p>
          <a:p>
            <a:r>
              <a:t>- LD50: Lethal Dose 50% — the dose that kills 50% of animals in a toxicity test. Completely different concept from IC50.</a:t>
            </a:r>
          </a:p>
          <a:p>
            <a:r>
              <a:t>- EC50: Effective Concentration 50% — for agonists (drugs that ACTIVATE a target). The concentration that produces 50% of maximal activation. If you're talking about an agonist (like a drug that activates a receptor), you use EC50. If it's an inhibitor (like an enzyme blocker or channel blocker), you use IC50.</a:t>
            </a:r>
          </a:p>
          <a:p>
            <a:r>
              <a:t>- Ki: binding affinity constant. Measured differently (competition assay). Lower Ki = tighter binding.</a:t>
            </a:r>
          </a:p>
          <a:p>
            <a:r>
              <a:t>- ChEMBL: a database maintained by EMBL-EBI containing ~2.5 million compounds with experimental IC50/Ki/EC50 measurements. This is the main training data source for QSAR models.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BBB is crucial for CNS drug development. This question teaches why we need special molecular properties for drugs that treat brain diseases.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IN DETAIL:</a:t>
            </a:r>
          </a:p>
          <a:p>
            <a:r>
              <a:t>- The brain is one of the most protected organs in the body. It sits inside the skull (physical protection) AND has a specialized molecular barrier.</a:t>
            </a:r>
          </a:p>
          <a:p>
            <a:r>
              <a:t>- Blood-brain barrier structure: brain capillaries (tiny blood vessels) are lined by endothelial cells that are joined by 'tight junctions' — protein complexes that seal the gaps between cells. In other organs, small molecules can slip between endothelial cells. In the brain, they can't.</a:t>
            </a:r>
          </a:p>
          <a:p>
            <a:r>
              <a:t>- How do molecules cross the BBB? Only a few ways:</a:t>
            </a:r>
          </a:p>
          <a:p>
            <a:r>
              <a:t>  1. Simple diffusion: if the molecule is small and lipophilic (fat-soluble), it dissolves in the membrane and passes through. This is the main route for CNS drugs.</a:t>
            </a:r>
          </a:p>
          <a:p>
            <a:r>
              <a:t>  2. Transporter proteins: specific transporters actively carry certain molecules across (glucose, amino acids, some drugs). Also works in REVERSE — efflux transporters (P-glycoprotein) PUMP drugs BACK OUT of the brain!</a:t>
            </a:r>
          </a:p>
          <a:p>
            <a:r>
              <a:t>  3. Receptor-mediated transcytosis: used by proteins like insulin.</a:t>
            </a:r>
          </a:p>
          <a:p>
            <a:r>
              <a:t>- The BBB evolved to protect the brain from toxins, pathogens, and fluctuations in blood composition. But for drug discovery, it's an obstacle.</a:t>
            </a:r>
          </a:p>
          <a:p>
            <a:r>
              <a:t>- WHY THIS MATTERS: L-DOPA is used for Parkinson's instead of dopamine BECAUSE dopamine doesn't cross the BBB well, but L-DOPA does (it uses an amino acid transporter). Once inside the brain, L-DOPA is converted to dopamine by DOPA decarboxylase.</a:t>
            </a:r>
          </a:p>
          <a:p>
            <a:r>
              <a:t>- MOLECULAR RULES FOR BBB PENETRATION (for QSAR models):</a:t>
            </a:r>
          </a:p>
          <a:p>
            <a:r>
              <a:t>  MW &lt; 450 Da (smaller → more easily diffuses)</a:t>
            </a:r>
          </a:p>
          <a:p>
            <a:r>
              <a:t>  logP 1-3 (some lipophilicity needed, but too lipophilic = bad)</a:t>
            </a:r>
          </a:p>
          <a:p>
            <a:r>
              <a:t>  HBD (hydrogen bond donors) &lt; 3 (hydrogen bonds make molecules sticky, slow diffusion)</a:t>
            </a:r>
          </a:p>
          <a:p>
            <a:r>
              <a:t>  TPSA (total polar surface area) &lt; 90 Å²</a:t>
            </a:r>
          </a:p>
          <a:p>
            <a:r>
              <a:t>  These are the Lipinski-like rules for CNS drugs (Pardridge, 2005).</a:t>
            </a:r>
          </a:p>
          <a:p>
            <a:r>
              <a:t>- CNS DRUG CHALLENGE: ~97% of CNS drug candidates fail in clinical trials. The BBB is a major reason. AI that accurately predicts BBB penetration would be enormously valuable.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directly relates to today's lecture content. Most students will have seen ECFP4 mentioned on Day 1 but may not know what the number means.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CITATION: Rogers &amp; Hahn (2010) 'Extended-Connectivity Fingerprints.' J. Chem. Inf. Model. 50(5):742-754. This paper formalized Morgan fingerprints as ECFP. The original Morgan algorithm dates to 1965: Morgan, H.L. (1965) J. Chem. Doc. 5:107-113.</a:t>
            </a:r>
          </a:p>
          <a:p/>
          <a:p>
            <a:r>
              <a:t>EXPLAIN IN DETAIL:</a:t>
            </a:r>
          </a:p>
          <a:p>
            <a:r>
              <a:t>- A fingerprint is a fixed-length vector of 0s and 1s (bits) that describes a molecule. Each bit says 'yes' or 'no' to whether the molecule contains a specific chemical substructure.</a:t>
            </a:r>
          </a:p>
          <a:p>
            <a:r>
              <a:t>- Think of it like a boolean feature vector: does the molecule have a benzene ring? (1/0). Does it have a carboxylic acid group? (1/0). Does it have a nitrogen connected to two carbons with an adjacent double bond? (1/0). With 2048 bits, you can encode 2048 such questions.</a:t>
            </a:r>
          </a:p>
          <a:p>
            <a:r>
              <a:t>- MORGAN/ECFP ALGORITHM:</a:t>
            </a:r>
          </a:p>
          <a:p>
            <a:r>
              <a:t>  1. Start at each heavy atom in the molecule</a:t>
            </a:r>
          </a:p>
          <a:p>
            <a:r>
              <a:t>  2. Collect information about the atom itself (atomic number, charge, etc.)</a:t>
            </a:r>
          </a:p>
          <a:p>
            <a:r>
              <a:t>  3. Look at all atoms 1 bond away ('radius 1 neighborhood') — collect their info, hash it together</a:t>
            </a:r>
          </a:p>
          <a:p>
            <a:r>
              <a:t>  4. Look at all atoms 2 bonds away ('radius 2 neighborhood') — hash together</a:t>
            </a:r>
          </a:p>
          <a:p>
            <a:r>
              <a:t>  5. All the hashed identifiers from all atoms at all radii → map to bit positions in a 2048-bit vector</a:t>
            </a:r>
          </a:p>
          <a:p>
            <a:r>
              <a:t>- ECFP4: each number (4) is the DIAMETER = 2× radius. ECFP4 uses radius 2, meaning it looks 2 bonds away from each center atom. ECFP6 uses radius 3.</a:t>
            </a:r>
          </a:p>
          <a:p>
            <a:r>
              <a:t>- WHY BINARY? Machine learning algorithms (especially kernel SVMs and similarity calculations) work efficiently with binary vectors. It also compresses information — Tanimoto similarity between two fingerprints can be computed as |A AND B| / |A OR B|.</a:t>
            </a:r>
          </a:p>
          <a:p>
            <a:r>
              <a:t>- PRACTICAL: In RDKit: from rdkit.Chem import AllChem; fp = AllChem.GetMorganFingerprintAsBitVect(mol, radius=2, nBits=2048)</a:t>
            </a:r>
          </a:p>
          <a:p>
            <a:r>
              <a:t>- This single line is one of the most important operations in practical molecular ML. We will use it in Practical 1 today.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HTS vs. virtual screening is a key contrast for understanding why AI is valuable. Many students will not know what HTS is.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IN DETAIL:</a:t>
            </a:r>
          </a:p>
          <a:p>
            <a:r>
              <a:t>- Traditional HTS: large pharmaceutical companies maintain 'compound libraries' of 1-2 million drug-like molecules, synthesized and stored over decades. To find a drug, they run an automated robot that dispensed tiny amounts (~1-10 nanoliters) of each compound into wells of a 384-well (or 1536-well) plate, adds their target protein (e.g., an enzyme), and measures a signal (fluorescence, luminescence, absorbance) that indicates whether the compound inhibited the target.</a:t>
            </a:r>
          </a:p>
          <a:p>
            <a:r>
              <a:t>- THROUGHPUT: modern HTS can screen 100,000-500,000 compounds per day. A full library of 1 million compounds takes ~2 weeks to screen.</a:t>
            </a:r>
          </a:p>
          <a:p>
            <a:r>
              <a:t>- COST: $1-3 per compound tested, so a 1M compound screen costs ~$1-3 million. Plus the cost of library maintenance, assay development, and follow-up validation.</a:t>
            </a:r>
          </a:p>
          <a:p>
            <a:r>
              <a:t>- VIRTUAL SCREENING: instead of physically testing each compound, we use a computer model (QSAR, docking, or GNN) to predict which compounds are most likely to be active. Then we only TEST the top-predicted compounds.</a:t>
            </a:r>
          </a:p>
          <a:p>
            <a:r>
              <a:t>- ADVANTAGE: chemical space is estimated at 10^60 drug-like molecules (much larger than 1 million). Virtual screening can explore this space computationally. HTS can only screen what you already have in a bottle.</a:t>
            </a:r>
          </a:p>
          <a:p>
            <a:r>
              <a:t>- DISADVANTAGE: virtual screening makes predictions based on a model, which has uncertainty. Some good compounds will be missed (false negatives), and some predicted actives will fail in the real assay (false positives). BUT: even if virtual screening misses half the actives, if it enriches the hit rate from 0.1% to 10%, you've reduced the required number of real assays by 100×.</a:t>
            </a:r>
          </a:p>
          <a:p>
            <a:r>
              <a:t>- THE AI WORKFLOW: virtual screening identifies top candidates (100-10,000 compounds) → these are physically tested in HTS → hits are confirmed and optimized → ADMET testing → clinical trials.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SHAP is covered in detail later today. This question introduces the term early so students are primed for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CITATION: Lundberg &amp; Lee (2017) 'A Unified Approach to Interpreting Model Predictions.' NeurIPS 30:4765-4774.</a:t>
            </a:r>
          </a:p>
          <a:p/>
          <a:p>
            <a:r>
              <a:t>EXPLAIN IN DETAIL:</a:t>
            </a:r>
          </a:p>
          <a:p>
            <a:r>
              <a:t>- Lloyd Shapley was a mathematician and economist who won the 2012 Nobel Prize in Economics. In 1953, he introduced 'Shapley values' as a fair way to distribute payoffs in a cooperative game: if several players cooperate to earn a reward, how much should each player get?</a:t>
            </a:r>
          </a:p>
          <a:p>
            <a:r>
              <a:t>- The key idea: a player's contribution = average of their marginal contributions across all possible orderings of players joining the coalition.</a:t>
            </a:r>
          </a:p>
          <a:p>
            <a:r>
              <a:t>- SHAP APPLIES THIS TO ML: instead of 'players', we have 'features'. Instead of 'payout', we have 'prediction'. For a specific molecule with a specific predicted pIC50 = 8.3, SHAP tells you: feature 'aromatic ring count' contributed +0.5, feature 'chlorine at position X' contributed +1.2, feature 'high molecular weight' contributed -0.8, etc. All contributions sum to: prediction - baseline prediction.</a:t>
            </a:r>
          </a:p>
          <a:p>
            <a:r>
              <a:t>- WHY THIS MATTERS:</a:t>
            </a:r>
          </a:p>
          <a:p>
            <a:r>
              <a:t>  1. Regulatory acceptance: FDA wants to understand model decisions. SHAP provides audit trail.</a:t>
            </a:r>
          </a:p>
          <a:p>
            <a:r>
              <a:t>  2. Chemist trust: medicinal chemists can say 'I see — the model predicts this is active because of the methyl group at position 3. I understand that from my experience.' Or they can say 'That SHAP attribution makes no sense chemically — I don't trust this prediction.'</a:t>
            </a:r>
          </a:p>
          <a:p>
            <a:r>
              <a:t>  3. New knowledge: if SHAP says the chlorine at position 4 is always the most important feature for hERG block, you now know a design rule: avoid chlorine at position 4.</a:t>
            </a:r>
          </a:p>
          <a:p>
            <a:r>
              <a:t>  4. Debugging: if SHAP says the model is using a structural feature that shouldn't matter (e.g., the SMILES string length), you've found a data leak or artifact.</a:t>
            </a:r>
          </a:p>
          <a:p>
            <a:r>
              <a:t>- PRACTICAL USE: we use shap.TreeExplainer for Random Forest and XGBoost (computationally exact, fast). For deep learning: KernelSHAP or DeepSHAP (approximate).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fundamental biology question. CS students may confuse 'receptor' with everyday usage. Understanding what receptors are is essential for making sense of drug mechanisms.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IN DETAIL:</a:t>
            </a:r>
          </a:p>
          <a:p>
            <a:r>
              <a:t>- In pharmacology, 'receptor' has a VERY specific meaning: a macromolecule (almost always a protein) that binds a ligand (drug or endogenous molecule like a neurotransmitter or hormone) with high specificity and affinity, and as a result changes its activity (is 'activated' or 'blocked').</a:t>
            </a:r>
          </a:p>
          <a:p>
            <a:r>
              <a:t>- DO NOT CONFUSE WITH:</a:t>
            </a:r>
          </a:p>
          <a:p>
            <a:r>
              <a:t>  1. Sensory receptor = a cell that detects stimuli (photoreceptor in the eye detects light). These CONTAIN receptor proteins, but the cell is not itself what pharmacologists call 'a receptor'.</a:t>
            </a:r>
          </a:p>
          <a:p>
            <a:r>
              <a:t>  2. Electron acceptor in chemistry = completely different, electron transfer context.</a:t>
            </a:r>
          </a:p>
          <a:p>
            <a:r>
              <a:t>  3. Medical monitoring device = no relation.</a:t>
            </a:r>
          </a:p>
          <a:p/>
          <a:p>
            <a:r>
              <a:t>- CLASSES OF DRUG RECEPTORS:</a:t>
            </a:r>
          </a:p>
          <a:p>
            <a:r>
              <a:t>  1. GPCRs (G Protein-Coupled Receptors): ~800 in the human genome. 7 membrane-spanning domains. When activated by agonist → change shape → activates G protein inside cell → second messenger cascade (cAMP, IP3, etc.) → cellular response. Examples: dopamine D2 receptor, beta-2 adrenergic receptor (asthma inhalers), opioid receptors. ~34% of all drugs target GPCRs.</a:t>
            </a:r>
          </a:p>
          <a:p>
            <a:r>
              <a:t>  2. Ligand-gated ion channels: protein pore that opens when a specific molecule binds. Examples: GABA-A (opens Cl- pore), nAChR (opens Na+/K+ pore), NMDA receptor (glutamate, opens Ca2+ pore). Also called 'ionotropic receptors'. ~15% of drugs target ion channels overall.</a:t>
            </a:r>
          </a:p>
          <a:p>
            <a:r>
              <a:t>  3. Receptor tyrosine kinases (RTKs): cell surface proteins that become enzymes when activated. Important in cancer (e.g., EGFR, HER2). Targeted by many kinase inhibitor drugs (imatinib, erlotinib).</a:t>
            </a:r>
          </a:p>
          <a:p>
            <a:r>
              <a:t>  4. Nuclear receptors: receptors inside the cell that, when bound by lipophilic hormones (steroids, thyroid hormones), move to the nucleus and change gene expression. Examples: estrogen receptor (tamoxifen for breast cancer), glucocorticoid receptor (prednisone).</a:t>
            </a:r>
          </a:p>
          <a:p/>
          <a:p>
            <a:r>
              <a:t>- THE LOCK-AND-KEY MODEL: drugs bind receptors like a key fits a lock. The drug shape must match the receptor binding pocket shape. This is exactly what molecular docking (Day 3) and QSAR predict: given a molecular structure, does it fit the receptor?</a:t>
            </a:r>
          </a:p>
          <a:p/>
          <a:p>
            <a:r>
              <a:t>- AGONIST vs. ANTAGONIST: an agonist ACTIVATES the receptor (turns it ON). An antagonist BLOCKS the receptor (prevents activation, turns it OFF). A partial agonist activates it partially. An inverse agonist suppresses below baseline activity.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LogP comes up constantly in drug design (Lipinski's Rule of Five, BBB penetration, ADMET). Students need to understand what it measures conceptually.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IN DETAIL:</a:t>
            </a:r>
          </a:p>
          <a:p>
            <a:r>
              <a:t>- P = partition coefficient. If you shake a drug with octanol (a fatty oil-like liquid) and water, the drug distributes between the two layers. P = [drug in octanol layer] / [drug in water layer].</a:t>
            </a:r>
          </a:p>
          <a:p>
            <a:r>
              <a:t>- Octanol is used as a MODEL for biological membranes (cell membrane lipid bilayer). Octanol is a fatty 8-carbon alcohol that mimics the lipid part of biological membranes reasonably well.</a:t>
            </a:r>
          </a:p>
          <a:p>
            <a:r>
              <a:t>- LogP: since P values range from 0.0001 to 100,000+, we use the log10 scale. LogP = 0 means equal distribution (P=1, 50/50 in both). LogP = 3 means 1000× more in octanol (lipophilic). LogP = -2 means 100× more in water (hydrophilic).</a:t>
            </a:r>
          </a:p>
          <a:p>
            <a:r>
              <a:t>- WHY DOES THIS MATTER FOR DRUG DISCOVERY?</a:t>
            </a:r>
          </a:p>
          <a:p>
            <a:r>
              <a:t>  1. Oral absorption: drugs must cross the intestinal cell membrane (lipid bilayer). Some lipophilicity is needed. But too lipophilic → poor water solubility → can't be absorbed from the gut → insoluble tablets!</a:t>
            </a:r>
          </a:p>
          <a:p>
            <a:r>
              <a:t>  2. BBB penetration: brain capillary membranes are tight. Lipophilic molecules diffuse through more easily. BBB target: LogP 1-3.</a:t>
            </a:r>
          </a:p>
          <a:p>
            <a:r>
              <a:t>  3. Metabolism: more lipophilic drugs tend to be metabolized faster by the liver (the liver tries to make lipophilic drugs more water-soluble so the kidneys can excrete them). Drug half-life correlates with LogP.</a:t>
            </a:r>
          </a:p>
          <a:p>
            <a:r>
              <a:t>  4. Toxicity: very lipophilic drugs can accumulate in fatty tissues (liver, brain fat), leading to chronic toxicity.</a:t>
            </a:r>
          </a:p>
          <a:p>
            <a:r>
              <a:t>- LIPINSKI'S RULE: LogP ≤ 5. This excludes very lipophilic molecules that would be poorly absorbed or highly toxic.</a:t>
            </a:r>
          </a:p>
          <a:p>
            <a:r>
              <a:t>- CALCULATED vs. EXPERIMENTAL: experimental LogP (shake-flask method) is expensive. Computational LogP (cLogP) can be predicted instantly from molecular structure. RDKit: Chem.Descriptors.MolLogP(mol). Accuracy of computed LogP: ~0.5-1 log unit.</a:t>
            </a:r>
          </a:p>
          <a:p>
            <a:r>
              <a:t>- RELATED DESCRIPTORS: LogD = LogP at a specific pH (important for drugs that can be ionized). TPSA = Total Polar Surface Area (related to, but different from, LogP — measures the area of polar atoms).</a:t>
            </a:r>
          </a:p>
          <a:p>
            <a:r>
              <a:t>- FOR TODAY'S PRACTICAL: LogP is one of the key features we include alongside Morgan fingerprints in our QSAR model.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of Quiz 2. Transition to the main Day 2 lecture on molecular ML. Students should now understand the key abbreviations they'll encounter all day. Reference back to these definitions as needed throughout the 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548640"/>
            <a:ext cx="4572000" cy="548640"/>
          </a:xfrm>
          <a:prstGeom prst="rect">
            <a:avLst/>
          </a:prstGeom>
          <a:noFill/>
        </p:spPr>
        <p:txBody>
          <a:bodyPr wrap="square">
            <a:spAutoFit/>
          </a:bodyPr>
          <a:lstStyle/>
          <a:p>
            <a:pPr algn="l">
              <a:defRPr sz="1600" b="1">
                <a:solidFill>
                  <a:srgbClr val="1F77B4"/>
                </a:solidFill>
                <a:latin typeface="Calibri"/>
              </a:defRPr>
            </a:pPr>
            <a:r>
              <a:t>DAY 1 — 22 April 2026</a:t>
            </a:r>
          </a:p>
        </p:txBody>
      </p:sp>
      <p:sp>
        <p:nvSpPr>
          <p:cNvPr id="3" name="TextBox 2"/>
          <p:cNvSpPr txBox="1"/>
          <p:nvPr/>
        </p:nvSpPr>
        <p:spPr>
          <a:xfrm>
            <a:off x="731520" y="1645920"/>
            <a:ext cx="10058400" cy="1828800"/>
          </a:xfrm>
          <a:prstGeom prst="rect">
            <a:avLst/>
          </a:prstGeom>
          <a:noFill/>
        </p:spPr>
        <p:txBody>
          <a:bodyPr wrap="square">
            <a:spAutoFit/>
          </a:bodyPr>
          <a:lstStyle/>
          <a:p>
            <a:pPr algn="l">
              <a:defRPr sz="4400" b="1">
                <a:solidFill>
                  <a:srgbClr val="FFFFFF"/>
                </a:solidFill>
                <a:latin typeface="Calibri"/>
              </a:defRPr>
            </a:pPr>
            <a:r>
              <a:t>Drug Discovery: Abbreviations &amp; Biology Quiz</a:t>
            </a:r>
          </a:p>
        </p:txBody>
      </p:sp>
      <p:sp>
        <p:nvSpPr>
          <p:cNvPr id="4" name="TextBox 3"/>
          <p:cNvSpPr txBox="1"/>
          <p:nvPr/>
        </p:nvSpPr>
        <p:spPr>
          <a:xfrm>
            <a:off x="731520" y="3657600"/>
            <a:ext cx="10058400" cy="914400"/>
          </a:xfrm>
          <a:prstGeom prst="rect">
            <a:avLst/>
          </a:prstGeom>
          <a:noFill/>
        </p:spPr>
        <p:txBody>
          <a:bodyPr wrap="square">
            <a:spAutoFit/>
          </a:bodyPr>
          <a:lstStyle/>
          <a:p>
            <a:pPr algn="l">
              <a:defRPr sz="2200" b="0">
                <a:solidFill>
                  <a:srgbClr val="F0F0F0"/>
                </a:solidFill>
                <a:latin typeface="Calibri"/>
              </a:defRPr>
            </a:pPr>
            <a:r>
              <a:t>10 questions on key terms — from QSAR to receptors to the BBB</a:t>
            </a:r>
          </a:p>
        </p:txBody>
      </p:sp>
      <p:sp>
        <p:nvSpPr>
          <p:cNvPr id="5" name="TextBox 4"/>
          <p:cNvSpPr txBox="1"/>
          <p:nvPr/>
        </p:nvSpPr>
        <p:spPr>
          <a:xfrm>
            <a:off x="731520" y="5669280"/>
            <a:ext cx="4572000" cy="457200"/>
          </a:xfrm>
          <a:prstGeom prst="rect">
            <a:avLst/>
          </a:prstGeom>
          <a:noFill/>
        </p:spPr>
        <p:txBody>
          <a:bodyPr wrap="square">
            <a:spAutoFit/>
          </a:bodyPr>
          <a:lstStyle/>
          <a:p>
            <a:pPr algn="l">
              <a:defRPr sz="1400" b="0">
                <a:solidFill>
                  <a:srgbClr val="1F77B4"/>
                </a:solidFill>
                <a:latin typeface="Calibri"/>
              </a:defRPr>
            </a:pPr>
            <a:r>
              <a:t>AI for Drug Discovery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600" b="1">
                <a:solidFill>
                  <a:srgbClr val="1F77B4"/>
                </a:solidFill>
                <a:latin typeface="Calibri"/>
              </a:defRPr>
            </a:pPr>
            <a:r>
              <a:t>QUIZ — Question 1/10</a:t>
            </a:r>
          </a:p>
        </p:txBody>
      </p:sp>
      <p:sp>
        <p:nvSpPr>
          <p:cNvPr id="3" name="TextBox 2"/>
          <p:cNvSpPr txBox="1"/>
          <p:nvPr/>
        </p:nvSpPr>
        <p:spPr>
          <a:xfrm>
            <a:off x="731520" y="1005840"/>
            <a:ext cx="10515600" cy="1280160"/>
          </a:xfrm>
          <a:prstGeom prst="rect">
            <a:avLst/>
          </a:prstGeom>
          <a:noFill/>
        </p:spPr>
        <p:txBody>
          <a:bodyPr wrap="square">
            <a:spAutoFit/>
          </a:bodyPr>
          <a:lstStyle/>
          <a:p>
            <a:pPr algn="l">
              <a:defRPr sz="2800" b="1">
                <a:solidFill>
                  <a:srgbClr val="FFFFFF"/>
                </a:solidFill>
                <a:latin typeface="Calibri"/>
              </a:defRPr>
            </a:pPr>
            <a:r>
              <a:t>What does the abbreviation 'SMILES' stand for?</a:t>
            </a:r>
          </a:p>
        </p:txBody>
      </p:sp>
      <p:sp>
        <p:nvSpPr>
          <p:cNvPr id="4" name="Rounded Rectangle 3"/>
          <p:cNvSpPr/>
          <p:nvPr/>
        </p:nvSpPr>
        <p:spPr>
          <a:xfrm>
            <a:off x="1371600" y="283464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A)  Systematic Molecular Identification and Labeling Entry System</a:t>
            </a:r>
          </a:p>
        </p:txBody>
      </p:sp>
      <p:sp>
        <p:nvSpPr>
          <p:cNvPr id="5" name="Rounded Rectangle 4"/>
          <p:cNvSpPr/>
          <p:nvPr/>
        </p:nvSpPr>
        <p:spPr>
          <a:xfrm>
            <a:off x="1371600" y="379476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B)  Simplified Molecular Input Line Entry System</a:t>
            </a:r>
          </a:p>
        </p:txBody>
      </p:sp>
      <p:sp>
        <p:nvSpPr>
          <p:cNvPr id="6" name="Rounded Rectangle 5"/>
          <p:cNvSpPr/>
          <p:nvPr/>
        </p:nvSpPr>
        <p:spPr>
          <a:xfrm>
            <a:off x="1371600" y="475488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C)  Structured Molecular Index with Linked Entries System</a:t>
            </a:r>
          </a:p>
        </p:txBody>
      </p:sp>
      <p:sp>
        <p:nvSpPr>
          <p:cNvPr id="7" name="Rounded Rectangle 6"/>
          <p:cNvSpPr/>
          <p:nvPr/>
        </p:nvSpPr>
        <p:spPr>
          <a:xfrm>
            <a:off x="1371600" y="571500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D)  Standard Method for Indexing Large Element Sets</a:t>
            </a:r>
          </a:p>
        </p:txBody>
      </p:sp>
      <p:sp>
        <p:nvSpPr>
          <p:cNvPr id="8" name="TextBox 7"/>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274320"/>
            <a:ext cx="2743200" cy="365760"/>
          </a:xfrm>
          <a:prstGeom prst="rect">
            <a:avLst/>
          </a:prstGeom>
          <a:noFill/>
        </p:spPr>
        <p:txBody>
          <a:bodyPr wrap="square">
            <a:spAutoFit/>
          </a:bodyPr>
          <a:lstStyle/>
          <a:p>
            <a:pPr algn="l">
              <a:defRPr sz="1600" b="1">
                <a:solidFill>
                  <a:srgbClr val="27AE60"/>
                </a:solidFill>
                <a:latin typeface="Calibri"/>
              </a:defRPr>
            </a:pPr>
            <a:r>
              <a:t>ANSWER — Question 1/10</a:t>
            </a:r>
          </a:p>
        </p:txBody>
      </p:sp>
      <p:sp>
        <p:nvSpPr>
          <p:cNvPr id="3" name="TextBox 2"/>
          <p:cNvSpPr txBox="1"/>
          <p:nvPr/>
        </p:nvSpPr>
        <p:spPr>
          <a:xfrm>
            <a:off x="731520" y="731520"/>
            <a:ext cx="10515600" cy="822960"/>
          </a:xfrm>
          <a:prstGeom prst="rect">
            <a:avLst/>
          </a:prstGeom>
          <a:noFill/>
        </p:spPr>
        <p:txBody>
          <a:bodyPr wrap="square">
            <a:spAutoFit/>
          </a:bodyPr>
          <a:lstStyle/>
          <a:p>
            <a:pPr algn="l">
              <a:defRPr sz="2200" b="1">
                <a:solidFill>
                  <a:srgbClr val="F0F0F0"/>
                </a:solidFill>
                <a:latin typeface="Calibri"/>
              </a:defRPr>
            </a:pPr>
            <a:r>
              <a:t>What does the abbreviation 'SMILES' stand for?</a:t>
            </a:r>
          </a:p>
        </p:txBody>
      </p:sp>
      <p:sp>
        <p:nvSpPr>
          <p:cNvPr id="4" name="Rounded Rectangle 3"/>
          <p:cNvSpPr/>
          <p:nvPr/>
        </p:nvSpPr>
        <p:spPr>
          <a:xfrm>
            <a:off x="1371600" y="18288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A)  Systematic Molecular Identification and Labeling Entry System</a:t>
            </a:r>
          </a:p>
        </p:txBody>
      </p:sp>
      <p:sp>
        <p:nvSpPr>
          <p:cNvPr id="5" name="Rounded Rectangle 4"/>
          <p:cNvSpPr/>
          <p:nvPr/>
        </p:nvSpPr>
        <p:spPr>
          <a:xfrm>
            <a:off x="1371600" y="2514600"/>
            <a:ext cx="9144000" cy="594360"/>
          </a:xfrm>
          <a:prstGeom prst="roundRect">
            <a:avLst/>
          </a:prstGeom>
          <a:solidFill>
            <a:srgbClr val="27AE60"/>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FFFFFF"/>
                </a:solidFill>
                <a:latin typeface="Calibri"/>
              </a:defRPr>
            </a:pPr>
            <a:r>
              <a:t>  B)  Simplified Molecular Input Line Entry System</a:t>
            </a:r>
          </a:p>
        </p:txBody>
      </p:sp>
      <p:sp>
        <p:nvSpPr>
          <p:cNvPr id="6" name="Rounded Rectangle 5"/>
          <p:cNvSpPr/>
          <p:nvPr/>
        </p:nvSpPr>
        <p:spPr>
          <a:xfrm>
            <a:off x="1371600" y="32004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C)  Structured Molecular Index with Linked Entries System</a:t>
            </a:r>
          </a:p>
        </p:txBody>
      </p:sp>
      <p:sp>
        <p:nvSpPr>
          <p:cNvPr id="7" name="Rounded Rectangle 6"/>
          <p:cNvSpPr/>
          <p:nvPr/>
        </p:nvSpPr>
        <p:spPr>
          <a:xfrm>
            <a:off x="1371600" y="38862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D)  Standard Method for Indexing Large Element Sets</a:t>
            </a:r>
          </a:p>
        </p:txBody>
      </p:sp>
      <p:sp>
        <p:nvSpPr>
          <p:cNvPr id="8" name="TextBox 7"/>
          <p:cNvSpPr txBox="1"/>
          <p:nvPr/>
        </p:nvSpPr>
        <p:spPr>
          <a:xfrm>
            <a:off x="914400" y="4709160"/>
            <a:ext cx="10058400" cy="1828800"/>
          </a:xfrm>
          <a:prstGeom prst="rect">
            <a:avLst/>
          </a:prstGeom>
          <a:noFill/>
        </p:spPr>
        <p:txBody>
          <a:bodyPr wrap="square">
            <a:spAutoFit/>
          </a:bodyPr>
          <a:lstStyle/>
          <a:p>
            <a:pPr algn="l">
              <a:defRPr sz="1600" b="0">
                <a:solidFill>
                  <a:srgbClr val="FFFFFF"/>
                </a:solidFill>
                <a:latin typeface="Calibri"/>
              </a:defRPr>
            </a:pPr>
            <a:r>
              <a:t>✓ SMILES = Simplified Molecular Input Line Entry System.</a:t>
            </a:r>
            <a:br/>
            <a:r>
              <a:t>Invented by David Weininger (Daylight Chemical, 1988). Converts a 2D chemical structure into a text string. Essential for all molecular ML — it's how we give molecules to a computer.</a:t>
            </a:r>
          </a:p>
        </p:txBody>
      </p:sp>
      <p:sp>
        <p:nvSpPr>
          <p:cNvPr id="9" name="TextBox 8"/>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600" b="1">
                <a:solidFill>
                  <a:srgbClr val="1F77B4"/>
                </a:solidFill>
                <a:latin typeface="Calibri"/>
              </a:defRPr>
            </a:pPr>
            <a:r>
              <a:t>QUIZ — Question 2/10</a:t>
            </a:r>
          </a:p>
        </p:txBody>
      </p:sp>
      <p:sp>
        <p:nvSpPr>
          <p:cNvPr id="3" name="TextBox 2"/>
          <p:cNvSpPr txBox="1"/>
          <p:nvPr/>
        </p:nvSpPr>
        <p:spPr>
          <a:xfrm>
            <a:off x="731520" y="1005840"/>
            <a:ext cx="10515600" cy="1280160"/>
          </a:xfrm>
          <a:prstGeom prst="rect">
            <a:avLst/>
          </a:prstGeom>
          <a:noFill/>
        </p:spPr>
        <p:txBody>
          <a:bodyPr wrap="square">
            <a:spAutoFit/>
          </a:bodyPr>
          <a:lstStyle/>
          <a:p>
            <a:pPr algn="l">
              <a:defRPr sz="2800" b="1">
                <a:solidFill>
                  <a:srgbClr val="FFFFFF"/>
                </a:solidFill>
                <a:latin typeface="Calibri"/>
              </a:defRPr>
            </a:pPr>
            <a:r>
              <a:t>What does 'QSAR' stand for in drug discovery?</a:t>
            </a:r>
          </a:p>
        </p:txBody>
      </p:sp>
      <p:sp>
        <p:nvSpPr>
          <p:cNvPr id="4" name="Rounded Rectangle 3"/>
          <p:cNvSpPr/>
          <p:nvPr/>
        </p:nvSpPr>
        <p:spPr>
          <a:xfrm>
            <a:off x="1371600" y="283464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A)  Quantitative Structure-Activity Relationship</a:t>
            </a:r>
          </a:p>
        </p:txBody>
      </p:sp>
      <p:sp>
        <p:nvSpPr>
          <p:cNvPr id="5" name="Rounded Rectangle 4"/>
          <p:cNvSpPr/>
          <p:nvPr/>
        </p:nvSpPr>
        <p:spPr>
          <a:xfrm>
            <a:off x="1371600" y="379476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B)  Quality-Scaled Assay Results</a:t>
            </a:r>
          </a:p>
        </p:txBody>
      </p:sp>
      <p:sp>
        <p:nvSpPr>
          <p:cNvPr id="6" name="Rounded Rectangle 5"/>
          <p:cNvSpPr/>
          <p:nvPr/>
        </p:nvSpPr>
        <p:spPr>
          <a:xfrm>
            <a:off x="1371600" y="475488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C)  Quick Sequence Alignment and Ranking</a:t>
            </a:r>
          </a:p>
        </p:txBody>
      </p:sp>
      <p:sp>
        <p:nvSpPr>
          <p:cNvPr id="7" name="Rounded Rectangle 6"/>
          <p:cNvSpPr/>
          <p:nvPr/>
        </p:nvSpPr>
        <p:spPr>
          <a:xfrm>
            <a:off x="1371600" y="571500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D)  Qualified Sample Analysis Report</a:t>
            </a:r>
          </a:p>
        </p:txBody>
      </p:sp>
      <p:sp>
        <p:nvSpPr>
          <p:cNvPr id="8" name="TextBox 7"/>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274320"/>
            <a:ext cx="2743200" cy="365760"/>
          </a:xfrm>
          <a:prstGeom prst="rect">
            <a:avLst/>
          </a:prstGeom>
          <a:noFill/>
        </p:spPr>
        <p:txBody>
          <a:bodyPr wrap="square">
            <a:spAutoFit/>
          </a:bodyPr>
          <a:lstStyle/>
          <a:p>
            <a:pPr algn="l">
              <a:defRPr sz="1600" b="1">
                <a:solidFill>
                  <a:srgbClr val="27AE60"/>
                </a:solidFill>
                <a:latin typeface="Calibri"/>
              </a:defRPr>
            </a:pPr>
            <a:r>
              <a:t>ANSWER — Question 2/10</a:t>
            </a:r>
          </a:p>
        </p:txBody>
      </p:sp>
      <p:sp>
        <p:nvSpPr>
          <p:cNvPr id="3" name="TextBox 2"/>
          <p:cNvSpPr txBox="1"/>
          <p:nvPr/>
        </p:nvSpPr>
        <p:spPr>
          <a:xfrm>
            <a:off x="731520" y="731520"/>
            <a:ext cx="10515600" cy="822960"/>
          </a:xfrm>
          <a:prstGeom prst="rect">
            <a:avLst/>
          </a:prstGeom>
          <a:noFill/>
        </p:spPr>
        <p:txBody>
          <a:bodyPr wrap="square">
            <a:spAutoFit/>
          </a:bodyPr>
          <a:lstStyle/>
          <a:p>
            <a:pPr algn="l">
              <a:defRPr sz="2200" b="1">
                <a:solidFill>
                  <a:srgbClr val="F0F0F0"/>
                </a:solidFill>
                <a:latin typeface="Calibri"/>
              </a:defRPr>
            </a:pPr>
            <a:r>
              <a:t>What does 'QSAR' stand for in drug discovery?</a:t>
            </a:r>
          </a:p>
        </p:txBody>
      </p:sp>
      <p:sp>
        <p:nvSpPr>
          <p:cNvPr id="4" name="Rounded Rectangle 3"/>
          <p:cNvSpPr/>
          <p:nvPr/>
        </p:nvSpPr>
        <p:spPr>
          <a:xfrm>
            <a:off x="1371600" y="1828800"/>
            <a:ext cx="9144000" cy="594360"/>
          </a:xfrm>
          <a:prstGeom prst="roundRect">
            <a:avLst/>
          </a:prstGeom>
          <a:solidFill>
            <a:srgbClr val="27AE60"/>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FFFFFF"/>
                </a:solidFill>
                <a:latin typeface="Calibri"/>
              </a:defRPr>
            </a:pPr>
            <a:r>
              <a:t>  A)  Quantitative Structure-Activity Relationship</a:t>
            </a:r>
          </a:p>
        </p:txBody>
      </p:sp>
      <p:sp>
        <p:nvSpPr>
          <p:cNvPr id="5" name="Rounded Rectangle 4"/>
          <p:cNvSpPr/>
          <p:nvPr/>
        </p:nvSpPr>
        <p:spPr>
          <a:xfrm>
            <a:off x="1371600" y="25146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B)  Quality-Scaled Assay Results</a:t>
            </a:r>
          </a:p>
        </p:txBody>
      </p:sp>
      <p:sp>
        <p:nvSpPr>
          <p:cNvPr id="6" name="Rounded Rectangle 5"/>
          <p:cNvSpPr/>
          <p:nvPr/>
        </p:nvSpPr>
        <p:spPr>
          <a:xfrm>
            <a:off x="1371600" y="32004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C)  Quick Sequence Alignment and Ranking</a:t>
            </a:r>
          </a:p>
        </p:txBody>
      </p:sp>
      <p:sp>
        <p:nvSpPr>
          <p:cNvPr id="7" name="Rounded Rectangle 6"/>
          <p:cNvSpPr/>
          <p:nvPr/>
        </p:nvSpPr>
        <p:spPr>
          <a:xfrm>
            <a:off x="1371600" y="38862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D)  Qualified Sample Analysis Report</a:t>
            </a:r>
          </a:p>
        </p:txBody>
      </p:sp>
      <p:sp>
        <p:nvSpPr>
          <p:cNvPr id="8" name="TextBox 7"/>
          <p:cNvSpPr txBox="1"/>
          <p:nvPr/>
        </p:nvSpPr>
        <p:spPr>
          <a:xfrm>
            <a:off x="914400" y="4709160"/>
            <a:ext cx="10058400" cy="1828800"/>
          </a:xfrm>
          <a:prstGeom prst="rect">
            <a:avLst/>
          </a:prstGeom>
          <a:noFill/>
        </p:spPr>
        <p:txBody>
          <a:bodyPr wrap="square">
            <a:spAutoFit/>
          </a:bodyPr>
          <a:lstStyle/>
          <a:p>
            <a:pPr algn="l">
              <a:defRPr sz="1600" b="0">
                <a:solidFill>
                  <a:srgbClr val="FFFFFF"/>
                </a:solidFill>
                <a:latin typeface="Calibri"/>
              </a:defRPr>
            </a:pPr>
            <a:r>
              <a:t>✓ QSAR = Quantitative Structure-Activity Relationship.</a:t>
            </a:r>
            <a:br/>
            <a:r>
              <a:t>Foundational concept: molecular structure determines biological activity. QSAR models learn: f(structure) → activity. Originated with Hansch (1964). Today's entire lecture is about building and evaluating QSAR models.</a:t>
            </a:r>
          </a:p>
        </p:txBody>
      </p:sp>
      <p:sp>
        <p:nvSpPr>
          <p:cNvPr id="9" name="TextBox 8"/>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600" b="1">
                <a:solidFill>
                  <a:srgbClr val="1F77B4"/>
                </a:solidFill>
                <a:latin typeface="Calibri"/>
              </a:defRPr>
            </a:pPr>
            <a:r>
              <a:t>QUIZ — Question 3/10</a:t>
            </a:r>
          </a:p>
        </p:txBody>
      </p:sp>
      <p:sp>
        <p:nvSpPr>
          <p:cNvPr id="3" name="TextBox 2"/>
          <p:cNvSpPr txBox="1"/>
          <p:nvPr/>
        </p:nvSpPr>
        <p:spPr>
          <a:xfrm>
            <a:off x="731520" y="1005840"/>
            <a:ext cx="10515600" cy="1280160"/>
          </a:xfrm>
          <a:prstGeom prst="rect">
            <a:avLst/>
          </a:prstGeom>
          <a:noFill/>
        </p:spPr>
        <p:txBody>
          <a:bodyPr wrap="square">
            <a:spAutoFit/>
          </a:bodyPr>
          <a:lstStyle/>
          <a:p>
            <a:pPr algn="l">
              <a:defRPr sz="2800" b="1">
                <a:solidFill>
                  <a:srgbClr val="FFFFFF"/>
                </a:solidFill>
                <a:latin typeface="Calibri"/>
              </a:defRPr>
            </a:pPr>
            <a:r>
              <a:t>What does 'ADMET' stand for in pharmacology?</a:t>
            </a:r>
          </a:p>
        </p:txBody>
      </p:sp>
      <p:sp>
        <p:nvSpPr>
          <p:cNvPr id="4" name="Rounded Rectangle 3"/>
          <p:cNvSpPr/>
          <p:nvPr/>
        </p:nvSpPr>
        <p:spPr>
          <a:xfrm>
            <a:off x="1371600" y="283464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A)  Activity, Dosage, Metabolism, Efficiency, Toxicology</a:t>
            </a:r>
          </a:p>
        </p:txBody>
      </p:sp>
      <p:sp>
        <p:nvSpPr>
          <p:cNvPr id="5" name="Rounded Rectangle 4"/>
          <p:cNvSpPr/>
          <p:nvPr/>
        </p:nvSpPr>
        <p:spPr>
          <a:xfrm>
            <a:off x="1371600" y="379476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B)  Absorption, Distribution, Metabolism, Excretion, Toxicity</a:t>
            </a:r>
          </a:p>
        </p:txBody>
      </p:sp>
      <p:sp>
        <p:nvSpPr>
          <p:cNvPr id="6" name="Rounded Rectangle 5"/>
          <p:cNvSpPr/>
          <p:nvPr/>
        </p:nvSpPr>
        <p:spPr>
          <a:xfrm>
            <a:off x="1371600" y="475488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C)  Analysis, Detection, Mapping, Evaluation, Testing</a:t>
            </a:r>
          </a:p>
        </p:txBody>
      </p:sp>
      <p:sp>
        <p:nvSpPr>
          <p:cNvPr id="7" name="Rounded Rectangle 6"/>
          <p:cNvSpPr/>
          <p:nvPr/>
        </p:nvSpPr>
        <p:spPr>
          <a:xfrm>
            <a:off x="1371600" y="571500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D)  Administration, Dosage, Mechanism, Effect, Timing</a:t>
            </a:r>
          </a:p>
        </p:txBody>
      </p:sp>
      <p:sp>
        <p:nvSpPr>
          <p:cNvPr id="8" name="TextBox 7"/>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274320"/>
            <a:ext cx="2743200" cy="365760"/>
          </a:xfrm>
          <a:prstGeom prst="rect">
            <a:avLst/>
          </a:prstGeom>
          <a:noFill/>
        </p:spPr>
        <p:txBody>
          <a:bodyPr wrap="square">
            <a:spAutoFit/>
          </a:bodyPr>
          <a:lstStyle/>
          <a:p>
            <a:pPr algn="l">
              <a:defRPr sz="1600" b="1">
                <a:solidFill>
                  <a:srgbClr val="27AE60"/>
                </a:solidFill>
                <a:latin typeface="Calibri"/>
              </a:defRPr>
            </a:pPr>
            <a:r>
              <a:t>ANSWER — Question 3/10</a:t>
            </a:r>
          </a:p>
        </p:txBody>
      </p:sp>
      <p:sp>
        <p:nvSpPr>
          <p:cNvPr id="3" name="TextBox 2"/>
          <p:cNvSpPr txBox="1"/>
          <p:nvPr/>
        </p:nvSpPr>
        <p:spPr>
          <a:xfrm>
            <a:off x="731520" y="731520"/>
            <a:ext cx="10515600" cy="822960"/>
          </a:xfrm>
          <a:prstGeom prst="rect">
            <a:avLst/>
          </a:prstGeom>
          <a:noFill/>
        </p:spPr>
        <p:txBody>
          <a:bodyPr wrap="square">
            <a:spAutoFit/>
          </a:bodyPr>
          <a:lstStyle/>
          <a:p>
            <a:pPr algn="l">
              <a:defRPr sz="2200" b="1">
                <a:solidFill>
                  <a:srgbClr val="F0F0F0"/>
                </a:solidFill>
                <a:latin typeface="Calibri"/>
              </a:defRPr>
            </a:pPr>
            <a:r>
              <a:t>What does 'ADMET' stand for in pharmacology?</a:t>
            </a:r>
          </a:p>
        </p:txBody>
      </p:sp>
      <p:sp>
        <p:nvSpPr>
          <p:cNvPr id="4" name="Rounded Rectangle 3"/>
          <p:cNvSpPr/>
          <p:nvPr/>
        </p:nvSpPr>
        <p:spPr>
          <a:xfrm>
            <a:off x="1371600" y="18288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A)  Activity, Dosage, Metabolism, Efficiency, Toxicology</a:t>
            </a:r>
          </a:p>
        </p:txBody>
      </p:sp>
      <p:sp>
        <p:nvSpPr>
          <p:cNvPr id="5" name="Rounded Rectangle 4"/>
          <p:cNvSpPr/>
          <p:nvPr/>
        </p:nvSpPr>
        <p:spPr>
          <a:xfrm>
            <a:off x="1371600" y="2514600"/>
            <a:ext cx="9144000" cy="594360"/>
          </a:xfrm>
          <a:prstGeom prst="roundRect">
            <a:avLst/>
          </a:prstGeom>
          <a:solidFill>
            <a:srgbClr val="27AE60"/>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FFFFFF"/>
                </a:solidFill>
                <a:latin typeface="Calibri"/>
              </a:defRPr>
            </a:pPr>
            <a:r>
              <a:t>  B)  Absorption, Distribution, Metabolism, Excretion, Toxicity</a:t>
            </a:r>
          </a:p>
        </p:txBody>
      </p:sp>
      <p:sp>
        <p:nvSpPr>
          <p:cNvPr id="6" name="Rounded Rectangle 5"/>
          <p:cNvSpPr/>
          <p:nvPr/>
        </p:nvSpPr>
        <p:spPr>
          <a:xfrm>
            <a:off x="1371600" y="32004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C)  Analysis, Detection, Mapping, Evaluation, Testing</a:t>
            </a:r>
          </a:p>
        </p:txBody>
      </p:sp>
      <p:sp>
        <p:nvSpPr>
          <p:cNvPr id="7" name="Rounded Rectangle 6"/>
          <p:cNvSpPr/>
          <p:nvPr/>
        </p:nvSpPr>
        <p:spPr>
          <a:xfrm>
            <a:off x="1371600" y="38862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D)  Administration, Dosage, Mechanism, Effect, Timing</a:t>
            </a:r>
          </a:p>
        </p:txBody>
      </p:sp>
      <p:sp>
        <p:nvSpPr>
          <p:cNvPr id="8" name="TextBox 7"/>
          <p:cNvSpPr txBox="1"/>
          <p:nvPr/>
        </p:nvSpPr>
        <p:spPr>
          <a:xfrm>
            <a:off x="914400" y="4709160"/>
            <a:ext cx="10058400" cy="1828800"/>
          </a:xfrm>
          <a:prstGeom prst="rect">
            <a:avLst/>
          </a:prstGeom>
          <a:noFill/>
        </p:spPr>
        <p:txBody>
          <a:bodyPr wrap="square">
            <a:spAutoFit/>
          </a:bodyPr>
          <a:lstStyle/>
          <a:p>
            <a:pPr algn="l">
              <a:defRPr sz="1600" b="0">
                <a:solidFill>
                  <a:srgbClr val="FFFFFF"/>
                </a:solidFill>
                <a:latin typeface="Calibri"/>
              </a:defRPr>
            </a:pPr>
            <a:r>
              <a:t>✓ ADMET = Absorption, Distribution, Metabolism, Excretion, Toxicity.</a:t>
            </a:r>
            <a:br/>
            <a:r>
              <a:t>After a drug is discovered to bind its target, it must also: get into the body (A), reach the right tissue (D), not be broken down too fast (M), leave the body safely (E), and not be toxic (T). AI predicts all 5!</a:t>
            </a:r>
          </a:p>
        </p:txBody>
      </p:sp>
      <p:sp>
        <p:nvSpPr>
          <p:cNvPr id="9" name="TextBox 8"/>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600" b="1">
                <a:solidFill>
                  <a:srgbClr val="1F77B4"/>
                </a:solidFill>
                <a:latin typeface="Calibri"/>
              </a:defRPr>
            </a:pPr>
            <a:r>
              <a:t>QUIZ — Question 4/10</a:t>
            </a:r>
          </a:p>
        </p:txBody>
      </p:sp>
      <p:sp>
        <p:nvSpPr>
          <p:cNvPr id="3" name="TextBox 2"/>
          <p:cNvSpPr txBox="1"/>
          <p:nvPr/>
        </p:nvSpPr>
        <p:spPr>
          <a:xfrm>
            <a:off x="731520" y="1005840"/>
            <a:ext cx="10515600" cy="1280160"/>
          </a:xfrm>
          <a:prstGeom prst="rect">
            <a:avLst/>
          </a:prstGeom>
          <a:noFill/>
        </p:spPr>
        <p:txBody>
          <a:bodyPr wrap="square">
            <a:spAutoFit/>
          </a:bodyPr>
          <a:lstStyle/>
          <a:p>
            <a:pPr algn="l">
              <a:defRPr sz="2800" b="1">
                <a:solidFill>
                  <a:srgbClr val="FFFFFF"/>
                </a:solidFill>
                <a:latin typeface="Calibri"/>
              </a:defRPr>
            </a:pPr>
            <a:r>
              <a:t>What does IC50 measure in pharmacology?</a:t>
            </a:r>
          </a:p>
        </p:txBody>
      </p:sp>
      <p:sp>
        <p:nvSpPr>
          <p:cNvPr id="4" name="Rounded Rectangle 3"/>
          <p:cNvSpPr/>
          <p:nvPr/>
        </p:nvSpPr>
        <p:spPr>
          <a:xfrm>
            <a:off x="1371600" y="283464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A)  The minimum concentration at which a drug shows any effect</a:t>
            </a:r>
          </a:p>
        </p:txBody>
      </p:sp>
      <p:sp>
        <p:nvSpPr>
          <p:cNvPr id="5" name="Rounded Rectangle 4"/>
          <p:cNvSpPr/>
          <p:nvPr/>
        </p:nvSpPr>
        <p:spPr>
          <a:xfrm>
            <a:off x="1371600" y="379476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B)  The concentration that inhibits 50% of a target's activity</a:t>
            </a:r>
          </a:p>
        </p:txBody>
      </p:sp>
      <p:sp>
        <p:nvSpPr>
          <p:cNvPr id="6" name="Rounded Rectangle 5"/>
          <p:cNvSpPr/>
          <p:nvPr/>
        </p:nvSpPr>
        <p:spPr>
          <a:xfrm>
            <a:off x="1371600" y="475488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C)  The lethal dose for 50% of a test population</a:t>
            </a:r>
          </a:p>
        </p:txBody>
      </p:sp>
      <p:sp>
        <p:nvSpPr>
          <p:cNvPr id="7" name="Rounded Rectangle 6"/>
          <p:cNvSpPr/>
          <p:nvPr/>
        </p:nvSpPr>
        <p:spPr>
          <a:xfrm>
            <a:off x="1371600" y="571500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D)  The time at which a drug reaches 50% of its maximum concentration</a:t>
            </a:r>
          </a:p>
        </p:txBody>
      </p:sp>
      <p:sp>
        <p:nvSpPr>
          <p:cNvPr id="8" name="TextBox 7"/>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274320"/>
            <a:ext cx="2743200" cy="365760"/>
          </a:xfrm>
          <a:prstGeom prst="rect">
            <a:avLst/>
          </a:prstGeom>
          <a:noFill/>
        </p:spPr>
        <p:txBody>
          <a:bodyPr wrap="square">
            <a:spAutoFit/>
          </a:bodyPr>
          <a:lstStyle/>
          <a:p>
            <a:pPr algn="l">
              <a:defRPr sz="1600" b="1">
                <a:solidFill>
                  <a:srgbClr val="27AE60"/>
                </a:solidFill>
                <a:latin typeface="Calibri"/>
              </a:defRPr>
            </a:pPr>
            <a:r>
              <a:t>ANSWER — Question 4/10</a:t>
            </a:r>
          </a:p>
        </p:txBody>
      </p:sp>
      <p:sp>
        <p:nvSpPr>
          <p:cNvPr id="3" name="TextBox 2"/>
          <p:cNvSpPr txBox="1"/>
          <p:nvPr/>
        </p:nvSpPr>
        <p:spPr>
          <a:xfrm>
            <a:off x="731520" y="731520"/>
            <a:ext cx="10515600" cy="822960"/>
          </a:xfrm>
          <a:prstGeom prst="rect">
            <a:avLst/>
          </a:prstGeom>
          <a:noFill/>
        </p:spPr>
        <p:txBody>
          <a:bodyPr wrap="square">
            <a:spAutoFit/>
          </a:bodyPr>
          <a:lstStyle/>
          <a:p>
            <a:pPr algn="l">
              <a:defRPr sz="2200" b="1">
                <a:solidFill>
                  <a:srgbClr val="F0F0F0"/>
                </a:solidFill>
                <a:latin typeface="Calibri"/>
              </a:defRPr>
            </a:pPr>
            <a:r>
              <a:t>What does IC50 measure in pharmacology?</a:t>
            </a:r>
          </a:p>
        </p:txBody>
      </p:sp>
      <p:sp>
        <p:nvSpPr>
          <p:cNvPr id="4" name="Rounded Rectangle 3"/>
          <p:cNvSpPr/>
          <p:nvPr/>
        </p:nvSpPr>
        <p:spPr>
          <a:xfrm>
            <a:off x="1371600" y="18288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A)  The minimum concentration at which a drug shows any effect</a:t>
            </a:r>
          </a:p>
        </p:txBody>
      </p:sp>
      <p:sp>
        <p:nvSpPr>
          <p:cNvPr id="5" name="Rounded Rectangle 4"/>
          <p:cNvSpPr/>
          <p:nvPr/>
        </p:nvSpPr>
        <p:spPr>
          <a:xfrm>
            <a:off x="1371600" y="2514600"/>
            <a:ext cx="9144000" cy="594360"/>
          </a:xfrm>
          <a:prstGeom prst="roundRect">
            <a:avLst/>
          </a:prstGeom>
          <a:solidFill>
            <a:srgbClr val="27AE60"/>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FFFFFF"/>
                </a:solidFill>
                <a:latin typeface="Calibri"/>
              </a:defRPr>
            </a:pPr>
            <a:r>
              <a:t>  B)  The concentration that inhibits 50% of a target's activity</a:t>
            </a:r>
          </a:p>
        </p:txBody>
      </p:sp>
      <p:sp>
        <p:nvSpPr>
          <p:cNvPr id="6" name="Rounded Rectangle 5"/>
          <p:cNvSpPr/>
          <p:nvPr/>
        </p:nvSpPr>
        <p:spPr>
          <a:xfrm>
            <a:off x="1371600" y="32004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C)  The lethal dose for 50% of a test population</a:t>
            </a:r>
          </a:p>
        </p:txBody>
      </p:sp>
      <p:sp>
        <p:nvSpPr>
          <p:cNvPr id="7" name="Rounded Rectangle 6"/>
          <p:cNvSpPr/>
          <p:nvPr/>
        </p:nvSpPr>
        <p:spPr>
          <a:xfrm>
            <a:off x="1371600" y="38862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D)  The time at which a drug reaches 50% of its maximum concentration</a:t>
            </a:r>
          </a:p>
        </p:txBody>
      </p:sp>
      <p:sp>
        <p:nvSpPr>
          <p:cNvPr id="8" name="TextBox 7"/>
          <p:cNvSpPr txBox="1"/>
          <p:nvPr/>
        </p:nvSpPr>
        <p:spPr>
          <a:xfrm>
            <a:off x="914400" y="4709160"/>
            <a:ext cx="10058400" cy="1828800"/>
          </a:xfrm>
          <a:prstGeom prst="rect">
            <a:avLst/>
          </a:prstGeom>
          <a:noFill/>
        </p:spPr>
        <p:txBody>
          <a:bodyPr wrap="square">
            <a:spAutoFit/>
          </a:bodyPr>
          <a:lstStyle/>
          <a:p>
            <a:pPr algn="l">
              <a:defRPr sz="1600" b="0">
                <a:solidFill>
                  <a:srgbClr val="FFFFFF"/>
                </a:solidFill>
                <a:latin typeface="Calibri"/>
              </a:defRPr>
            </a:pPr>
            <a:r>
              <a:t>✓ IC50 = the concentration that inhibits 50% of a target's activity.</a:t>
            </a:r>
            <a:br/>
            <a:r>
              <a:t>Lower IC50 = more potent (you need less drug). pIC50 = -log10(IC50) — used so higher values = more potent. ChEMBL database stores IC50 values for ~2.5 million compounds.</a:t>
            </a:r>
          </a:p>
        </p:txBody>
      </p:sp>
      <p:sp>
        <p:nvSpPr>
          <p:cNvPr id="9" name="TextBox 8"/>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600" b="1">
                <a:solidFill>
                  <a:srgbClr val="1F77B4"/>
                </a:solidFill>
                <a:latin typeface="Calibri"/>
              </a:defRPr>
            </a:pPr>
            <a:r>
              <a:t>QUIZ — Question 5/10</a:t>
            </a:r>
          </a:p>
        </p:txBody>
      </p:sp>
      <p:sp>
        <p:nvSpPr>
          <p:cNvPr id="3" name="TextBox 2"/>
          <p:cNvSpPr txBox="1"/>
          <p:nvPr/>
        </p:nvSpPr>
        <p:spPr>
          <a:xfrm>
            <a:off x="731520" y="1005840"/>
            <a:ext cx="10515600" cy="1280160"/>
          </a:xfrm>
          <a:prstGeom prst="rect">
            <a:avLst/>
          </a:prstGeom>
          <a:noFill/>
        </p:spPr>
        <p:txBody>
          <a:bodyPr wrap="square">
            <a:spAutoFit/>
          </a:bodyPr>
          <a:lstStyle/>
          <a:p>
            <a:pPr algn="l">
              <a:defRPr sz="2800" b="1">
                <a:solidFill>
                  <a:srgbClr val="FFFFFF"/>
                </a:solidFill>
                <a:latin typeface="Calibri"/>
              </a:defRPr>
            </a:pPr>
            <a:r>
              <a:t>What is the 'BBB' in drug discovery?</a:t>
            </a:r>
          </a:p>
        </p:txBody>
      </p:sp>
      <p:sp>
        <p:nvSpPr>
          <p:cNvPr id="4" name="Rounded Rectangle 3"/>
          <p:cNvSpPr/>
          <p:nvPr/>
        </p:nvSpPr>
        <p:spPr>
          <a:xfrm>
            <a:off x="1371600" y="283464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A)  Biologically-Bioavailable Benchmark — a measurement standard</a:t>
            </a:r>
          </a:p>
        </p:txBody>
      </p:sp>
      <p:sp>
        <p:nvSpPr>
          <p:cNvPr id="5" name="Rounded Rectangle 4"/>
          <p:cNvSpPr/>
          <p:nvPr/>
        </p:nvSpPr>
        <p:spPr>
          <a:xfrm>
            <a:off x="1371600" y="379476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B)  Blood-Brain Barrier — a protective membrane around the brain</a:t>
            </a:r>
          </a:p>
        </p:txBody>
      </p:sp>
      <p:sp>
        <p:nvSpPr>
          <p:cNvPr id="6" name="Rounded Rectangle 5"/>
          <p:cNvSpPr/>
          <p:nvPr/>
        </p:nvSpPr>
        <p:spPr>
          <a:xfrm>
            <a:off x="1371600" y="475488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C)  Basic Biochemical Binding — a type of protein interaction</a:t>
            </a:r>
          </a:p>
        </p:txBody>
      </p:sp>
      <p:sp>
        <p:nvSpPr>
          <p:cNvPr id="7" name="Rounded Rectangle 6"/>
          <p:cNvSpPr/>
          <p:nvPr/>
        </p:nvSpPr>
        <p:spPr>
          <a:xfrm>
            <a:off x="1371600" y="571500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D)  Broad Bioactivity Base — a large compound library</a:t>
            </a:r>
          </a:p>
        </p:txBody>
      </p:sp>
      <p:sp>
        <p:nvSpPr>
          <p:cNvPr id="8" name="TextBox 7"/>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274320"/>
            <a:ext cx="2743200" cy="365760"/>
          </a:xfrm>
          <a:prstGeom prst="rect">
            <a:avLst/>
          </a:prstGeom>
          <a:noFill/>
        </p:spPr>
        <p:txBody>
          <a:bodyPr wrap="square">
            <a:spAutoFit/>
          </a:bodyPr>
          <a:lstStyle/>
          <a:p>
            <a:pPr algn="l">
              <a:defRPr sz="1600" b="1">
                <a:solidFill>
                  <a:srgbClr val="27AE60"/>
                </a:solidFill>
                <a:latin typeface="Calibri"/>
              </a:defRPr>
            </a:pPr>
            <a:r>
              <a:t>ANSWER — Question 5/10</a:t>
            </a:r>
          </a:p>
        </p:txBody>
      </p:sp>
      <p:sp>
        <p:nvSpPr>
          <p:cNvPr id="3" name="TextBox 2"/>
          <p:cNvSpPr txBox="1"/>
          <p:nvPr/>
        </p:nvSpPr>
        <p:spPr>
          <a:xfrm>
            <a:off x="731520" y="731520"/>
            <a:ext cx="10515600" cy="822960"/>
          </a:xfrm>
          <a:prstGeom prst="rect">
            <a:avLst/>
          </a:prstGeom>
          <a:noFill/>
        </p:spPr>
        <p:txBody>
          <a:bodyPr wrap="square">
            <a:spAutoFit/>
          </a:bodyPr>
          <a:lstStyle/>
          <a:p>
            <a:pPr algn="l">
              <a:defRPr sz="2200" b="1">
                <a:solidFill>
                  <a:srgbClr val="F0F0F0"/>
                </a:solidFill>
                <a:latin typeface="Calibri"/>
              </a:defRPr>
            </a:pPr>
            <a:r>
              <a:t>What is the 'BBB' in drug discovery?</a:t>
            </a:r>
          </a:p>
        </p:txBody>
      </p:sp>
      <p:sp>
        <p:nvSpPr>
          <p:cNvPr id="4" name="Rounded Rectangle 3"/>
          <p:cNvSpPr/>
          <p:nvPr/>
        </p:nvSpPr>
        <p:spPr>
          <a:xfrm>
            <a:off x="1371600" y="18288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A)  Biologically-Bioavailable Benchmark — a measurement standard</a:t>
            </a:r>
          </a:p>
        </p:txBody>
      </p:sp>
      <p:sp>
        <p:nvSpPr>
          <p:cNvPr id="5" name="Rounded Rectangle 4"/>
          <p:cNvSpPr/>
          <p:nvPr/>
        </p:nvSpPr>
        <p:spPr>
          <a:xfrm>
            <a:off x="1371600" y="2514600"/>
            <a:ext cx="9144000" cy="594360"/>
          </a:xfrm>
          <a:prstGeom prst="roundRect">
            <a:avLst/>
          </a:prstGeom>
          <a:solidFill>
            <a:srgbClr val="27AE60"/>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FFFFFF"/>
                </a:solidFill>
                <a:latin typeface="Calibri"/>
              </a:defRPr>
            </a:pPr>
            <a:r>
              <a:t>  B)  Blood-Brain Barrier — a protective membrane around the brain</a:t>
            </a:r>
          </a:p>
        </p:txBody>
      </p:sp>
      <p:sp>
        <p:nvSpPr>
          <p:cNvPr id="6" name="Rounded Rectangle 5"/>
          <p:cNvSpPr/>
          <p:nvPr/>
        </p:nvSpPr>
        <p:spPr>
          <a:xfrm>
            <a:off x="1371600" y="32004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C)  Basic Biochemical Binding — a type of protein interaction</a:t>
            </a:r>
          </a:p>
        </p:txBody>
      </p:sp>
      <p:sp>
        <p:nvSpPr>
          <p:cNvPr id="7" name="Rounded Rectangle 6"/>
          <p:cNvSpPr/>
          <p:nvPr/>
        </p:nvSpPr>
        <p:spPr>
          <a:xfrm>
            <a:off x="1371600" y="38862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D)  Broad Bioactivity Base — a large compound library</a:t>
            </a:r>
          </a:p>
        </p:txBody>
      </p:sp>
      <p:sp>
        <p:nvSpPr>
          <p:cNvPr id="8" name="TextBox 7"/>
          <p:cNvSpPr txBox="1"/>
          <p:nvPr/>
        </p:nvSpPr>
        <p:spPr>
          <a:xfrm>
            <a:off x="914400" y="4709160"/>
            <a:ext cx="10058400" cy="1828800"/>
          </a:xfrm>
          <a:prstGeom prst="rect">
            <a:avLst/>
          </a:prstGeom>
          <a:noFill/>
        </p:spPr>
        <p:txBody>
          <a:bodyPr wrap="square">
            <a:spAutoFit/>
          </a:bodyPr>
          <a:lstStyle/>
          <a:p>
            <a:pPr algn="l">
              <a:defRPr sz="1600" b="0">
                <a:solidFill>
                  <a:srgbClr val="FFFFFF"/>
                </a:solidFill>
                <a:latin typeface="Calibri"/>
              </a:defRPr>
            </a:pPr>
            <a:r>
              <a:t>✓ BBB = Blood-Brain Barrier. A highly selective barrier between blood and brain tissue.</a:t>
            </a:r>
            <a:br/>
            <a:r>
              <a:t>Endothelial cells with tight junctions block most molecules. Only small, lipophilic molecules cross easily. This is why CNS drugs require special molecular properties: MW &lt; 450, logP 1-3, HBD &lt; 3.</a:t>
            </a:r>
          </a:p>
        </p:txBody>
      </p:sp>
      <p:sp>
        <p:nvSpPr>
          <p:cNvPr id="9" name="TextBox 8"/>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600" b="1">
                <a:solidFill>
                  <a:srgbClr val="1F77B4"/>
                </a:solidFill>
                <a:latin typeface="Calibri"/>
              </a:defRPr>
            </a:pPr>
            <a:r>
              <a:t>QUIZ — Question 6/10</a:t>
            </a:r>
          </a:p>
        </p:txBody>
      </p:sp>
      <p:sp>
        <p:nvSpPr>
          <p:cNvPr id="3" name="TextBox 2"/>
          <p:cNvSpPr txBox="1"/>
          <p:nvPr/>
        </p:nvSpPr>
        <p:spPr>
          <a:xfrm>
            <a:off x="731520" y="1005840"/>
            <a:ext cx="10515600" cy="1280160"/>
          </a:xfrm>
          <a:prstGeom prst="rect">
            <a:avLst/>
          </a:prstGeom>
          <a:noFill/>
        </p:spPr>
        <p:txBody>
          <a:bodyPr wrap="square">
            <a:spAutoFit/>
          </a:bodyPr>
          <a:lstStyle/>
          <a:p>
            <a:pPr algn="l">
              <a:defRPr sz="2800" b="1">
                <a:solidFill>
                  <a:srgbClr val="FFFFFF"/>
                </a:solidFill>
                <a:latin typeface="Calibri"/>
              </a:defRPr>
            </a:pPr>
            <a:r>
              <a:t>What does 'ECFP4' stand for in molecular ML?</a:t>
            </a:r>
          </a:p>
        </p:txBody>
      </p:sp>
      <p:sp>
        <p:nvSpPr>
          <p:cNvPr id="4" name="Rounded Rectangle 3"/>
          <p:cNvSpPr/>
          <p:nvPr/>
        </p:nvSpPr>
        <p:spPr>
          <a:xfrm>
            <a:off x="1371600" y="283464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A)  Exact Chemical Fingerprint Protocol, version 4</a:t>
            </a:r>
          </a:p>
        </p:txBody>
      </p:sp>
      <p:sp>
        <p:nvSpPr>
          <p:cNvPr id="5" name="Rounded Rectangle 4"/>
          <p:cNvSpPr/>
          <p:nvPr/>
        </p:nvSpPr>
        <p:spPr>
          <a:xfrm>
            <a:off x="1371600" y="379476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B)  Electrochemical Feature Profile with 4 iterations</a:t>
            </a:r>
          </a:p>
        </p:txBody>
      </p:sp>
      <p:sp>
        <p:nvSpPr>
          <p:cNvPr id="6" name="Rounded Rectangle 5"/>
          <p:cNvSpPr/>
          <p:nvPr/>
        </p:nvSpPr>
        <p:spPr>
          <a:xfrm>
            <a:off x="1371600" y="475488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C)  Extended Connectivity Fingerprint with radius 4</a:t>
            </a:r>
          </a:p>
        </p:txBody>
      </p:sp>
      <p:sp>
        <p:nvSpPr>
          <p:cNvPr id="7" name="Rounded Rectangle 6"/>
          <p:cNvSpPr/>
          <p:nvPr/>
        </p:nvSpPr>
        <p:spPr>
          <a:xfrm>
            <a:off x="1371600" y="571500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D)  Encoded Chemical Feature Pattern, 4-bit</a:t>
            </a:r>
          </a:p>
        </p:txBody>
      </p:sp>
      <p:sp>
        <p:nvSpPr>
          <p:cNvPr id="8" name="TextBox 7"/>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274320"/>
            <a:ext cx="2743200" cy="365760"/>
          </a:xfrm>
          <a:prstGeom prst="rect">
            <a:avLst/>
          </a:prstGeom>
          <a:noFill/>
        </p:spPr>
        <p:txBody>
          <a:bodyPr wrap="square">
            <a:spAutoFit/>
          </a:bodyPr>
          <a:lstStyle/>
          <a:p>
            <a:pPr algn="l">
              <a:defRPr sz="1600" b="1">
                <a:solidFill>
                  <a:srgbClr val="27AE60"/>
                </a:solidFill>
                <a:latin typeface="Calibri"/>
              </a:defRPr>
            </a:pPr>
            <a:r>
              <a:t>ANSWER — Question 6/10</a:t>
            </a:r>
          </a:p>
        </p:txBody>
      </p:sp>
      <p:sp>
        <p:nvSpPr>
          <p:cNvPr id="3" name="TextBox 2"/>
          <p:cNvSpPr txBox="1"/>
          <p:nvPr/>
        </p:nvSpPr>
        <p:spPr>
          <a:xfrm>
            <a:off x="731520" y="731520"/>
            <a:ext cx="10515600" cy="822960"/>
          </a:xfrm>
          <a:prstGeom prst="rect">
            <a:avLst/>
          </a:prstGeom>
          <a:noFill/>
        </p:spPr>
        <p:txBody>
          <a:bodyPr wrap="square">
            <a:spAutoFit/>
          </a:bodyPr>
          <a:lstStyle/>
          <a:p>
            <a:pPr algn="l">
              <a:defRPr sz="2200" b="1">
                <a:solidFill>
                  <a:srgbClr val="F0F0F0"/>
                </a:solidFill>
                <a:latin typeface="Calibri"/>
              </a:defRPr>
            </a:pPr>
            <a:r>
              <a:t>What does 'ECFP4' stand for in molecular ML?</a:t>
            </a:r>
          </a:p>
        </p:txBody>
      </p:sp>
      <p:sp>
        <p:nvSpPr>
          <p:cNvPr id="4" name="Rounded Rectangle 3"/>
          <p:cNvSpPr/>
          <p:nvPr/>
        </p:nvSpPr>
        <p:spPr>
          <a:xfrm>
            <a:off x="1371600" y="18288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A)  Exact Chemical Fingerprint Protocol, version 4</a:t>
            </a:r>
          </a:p>
        </p:txBody>
      </p:sp>
      <p:sp>
        <p:nvSpPr>
          <p:cNvPr id="5" name="Rounded Rectangle 4"/>
          <p:cNvSpPr/>
          <p:nvPr/>
        </p:nvSpPr>
        <p:spPr>
          <a:xfrm>
            <a:off x="1371600" y="25146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B)  Electrochemical Feature Profile with 4 iterations</a:t>
            </a:r>
          </a:p>
        </p:txBody>
      </p:sp>
      <p:sp>
        <p:nvSpPr>
          <p:cNvPr id="6" name="Rounded Rectangle 5"/>
          <p:cNvSpPr/>
          <p:nvPr/>
        </p:nvSpPr>
        <p:spPr>
          <a:xfrm>
            <a:off x="1371600" y="3200400"/>
            <a:ext cx="9144000" cy="594360"/>
          </a:xfrm>
          <a:prstGeom prst="roundRect">
            <a:avLst/>
          </a:prstGeom>
          <a:solidFill>
            <a:srgbClr val="27AE60"/>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FFFFFF"/>
                </a:solidFill>
                <a:latin typeface="Calibri"/>
              </a:defRPr>
            </a:pPr>
            <a:r>
              <a:t>  C)  Extended Connectivity Fingerprint with radius 4</a:t>
            </a:r>
          </a:p>
        </p:txBody>
      </p:sp>
      <p:sp>
        <p:nvSpPr>
          <p:cNvPr id="7" name="Rounded Rectangle 6"/>
          <p:cNvSpPr/>
          <p:nvPr/>
        </p:nvSpPr>
        <p:spPr>
          <a:xfrm>
            <a:off x="1371600" y="38862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D)  Encoded Chemical Feature Pattern, 4-bit</a:t>
            </a:r>
          </a:p>
        </p:txBody>
      </p:sp>
      <p:sp>
        <p:nvSpPr>
          <p:cNvPr id="8" name="TextBox 7"/>
          <p:cNvSpPr txBox="1"/>
          <p:nvPr/>
        </p:nvSpPr>
        <p:spPr>
          <a:xfrm>
            <a:off x="914400" y="4709160"/>
            <a:ext cx="10058400" cy="1828800"/>
          </a:xfrm>
          <a:prstGeom prst="rect">
            <a:avLst/>
          </a:prstGeom>
          <a:noFill/>
        </p:spPr>
        <p:txBody>
          <a:bodyPr wrap="square">
            <a:spAutoFit/>
          </a:bodyPr>
          <a:lstStyle/>
          <a:p>
            <a:pPr algn="l">
              <a:defRPr sz="1600" b="0">
                <a:solidFill>
                  <a:srgbClr val="FFFFFF"/>
                </a:solidFill>
                <a:latin typeface="Calibri"/>
              </a:defRPr>
            </a:pPr>
            <a:r>
              <a:t>✓ ECFP4 = Extended Connectivity FingerPrint with radius 4 (i.e., 2 iterations).</a:t>
            </a:r>
            <a:br/>
            <a:r>
              <a:t>The number refers to the diameter (= 2× radius). ECFP4 captures up to 2 atoms away from each center. It creates a 2048-bit binary vector. More widely known today as 'Morgan fingerprints'.</a:t>
            </a:r>
          </a:p>
        </p:txBody>
      </p:sp>
      <p:sp>
        <p:nvSpPr>
          <p:cNvPr id="9" name="TextBox 8"/>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600" b="1">
                <a:solidFill>
                  <a:srgbClr val="1F77B4"/>
                </a:solidFill>
                <a:latin typeface="Calibri"/>
              </a:defRPr>
            </a:pPr>
            <a:r>
              <a:t>QUIZ — Question 7/10</a:t>
            </a:r>
          </a:p>
        </p:txBody>
      </p:sp>
      <p:sp>
        <p:nvSpPr>
          <p:cNvPr id="3" name="TextBox 2"/>
          <p:cNvSpPr txBox="1"/>
          <p:nvPr/>
        </p:nvSpPr>
        <p:spPr>
          <a:xfrm>
            <a:off x="731520" y="1005840"/>
            <a:ext cx="10515600" cy="1280160"/>
          </a:xfrm>
          <a:prstGeom prst="rect">
            <a:avLst/>
          </a:prstGeom>
          <a:noFill/>
        </p:spPr>
        <p:txBody>
          <a:bodyPr wrap="square">
            <a:spAutoFit/>
          </a:bodyPr>
          <a:lstStyle/>
          <a:p>
            <a:pPr algn="l">
              <a:defRPr sz="2800" b="1">
                <a:solidFill>
                  <a:srgbClr val="FFFFFF"/>
                </a:solidFill>
                <a:latin typeface="Calibri"/>
              </a:defRPr>
            </a:pPr>
            <a:r>
              <a:t>What is 'HTS' in drug discovery?</a:t>
            </a:r>
          </a:p>
        </p:txBody>
      </p:sp>
      <p:sp>
        <p:nvSpPr>
          <p:cNvPr id="4" name="Rounded Rectangle 3"/>
          <p:cNvSpPr/>
          <p:nvPr/>
        </p:nvSpPr>
        <p:spPr>
          <a:xfrm>
            <a:off x="1371600" y="283464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A)  Human Testing Stage — Phase I clinical trials</a:t>
            </a:r>
          </a:p>
        </p:txBody>
      </p:sp>
      <p:sp>
        <p:nvSpPr>
          <p:cNvPr id="5" name="Rounded Rectangle 4"/>
          <p:cNvSpPr/>
          <p:nvPr/>
        </p:nvSpPr>
        <p:spPr>
          <a:xfrm>
            <a:off x="1371600" y="379476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B)  High-Throughput Screening — testing millions of compounds rapidly</a:t>
            </a:r>
          </a:p>
        </p:txBody>
      </p:sp>
      <p:sp>
        <p:nvSpPr>
          <p:cNvPr id="6" name="Rounded Rectangle 5"/>
          <p:cNvSpPr/>
          <p:nvPr/>
        </p:nvSpPr>
        <p:spPr>
          <a:xfrm>
            <a:off x="1371600" y="475488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C)  Hybrid Target Selection — choosing drug targets using AI</a:t>
            </a:r>
          </a:p>
        </p:txBody>
      </p:sp>
      <p:sp>
        <p:nvSpPr>
          <p:cNvPr id="7" name="Rounded Rectangle 6"/>
          <p:cNvSpPr/>
          <p:nvPr/>
        </p:nvSpPr>
        <p:spPr>
          <a:xfrm>
            <a:off x="1371600" y="571500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D)  Heterogeneous Training Set — a diverse ML dataset</a:t>
            </a:r>
          </a:p>
        </p:txBody>
      </p:sp>
      <p:sp>
        <p:nvSpPr>
          <p:cNvPr id="8" name="TextBox 7"/>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274320"/>
            <a:ext cx="2743200" cy="365760"/>
          </a:xfrm>
          <a:prstGeom prst="rect">
            <a:avLst/>
          </a:prstGeom>
          <a:noFill/>
        </p:spPr>
        <p:txBody>
          <a:bodyPr wrap="square">
            <a:spAutoFit/>
          </a:bodyPr>
          <a:lstStyle/>
          <a:p>
            <a:pPr algn="l">
              <a:defRPr sz="1600" b="1">
                <a:solidFill>
                  <a:srgbClr val="27AE60"/>
                </a:solidFill>
                <a:latin typeface="Calibri"/>
              </a:defRPr>
            </a:pPr>
            <a:r>
              <a:t>ANSWER — Question 7/10</a:t>
            </a:r>
          </a:p>
        </p:txBody>
      </p:sp>
      <p:sp>
        <p:nvSpPr>
          <p:cNvPr id="3" name="TextBox 2"/>
          <p:cNvSpPr txBox="1"/>
          <p:nvPr/>
        </p:nvSpPr>
        <p:spPr>
          <a:xfrm>
            <a:off x="731520" y="731520"/>
            <a:ext cx="10515600" cy="822960"/>
          </a:xfrm>
          <a:prstGeom prst="rect">
            <a:avLst/>
          </a:prstGeom>
          <a:noFill/>
        </p:spPr>
        <p:txBody>
          <a:bodyPr wrap="square">
            <a:spAutoFit/>
          </a:bodyPr>
          <a:lstStyle/>
          <a:p>
            <a:pPr algn="l">
              <a:defRPr sz="2200" b="1">
                <a:solidFill>
                  <a:srgbClr val="F0F0F0"/>
                </a:solidFill>
                <a:latin typeface="Calibri"/>
              </a:defRPr>
            </a:pPr>
            <a:r>
              <a:t>What is 'HTS' in drug discovery?</a:t>
            </a:r>
          </a:p>
        </p:txBody>
      </p:sp>
      <p:sp>
        <p:nvSpPr>
          <p:cNvPr id="4" name="Rounded Rectangle 3"/>
          <p:cNvSpPr/>
          <p:nvPr/>
        </p:nvSpPr>
        <p:spPr>
          <a:xfrm>
            <a:off x="1371600" y="18288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A)  Human Testing Stage — Phase I clinical trials</a:t>
            </a:r>
          </a:p>
        </p:txBody>
      </p:sp>
      <p:sp>
        <p:nvSpPr>
          <p:cNvPr id="5" name="Rounded Rectangle 4"/>
          <p:cNvSpPr/>
          <p:nvPr/>
        </p:nvSpPr>
        <p:spPr>
          <a:xfrm>
            <a:off x="1371600" y="2514600"/>
            <a:ext cx="9144000" cy="594360"/>
          </a:xfrm>
          <a:prstGeom prst="roundRect">
            <a:avLst/>
          </a:prstGeom>
          <a:solidFill>
            <a:srgbClr val="27AE60"/>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FFFFFF"/>
                </a:solidFill>
                <a:latin typeface="Calibri"/>
              </a:defRPr>
            </a:pPr>
            <a:r>
              <a:t>  B)  High-Throughput Screening — testing millions of compounds rapidly</a:t>
            </a:r>
          </a:p>
        </p:txBody>
      </p:sp>
      <p:sp>
        <p:nvSpPr>
          <p:cNvPr id="6" name="Rounded Rectangle 5"/>
          <p:cNvSpPr/>
          <p:nvPr/>
        </p:nvSpPr>
        <p:spPr>
          <a:xfrm>
            <a:off x="1371600" y="32004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C)  Hybrid Target Selection — choosing drug targets using AI</a:t>
            </a:r>
          </a:p>
        </p:txBody>
      </p:sp>
      <p:sp>
        <p:nvSpPr>
          <p:cNvPr id="7" name="Rounded Rectangle 6"/>
          <p:cNvSpPr/>
          <p:nvPr/>
        </p:nvSpPr>
        <p:spPr>
          <a:xfrm>
            <a:off x="1371600" y="38862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D)  Heterogeneous Training Set — a diverse ML dataset</a:t>
            </a:r>
          </a:p>
        </p:txBody>
      </p:sp>
      <p:sp>
        <p:nvSpPr>
          <p:cNvPr id="8" name="TextBox 7"/>
          <p:cNvSpPr txBox="1"/>
          <p:nvPr/>
        </p:nvSpPr>
        <p:spPr>
          <a:xfrm>
            <a:off x="914400" y="4709160"/>
            <a:ext cx="10058400" cy="1828800"/>
          </a:xfrm>
          <a:prstGeom prst="rect">
            <a:avLst/>
          </a:prstGeom>
          <a:noFill/>
        </p:spPr>
        <p:txBody>
          <a:bodyPr wrap="square">
            <a:spAutoFit/>
          </a:bodyPr>
          <a:lstStyle/>
          <a:p>
            <a:pPr algn="l">
              <a:defRPr sz="1600" b="0">
                <a:solidFill>
                  <a:srgbClr val="FFFFFF"/>
                </a:solidFill>
                <a:latin typeface="Calibri"/>
              </a:defRPr>
            </a:pPr>
            <a:r>
              <a:t>✓ HTS = High-Throughput Screening.</a:t>
            </a:r>
            <a:br/>
            <a:r>
              <a:t>Robotic systems test 100,000–1 million compounds/day against a biological target. Costs ~$1M per campaign. AI virtual screening can computationally screen billions of compounds at a fraction of the cost, guiding which compounds to actually synthesize and test.</a:t>
            </a:r>
          </a:p>
        </p:txBody>
      </p:sp>
      <p:sp>
        <p:nvSpPr>
          <p:cNvPr id="9" name="TextBox 8"/>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600" b="1">
                <a:solidFill>
                  <a:srgbClr val="1F77B4"/>
                </a:solidFill>
                <a:latin typeface="Calibri"/>
              </a:defRPr>
            </a:pPr>
            <a:r>
              <a:t>QUIZ — Question 8/10</a:t>
            </a:r>
          </a:p>
        </p:txBody>
      </p:sp>
      <p:sp>
        <p:nvSpPr>
          <p:cNvPr id="3" name="TextBox 2"/>
          <p:cNvSpPr txBox="1"/>
          <p:nvPr/>
        </p:nvSpPr>
        <p:spPr>
          <a:xfrm>
            <a:off x="731520" y="1005840"/>
            <a:ext cx="10515600" cy="1280160"/>
          </a:xfrm>
          <a:prstGeom prst="rect">
            <a:avLst/>
          </a:prstGeom>
          <a:noFill/>
        </p:spPr>
        <p:txBody>
          <a:bodyPr wrap="square">
            <a:spAutoFit/>
          </a:bodyPr>
          <a:lstStyle/>
          <a:p>
            <a:pPr algn="l">
              <a:defRPr sz="2800" b="1">
                <a:solidFill>
                  <a:srgbClr val="FFFFFF"/>
                </a:solidFill>
                <a:latin typeface="Calibri"/>
              </a:defRPr>
            </a:pPr>
            <a:r>
              <a:t>What does 'SHAP' stand for in machine learning?</a:t>
            </a:r>
          </a:p>
        </p:txBody>
      </p:sp>
      <p:sp>
        <p:nvSpPr>
          <p:cNvPr id="4" name="Rounded Rectangle 3"/>
          <p:cNvSpPr/>
          <p:nvPr/>
        </p:nvSpPr>
        <p:spPr>
          <a:xfrm>
            <a:off x="1371600" y="283464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A)  Statistical Hypothesis and Prediction</a:t>
            </a:r>
          </a:p>
        </p:txBody>
      </p:sp>
      <p:sp>
        <p:nvSpPr>
          <p:cNvPr id="5" name="Rounded Rectangle 4"/>
          <p:cNvSpPr/>
          <p:nvPr/>
        </p:nvSpPr>
        <p:spPr>
          <a:xfrm>
            <a:off x="1371600" y="379476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B)  Structural Heatmap and Pattern recognition</a:t>
            </a:r>
          </a:p>
        </p:txBody>
      </p:sp>
      <p:sp>
        <p:nvSpPr>
          <p:cNvPr id="6" name="Rounded Rectangle 5"/>
          <p:cNvSpPr/>
          <p:nvPr/>
        </p:nvSpPr>
        <p:spPr>
          <a:xfrm>
            <a:off x="1371600" y="475488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C)  SHapley Additive exPlanations</a:t>
            </a:r>
          </a:p>
        </p:txBody>
      </p:sp>
      <p:sp>
        <p:nvSpPr>
          <p:cNvPr id="7" name="Rounded Rectangle 6"/>
          <p:cNvSpPr/>
          <p:nvPr/>
        </p:nvSpPr>
        <p:spPr>
          <a:xfrm>
            <a:off x="1371600" y="571500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D)  Sequential Hierarchical Analysis Protocol</a:t>
            </a:r>
          </a:p>
        </p:txBody>
      </p:sp>
      <p:sp>
        <p:nvSpPr>
          <p:cNvPr id="8" name="TextBox 7"/>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274320"/>
            <a:ext cx="2743200" cy="365760"/>
          </a:xfrm>
          <a:prstGeom prst="rect">
            <a:avLst/>
          </a:prstGeom>
          <a:noFill/>
        </p:spPr>
        <p:txBody>
          <a:bodyPr wrap="square">
            <a:spAutoFit/>
          </a:bodyPr>
          <a:lstStyle/>
          <a:p>
            <a:pPr algn="l">
              <a:defRPr sz="1600" b="1">
                <a:solidFill>
                  <a:srgbClr val="27AE60"/>
                </a:solidFill>
                <a:latin typeface="Calibri"/>
              </a:defRPr>
            </a:pPr>
            <a:r>
              <a:t>ANSWER — Question 8/10</a:t>
            </a:r>
          </a:p>
        </p:txBody>
      </p:sp>
      <p:sp>
        <p:nvSpPr>
          <p:cNvPr id="3" name="TextBox 2"/>
          <p:cNvSpPr txBox="1"/>
          <p:nvPr/>
        </p:nvSpPr>
        <p:spPr>
          <a:xfrm>
            <a:off x="731520" y="731520"/>
            <a:ext cx="10515600" cy="822960"/>
          </a:xfrm>
          <a:prstGeom prst="rect">
            <a:avLst/>
          </a:prstGeom>
          <a:noFill/>
        </p:spPr>
        <p:txBody>
          <a:bodyPr wrap="square">
            <a:spAutoFit/>
          </a:bodyPr>
          <a:lstStyle/>
          <a:p>
            <a:pPr algn="l">
              <a:defRPr sz="2200" b="1">
                <a:solidFill>
                  <a:srgbClr val="F0F0F0"/>
                </a:solidFill>
                <a:latin typeface="Calibri"/>
              </a:defRPr>
            </a:pPr>
            <a:r>
              <a:t>What does 'SHAP' stand for in machine learning?</a:t>
            </a:r>
          </a:p>
        </p:txBody>
      </p:sp>
      <p:sp>
        <p:nvSpPr>
          <p:cNvPr id="4" name="Rounded Rectangle 3"/>
          <p:cNvSpPr/>
          <p:nvPr/>
        </p:nvSpPr>
        <p:spPr>
          <a:xfrm>
            <a:off x="1371600" y="18288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A)  Statistical Hypothesis and Prediction</a:t>
            </a:r>
          </a:p>
        </p:txBody>
      </p:sp>
      <p:sp>
        <p:nvSpPr>
          <p:cNvPr id="5" name="Rounded Rectangle 4"/>
          <p:cNvSpPr/>
          <p:nvPr/>
        </p:nvSpPr>
        <p:spPr>
          <a:xfrm>
            <a:off x="1371600" y="25146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B)  Structural Heatmap and Pattern recognition</a:t>
            </a:r>
          </a:p>
        </p:txBody>
      </p:sp>
      <p:sp>
        <p:nvSpPr>
          <p:cNvPr id="6" name="Rounded Rectangle 5"/>
          <p:cNvSpPr/>
          <p:nvPr/>
        </p:nvSpPr>
        <p:spPr>
          <a:xfrm>
            <a:off x="1371600" y="3200400"/>
            <a:ext cx="9144000" cy="594360"/>
          </a:xfrm>
          <a:prstGeom prst="roundRect">
            <a:avLst/>
          </a:prstGeom>
          <a:solidFill>
            <a:srgbClr val="27AE60"/>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FFFFFF"/>
                </a:solidFill>
                <a:latin typeface="Calibri"/>
              </a:defRPr>
            </a:pPr>
            <a:r>
              <a:t>  C)  SHapley Additive exPlanations</a:t>
            </a:r>
          </a:p>
        </p:txBody>
      </p:sp>
      <p:sp>
        <p:nvSpPr>
          <p:cNvPr id="7" name="Rounded Rectangle 6"/>
          <p:cNvSpPr/>
          <p:nvPr/>
        </p:nvSpPr>
        <p:spPr>
          <a:xfrm>
            <a:off x="1371600" y="38862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D)  Sequential Hierarchical Analysis Protocol</a:t>
            </a:r>
          </a:p>
        </p:txBody>
      </p:sp>
      <p:sp>
        <p:nvSpPr>
          <p:cNvPr id="8" name="TextBox 7"/>
          <p:cNvSpPr txBox="1"/>
          <p:nvPr/>
        </p:nvSpPr>
        <p:spPr>
          <a:xfrm>
            <a:off x="914400" y="4709160"/>
            <a:ext cx="10058400" cy="1828800"/>
          </a:xfrm>
          <a:prstGeom prst="rect">
            <a:avLst/>
          </a:prstGeom>
          <a:noFill/>
        </p:spPr>
        <p:txBody>
          <a:bodyPr wrap="square">
            <a:spAutoFit/>
          </a:bodyPr>
          <a:lstStyle/>
          <a:p>
            <a:pPr algn="l">
              <a:defRPr sz="1600" b="0">
                <a:solidFill>
                  <a:srgbClr val="FFFFFF"/>
                </a:solidFill>
                <a:latin typeface="Calibri"/>
              </a:defRPr>
            </a:pPr>
            <a:r>
              <a:t>✓ SHAP = SHapley Additive exPlanations (named after Shapley values from game theory).</a:t>
            </a:r>
            <a:br/>
            <a:r>
              <a:t>For each prediction, SHAP assigns a contribution score to each input feature. Allows us to explain WHY the model predicted a specific value. Critical for trust, debugging, and scientific discovery.</a:t>
            </a:r>
          </a:p>
        </p:txBody>
      </p:sp>
      <p:sp>
        <p:nvSpPr>
          <p:cNvPr id="9" name="TextBox 8"/>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600" b="1">
                <a:solidFill>
                  <a:srgbClr val="1F77B4"/>
                </a:solidFill>
                <a:latin typeface="Calibri"/>
              </a:defRPr>
            </a:pPr>
            <a:r>
              <a:t>QUIZ — Question 9/10</a:t>
            </a:r>
          </a:p>
        </p:txBody>
      </p:sp>
      <p:sp>
        <p:nvSpPr>
          <p:cNvPr id="3" name="TextBox 2"/>
          <p:cNvSpPr txBox="1"/>
          <p:nvPr/>
        </p:nvSpPr>
        <p:spPr>
          <a:xfrm>
            <a:off x="731520" y="1005840"/>
            <a:ext cx="10515600" cy="1280160"/>
          </a:xfrm>
          <a:prstGeom prst="rect">
            <a:avLst/>
          </a:prstGeom>
          <a:noFill/>
        </p:spPr>
        <p:txBody>
          <a:bodyPr wrap="square">
            <a:spAutoFit/>
          </a:bodyPr>
          <a:lstStyle/>
          <a:p>
            <a:pPr algn="l">
              <a:defRPr sz="2800" b="1">
                <a:solidFill>
                  <a:srgbClr val="FFFFFF"/>
                </a:solidFill>
                <a:latin typeface="Calibri"/>
              </a:defRPr>
            </a:pPr>
            <a:r>
              <a:t>What is a 'receptor' in pharmacology?</a:t>
            </a:r>
          </a:p>
        </p:txBody>
      </p:sp>
      <p:sp>
        <p:nvSpPr>
          <p:cNvPr id="4" name="Rounded Rectangle 3"/>
          <p:cNvSpPr/>
          <p:nvPr/>
        </p:nvSpPr>
        <p:spPr>
          <a:xfrm>
            <a:off x="1371600" y="283464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A)  A cell that detects external signals (like a neuron or sensory cell)</a:t>
            </a:r>
          </a:p>
        </p:txBody>
      </p:sp>
      <p:sp>
        <p:nvSpPr>
          <p:cNvPr id="5" name="Rounded Rectangle 4"/>
          <p:cNvSpPr/>
          <p:nvPr/>
        </p:nvSpPr>
        <p:spPr>
          <a:xfrm>
            <a:off x="1371600" y="379476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B)  A protein on a cell surface or inside cells that binds specific molecules and triggers a response</a:t>
            </a:r>
          </a:p>
        </p:txBody>
      </p:sp>
      <p:sp>
        <p:nvSpPr>
          <p:cNvPr id="6" name="Rounded Rectangle 5"/>
          <p:cNvSpPr/>
          <p:nvPr/>
        </p:nvSpPr>
        <p:spPr>
          <a:xfrm>
            <a:off x="1371600" y="475488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C)  Any molecule that receives electrons in a chemical reaction</a:t>
            </a:r>
          </a:p>
        </p:txBody>
      </p:sp>
      <p:sp>
        <p:nvSpPr>
          <p:cNvPr id="7" name="Rounded Rectangle 6"/>
          <p:cNvSpPr/>
          <p:nvPr/>
        </p:nvSpPr>
        <p:spPr>
          <a:xfrm>
            <a:off x="1371600" y="571500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D)  A medical device that monitors patient vital signs</a:t>
            </a:r>
          </a:p>
        </p:txBody>
      </p:sp>
      <p:sp>
        <p:nvSpPr>
          <p:cNvPr id="8" name="TextBox 7"/>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274320"/>
            <a:ext cx="2743200" cy="365760"/>
          </a:xfrm>
          <a:prstGeom prst="rect">
            <a:avLst/>
          </a:prstGeom>
          <a:noFill/>
        </p:spPr>
        <p:txBody>
          <a:bodyPr wrap="square">
            <a:spAutoFit/>
          </a:bodyPr>
          <a:lstStyle/>
          <a:p>
            <a:pPr algn="l">
              <a:defRPr sz="1600" b="1">
                <a:solidFill>
                  <a:srgbClr val="27AE60"/>
                </a:solidFill>
                <a:latin typeface="Calibri"/>
              </a:defRPr>
            </a:pPr>
            <a:r>
              <a:t>ANSWER — Question 9/10</a:t>
            </a:r>
          </a:p>
        </p:txBody>
      </p:sp>
      <p:sp>
        <p:nvSpPr>
          <p:cNvPr id="3" name="TextBox 2"/>
          <p:cNvSpPr txBox="1"/>
          <p:nvPr/>
        </p:nvSpPr>
        <p:spPr>
          <a:xfrm>
            <a:off x="731520" y="731520"/>
            <a:ext cx="10515600" cy="822960"/>
          </a:xfrm>
          <a:prstGeom prst="rect">
            <a:avLst/>
          </a:prstGeom>
          <a:noFill/>
        </p:spPr>
        <p:txBody>
          <a:bodyPr wrap="square">
            <a:spAutoFit/>
          </a:bodyPr>
          <a:lstStyle/>
          <a:p>
            <a:pPr algn="l">
              <a:defRPr sz="2200" b="1">
                <a:solidFill>
                  <a:srgbClr val="F0F0F0"/>
                </a:solidFill>
                <a:latin typeface="Calibri"/>
              </a:defRPr>
            </a:pPr>
            <a:r>
              <a:t>What is a 'receptor' in pharmacology?</a:t>
            </a:r>
          </a:p>
        </p:txBody>
      </p:sp>
      <p:sp>
        <p:nvSpPr>
          <p:cNvPr id="4" name="Rounded Rectangle 3"/>
          <p:cNvSpPr/>
          <p:nvPr/>
        </p:nvSpPr>
        <p:spPr>
          <a:xfrm>
            <a:off x="1371600" y="18288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A)  A cell that detects external signals (like a neuron or sensory cell)</a:t>
            </a:r>
          </a:p>
        </p:txBody>
      </p:sp>
      <p:sp>
        <p:nvSpPr>
          <p:cNvPr id="5" name="Rounded Rectangle 4"/>
          <p:cNvSpPr/>
          <p:nvPr/>
        </p:nvSpPr>
        <p:spPr>
          <a:xfrm>
            <a:off x="1371600" y="2514600"/>
            <a:ext cx="9144000" cy="594360"/>
          </a:xfrm>
          <a:prstGeom prst="roundRect">
            <a:avLst/>
          </a:prstGeom>
          <a:solidFill>
            <a:srgbClr val="27AE60"/>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FFFFFF"/>
                </a:solidFill>
                <a:latin typeface="Calibri"/>
              </a:defRPr>
            </a:pPr>
            <a:r>
              <a:t>  B)  A protein on a cell surface or inside cells that binds specific molecules and triggers a response</a:t>
            </a:r>
          </a:p>
        </p:txBody>
      </p:sp>
      <p:sp>
        <p:nvSpPr>
          <p:cNvPr id="6" name="Rounded Rectangle 5"/>
          <p:cNvSpPr/>
          <p:nvPr/>
        </p:nvSpPr>
        <p:spPr>
          <a:xfrm>
            <a:off x="1371600" y="32004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C)  Any molecule that receives electrons in a chemical reaction</a:t>
            </a:r>
          </a:p>
        </p:txBody>
      </p:sp>
      <p:sp>
        <p:nvSpPr>
          <p:cNvPr id="7" name="Rounded Rectangle 6"/>
          <p:cNvSpPr/>
          <p:nvPr/>
        </p:nvSpPr>
        <p:spPr>
          <a:xfrm>
            <a:off x="1371600" y="38862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D)  A medical device that monitors patient vital signs</a:t>
            </a:r>
          </a:p>
        </p:txBody>
      </p:sp>
      <p:sp>
        <p:nvSpPr>
          <p:cNvPr id="8" name="TextBox 7"/>
          <p:cNvSpPr txBox="1"/>
          <p:nvPr/>
        </p:nvSpPr>
        <p:spPr>
          <a:xfrm>
            <a:off x="914400" y="4709160"/>
            <a:ext cx="10058400" cy="1828800"/>
          </a:xfrm>
          <a:prstGeom prst="rect">
            <a:avLst/>
          </a:prstGeom>
          <a:noFill/>
        </p:spPr>
        <p:txBody>
          <a:bodyPr wrap="square">
            <a:spAutoFit/>
          </a:bodyPr>
          <a:lstStyle/>
          <a:p>
            <a:pPr algn="l">
              <a:defRPr sz="1600" b="0">
                <a:solidFill>
                  <a:srgbClr val="FFFFFF"/>
                </a:solidFill>
                <a:latin typeface="Calibri"/>
              </a:defRPr>
            </a:pPr>
            <a:r>
              <a:t>✓ A receptor is a protein that binds a specific molecule (ligand) and changes its activity as a result.</a:t>
            </a:r>
            <a:br/>
            <a:r>
              <a:t>Most drug receptors are on the cell surface or inside cells. About 34% of all FDA drugs target GPCRs (G Protein-Coupled Receptors) — a specific family of receptors with 7 membrane-spanning segments.</a:t>
            </a:r>
          </a:p>
        </p:txBody>
      </p:sp>
      <p:sp>
        <p:nvSpPr>
          <p:cNvPr id="9" name="TextBox 8"/>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600" b="1">
                <a:solidFill>
                  <a:srgbClr val="1F77B4"/>
                </a:solidFill>
                <a:latin typeface="Calibri"/>
              </a:defRPr>
            </a:pPr>
            <a:r>
              <a:t>QUIZ — Question 10/10</a:t>
            </a:r>
          </a:p>
        </p:txBody>
      </p:sp>
      <p:sp>
        <p:nvSpPr>
          <p:cNvPr id="3" name="TextBox 2"/>
          <p:cNvSpPr txBox="1"/>
          <p:nvPr/>
        </p:nvSpPr>
        <p:spPr>
          <a:xfrm>
            <a:off x="731520" y="1005840"/>
            <a:ext cx="10515600" cy="1280160"/>
          </a:xfrm>
          <a:prstGeom prst="rect">
            <a:avLst/>
          </a:prstGeom>
          <a:noFill/>
        </p:spPr>
        <p:txBody>
          <a:bodyPr wrap="square">
            <a:spAutoFit/>
          </a:bodyPr>
          <a:lstStyle/>
          <a:p>
            <a:pPr algn="l">
              <a:defRPr sz="2800" b="1">
                <a:solidFill>
                  <a:srgbClr val="FFFFFF"/>
                </a:solidFill>
                <a:latin typeface="Calibri"/>
              </a:defRPr>
            </a:pPr>
            <a:r>
              <a:t>What does 'LogP' measure in medicinal chemistry?</a:t>
            </a:r>
          </a:p>
        </p:txBody>
      </p:sp>
      <p:sp>
        <p:nvSpPr>
          <p:cNvPr id="4" name="Rounded Rectangle 3"/>
          <p:cNvSpPr/>
          <p:nvPr/>
        </p:nvSpPr>
        <p:spPr>
          <a:xfrm>
            <a:off x="1371600" y="283464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A)  The logarithm of a drug's potency (pIC50)</a:t>
            </a:r>
          </a:p>
        </p:txBody>
      </p:sp>
      <p:sp>
        <p:nvSpPr>
          <p:cNvPr id="5" name="Rounded Rectangle 4"/>
          <p:cNvSpPr/>
          <p:nvPr/>
        </p:nvSpPr>
        <p:spPr>
          <a:xfrm>
            <a:off x="1371600" y="379476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B)  The log of the ratio of drug concentration in octanol vs. water — measures lipophilicity</a:t>
            </a:r>
          </a:p>
        </p:txBody>
      </p:sp>
      <p:sp>
        <p:nvSpPr>
          <p:cNvPr id="6" name="Rounded Rectangle 5"/>
          <p:cNvSpPr/>
          <p:nvPr/>
        </p:nvSpPr>
        <p:spPr>
          <a:xfrm>
            <a:off x="1371600" y="475488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C)  The number of chiral centers in a molecule expressed on a log scale</a:t>
            </a:r>
          </a:p>
        </p:txBody>
      </p:sp>
      <p:sp>
        <p:nvSpPr>
          <p:cNvPr id="7" name="Rounded Rectangle 6"/>
          <p:cNvSpPr/>
          <p:nvPr/>
        </p:nvSpPr>
        <p:spPr>
          <a:xfrm>
            <a:off x="1371600" y="571500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D)  The logarithm of a drug's molecular weight</a:t>
            </a:r>
          </a:p>
        </p:txBody>
      </p:sp>
      <p:sp>
        <p:nvSpPr>
          <p:cNvPr id="8" name="TextBox 7"/>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274320"/>
            <a:ext cx="2743200" cy="365760"/>
          </a:xfrm>
          <a:prstGeom prst="rect">
            <a:avLst/>
          </a:prstGeom>
          <a:noFill/>
        </p:spPr>
        <p:txBody>
          <a:bodyPr wrap="square">
            <a:spAutoFit/>
          </a:bodyPr>
          <a:lstStyle/>
          <a:p>
            <a:pPr algn="l">
              <a:defRPr sz="1600" b="1">
                <a:solidFill>
                  <a:srgbClr val="27AE60"/>
                </a:solidFill>
                <a:latin typeface="Calibri"/>
              </a:defRPr>
            </a:pPr>
            <a:r>
              <a:t>ANSWER — Question 10/10</a:t>
            </a:r>
          </a:p>
        </p:txBody>
      </p:sp>
      <p:sp>
        <p:nvSpPr>
          <p:cNvPr id="3" name="TextBox 2"/>
          <p:cNvSpPr txBox="1"/>
          <p:nvPr/>
        </p:nvSpPr>
        <p:spPr>
          <a:xfrm>
            <a:off x="731520" y="731520"/>
            <a:ext cx="10515600" cy="822960"/>
          </a:xfrm>
          <a:prstGeom prst="rect">
            <a:avLst/>
          </a:prstGeom>
          <a:noFill/>
        </p:spPr>
        <p:txBody>
          <a:bodyPr wrap="square">
            <a:spAutoFit/>
          </a:bodyPr>
          <a:lstStyle/>
          <a:p>
            <a:pPr algn="l">
              <a:defRPr sz="2200" b="1">
                <a:solidFill>
                  <a:srgbClr val="F0F0F0"/>
                </a:solidFill>
                <a:latin typeface="Calibri"/>
              </a:defRPr>
            </a:pPr>
            <a:r>
              <a:t>What does 'LogP' measure in medicinal chemistry?</a:t>
            </a:r>
          </a:p>
        </p:txBody>
      </p:sp>
      <p:sp>
        <p:nvSpPr>
          <p:cNvPr id="4" name="Rounded Rectangle 3"/>
          <p:cNvSpPr/>
          <p:nvPr/>
        </p:nvSpPr>
        <p:spPr>
          <a:xfrm>
            <a:off x="1371600" y="18288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A)  The logarithm of a drug's potency (pIC50)</a:t>
            </a:r>
          </a:p>
        </p:txBody>
      </p:sp>
      <p:sp>
        <p:nvSpPr>
          <p:cNvPr id="5" name="Rounded Rectangle 4"/>
          <p:cNvSpPr/>
          <p:nvPr/>
        </p:nvSpPr>
        <p:spPr>
          <a:xfrm>
            <a:off x="1371600" y="2514600"/>
            <a:ext cx="9144000" cy="594360"/>
          </a:xfrm>
          <a:prstGeom prst="roundRect">
            <a:avLst/>
          </a:prstGeom>
          <a:solidFill>
            <a:srgbClr val="27AE60"/>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FFFFFF"/>
                </a:solidFill>
                <a:latin typeface="Calibri"/>
              </a:defRPr>
            </a:pPr>
            <a:r>
              <a:t>  B)  The log of the ratio of drug concentration in octanol vs. water — measures lipophilicity</a:t>
            </a:r>
          </a:p>
        </p:txBody>
      </p:sp>
      <p:sp>
        <p:nvSpPr>
          <p:cNvPr id="6" name="Rounded Rectangle 5"/>
          <p:cNvSpPr/>
          <p:nvPr/>
        </p:nvSpPr>
        <p:spPr>
          <a:xfrm>
            <a:off x="1371600" y="32004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C)  The number of chiral centers in a molecule expressed on a log scale</a:t>
            </a:r>
          </a:p>
        </p:txBody>
      </p:sp>
      <p:sp>
        <p:nvSpPr>
          <p:cNvPr id="7" name="Rounded Rectangle 6"/>
          <p:cNvSpPr/>
          <p:nvPr/>
        </p:nvSpPr>
        <p:spPr>
          <a:xfrm>
            <a:off x="1371600" y="38862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D)  The logarithm of a drug's molecular weight</a:t>
            </a:r>
          </a:p>
        </p:txBody>
      </p:sp>
      <p:sp>
        <p:nvSpPr>
          <p:cNvPr id="8" name="TextBox 7"/>
          <p:cNvSpPr txBox="1"/>
          <p:nvPr/>
        </p:nvSpPr>
        <p:spPr>
          <a:xfrm>
            <a:off x="914400" y="4709160"/>
            <a:ext cx="10058400" cy="1828800"/>
          </a:xfrm>
          <a:prstGeom prst="rect">
            <a:avLst/>
          </a:prstGeom>
          <a:noFill/>
        </p:spPr>
        <p:txBody>
          <a:bodyPr wrap="square">
            <a:spAutoFit/>
          </a:bodyPr>
          <a:lstStyle/>
          <a:p>
            <a:pPr algn="l">
              <a:defRPr sz="1600" b="0">
                <a:solidFill>
                  <a:srgbClr val="FFFFFF"/>
                </a:solidFill>
                <a:latin typeface="Calibri"/>
              </a:defRPr>
            </a:pPr>
            <a:r>
              <a:t>✓ LogP = log10([drug in octanol]/[drug in water]). Measures lipophilicity (fat-loving vs. water-loving).</a:t>
            </a:r>
            <a:br/>
            <a:r>
              <a:t>Higher LogP = more lipophilic (oily). Lower = more hydrophilic (watery). Lipinski's Rule of Five requires LogP ≤ 5. CNS drugs need LogP 1-3 to cross the blood-brain barrier.</a:t>
            </a:r>
          </a:p>
        </p:txBody>
      </p:sp>
      <p:sp>
        <p:nvSpPr>
          <p:cNvPr id="9" name="TextBox 8"/>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F77B4"/>
        </a:solidFill>
        <a:effectLst/>
      </p:bgPr>
    </p:bg>
    <p:spTree>
      <p:nvGrpSpPr>
        <p:cNvPr id="1" name=""/>
        <p:cNvGrpSpPr/>
        <p:nvPr/>
      </p:nvGrpSpPr>
      <p:grpSpPr/>
      <p:sp>
        <p:nvSpPr>
          <p:cNvPr id="2" name="TextBox 1"/>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Great! Now You Speak the Language 📚</a:t>
            </a:r>
          </a:p>
        </p:txBody>
      </p:sp>
      <p:sp>
        <p:nvSpPr>
          <p:cNvPr id="3" name="TextBox 2"/>
          <p:cNvSpPr txBox="1"/>
          <p:nvPr/>
        </p:nvSpPr>
        <p:spPr>
          <a:xfrm>
            <a:off x="914400" y="3840480"/>
            <a:ext cx="10058400" cy="914400"/>
          </a:xfrm>
          <a:prstGeom prst="rect">
            <a:avLst/>
          </a:prstGeom>
          <a:noFill/>
        </p:spPr>
        <p:txBody>
          <a:bodyPr wrap="square">
            <a:spAutoFit/>
          </a:bodyPr>
          <a:lstStyle/>
          <a:p>
            <a:pPr algn="ctr">
              <a:defRPr sz="2000" b="0">
                <a:solidFill>
                  <a:srgbClr val="FFFFFF"/>
                </a:solidFill>
                <a:latin typeface="Calibri"/>
              </a:defRPr>
            </a:pPr>
            <a:r>
              <a:t>QSAR, SMILES, ECFP, ADMET, IC50, BBB, HTS, SHAP, receptor, LogP — check!</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