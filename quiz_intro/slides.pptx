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Use this quiz at the very start of Day 1, BEFORE the lecture slides. It takes about 20-30 min. The quiz serves as an icebreaker and gives students a broad overview of the drug discovery landscape. Read each question aloud, give students 30 seconds to think, then advance to the answer slide. Encourage discussion after each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students guess. Most will say Lipitor or Viagra. This question introduces the concept of blockbuster drugs (&gt;$1B/year revenue). Give them 30 seconds to think.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Statista (2024) 'Top pharmaceutical products by lifetime sales worldwide.' AbbVie annual reports confirm Humira's cumulative sales exceeded $200B by 2023. Peak annual sales: $21.2B in 2022.</a:t>
            </a:r>
          </a:p>
          <a:p/>
          <a:p>
            <a:r>
              <a:t>EXPLAIN IN DETAIL:</a:t>
            </a:r>
          </a:p>
          <a:p>
            <a:r>
              <a:t>- Humira (adalimumab) is a monoclonal antibody that blocks TNF-alpha, a key inflammatory cytokine. It was approved in 2002 and became the world's best-selling drug.</a:t>
            </a:r>
          </a:p>
          <a:p>
            <a:r>
              <a:t>- A 'blockbuster drug' is defined as one earning &gt;$1 billion per year in revenue. Humira earned &gt;$20B/year at its peak.</a:t>
            </a:r>
          </a:p>
          <a:p>
            <a:r>
              <a:t>- Lipitor (atorvastatin, Pfizer) was the previous record holder — a statin that lowers cholesterol by inhibiting HMG-CoA reductase. Lifetime ~$125-170B.</a:t>
            </a:r>
          </a:p>
          <a:p>
            <a:r>
              <a:t>- KEY DISTINCTION: Humira is a biologic (large protein molecule, injected), Lipitor is a small molecule (taken orally as a pill). This distinction matters for AI drug discovery — designing small molecules vs. biologics requires very different approaches.</a:t>
            </a:r>
          </a:p>
          <a:p>
            <a:r>
              <a:t>- Humira's patent expired in 2023 (EU) and biosimilars are now available, which is why its sales are declining.</a:t>
            </a:r>
          </a:p>
          <a:p>
            <a:r>
              <a:t>- Viagra (sildenafil) is iconic but lifetime revenue is only ~$30-40B — much less than Humira or Lipitor.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explores the deep history of pharmacology. Many students may say aspirin. Let them discuss for a moment.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Brownstein, M.J. (1993) 'A brief history of opiates, opioid peptides, and opioid receptors.' Proc. Natl. Acad. Sci. 90:5391-5393. Archaeological evidence from Sumerian clay tablets (~3400 BCE) describes opium poppy cultivation.</a:t>
            </a:r>
          </a:p>
          <a:p/>
          <a:p>
            <a:r>
              <a:t>EXPLAIN IN DETAIL:</a:t>
            </a:r>
          </a:p>
          <a:p>
            <a:r>
              <a:t>- Opium is extracted from Papaver somniferum (the opium poppy). The Sumerians in Mesopotamia (modern Iraq) used it for pain relief and called it 'hul gil' — the 'joy plant.'</a:t>
            </a:r>
          </a:p>
          <a:p>
            <a:r>
              <a:t>- The active compound is morphine, which was isolated in 1804 by Friedrich Sertürner — this was the first alkaloid ever isolated from a plant, marking the birth of modern pharmacology.</a:t>
            </a:r>
          </a:p>
          <a:p>
            <a:r>
              <a:t>- TRICKY POINT: Alcohol (ethanol) from fermentation dates to ~7000 BCE, but it was primarily used as a beverage, not as a medicine. If we define 'drug' as a substance intentionally used for therapeutic effect, opium is the clear winner.</a:t>
            </a:r>
          </a:p>
          <a:p>
            <a:r>
              <a:t>- Willow bark (salicin, precursor to aspirin) was used by Egyptians and Hippocrates (~400 BCE) for pain/fever. Aspirin (acetylsalicylic acid) was synthesized by Felix Hoffmann at Bayer in 1897.</a:t>
            </a:r>
          </a:p>
          <a:p>
            <a:r>
              <a:t>- Penicillin: discovered 1928 by Alexander Fleming, first clinical use 1941. Much more recent.</a:t>
            </a:r>
          </a:p>
          <a:p>
            <a:r>
              <a:t>- KEY TAKEAWAY: Humans have been doing 'drug discovery' for over 5,000 years. What's changed is that we now understand WHY these drugs work (opium → opioid receptors, willow bark → COX inhibition). AI helps us find new drugs faster by understanding these mechanisms computationally.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teaches students about drug target families. Most AI/bioinformatics students may not know what a GPCR is. This is a great teaching moment.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Saikia et al. (2019) 'Established and In-trial GPCR Families in Clinical Trials: A Review for Target Selection.' Curr. Drug Targets 20:522-539. Also: Hauser et al. (2017) 'Trends in GPCR drug discovery: new agents, targets and indications.' Nature Rev. Drug Discov. 16:829-842.</a:t>
            </a:r>
          </a:p>
          <a:p/>
          <a:p>
            <a:r>
              <a:t>EXPLAIN IN DETAIL:</a:t>
            </a:r>
          </a:p>
          <a:p>
            <a:r>
              <a:t>- GPCRs (G Protein-Coupled Receptors) are a superfamily of ~800 membrane proteins in humans. They have 7 transmembrane domains and signal through G proteins.</a:t>
            </a:r>
          </a:p>
          <a:p>
            <a:r>
              <a:t>- ~34% of FDA-approved drugs target GPCRs on ~108 unique GPCR targets. This makes them by far the most 'druggable' protein family.</a:t>
            </a:r>
          </a:p>
          <a:p>
            <a:r>
              <a:t>- Examples students should know: beta-2 adrenergic receptor (salbutamol for asthma), histamine H1 receptor (cetirizine for allergies), mu-opioid receptor (morphine for pain), serotonin receptors (fluoxetine/Prozac for depression), dopamine D2 receptor (haloperidol for schizophrenia).</a:t>
            </a:r>
          </a:p>
          <a:p>
            <a:r>
              <a:t>- Ion channels are ~15% (important for neurology/cardiology — hERG, Nav, GABA-A).</a:t>
            </a:r>
          </a:p>
          <a:p>
            <a:r>
              <a:t>- Kinases are ~12% (mostly oncology — imatinib, erlotinib).</a:t>
            </a:r>
          </a:p>
          <a:p>
            <a:r>
              <a:t>- Nuclear receptors are ~8% (steroid hormones — estrogen receptor, glucocorticoid receptor).</a:t>
            </a:r>
          </a:p>
          <a:p>
            <a:r>
              <a:t>- WHY THIS MATTERS FOR AI: AlphaFold can now predict GPCR structures. Combined with molecular docking and GNNs, AI can design new GPCR drugs computationally. This is a huge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distinguishes between 'most revenue' (Humira) and 'most prescribed' (volume). Very different answers!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Oregon DFR (2024) '2024 Insurer Reporting Prescription Drug List.' Also: ClinCalc DrugStats database (clinicalc.com/DrugStats) tracks US prescription volumes.</a:t>
            </a:r>
          </a:p>
          <a:p/>
          <a:p>
            <a:r>
              <a:t>EXPLAIN IN DETAIL:</a:t>
            </a:r>
          </a:p>
          <a:p>
            <a:r>
              <a:t>- IMPORTANT DISTINCTION: 'Most prescribed' (by volume) ≠ 'highest revenue.' Atorvastatin is prescribed the most but is now generic and cheap (~$10/month). Humira earns the most revenue because each dose costs ~$5,000-7,000.</a:t>
            </a:r>
          </a:p>
          <a:p>
            <a:r>
              <a:t>- Atorvastatin is an HMG-CoA reductase inhibitor (statin). It lowers LDL cholesterol and is prescribed for cardiovascular disease prevention. It was originally Pfizer's Lipitor — the highest-grossing drug before Humira.</a:t>
            </a:r>
          </a:p>
          <a:p>
            <a:r>
              <a:t>- Metformin is the first-line treatment for type 2 diabetes. It works by decreasing hepatic glucose production and increasing insulin sensitivity. It is also being studied for anti-aging effects!</a:t>
            </a:r>
          </a:p>
          <a:p>
            <a:r>
              <a:t>- The top 5 most prescribed drugs are ALL for chronic conditions: cholesterol (atorvastatin), thyroid (levothyroxine), blood pressure (lisinopril), ADHD (amphetamine salts), diabetes (metformin). These represent the biggest disease burdens globally.</a:t>
            </a:r>
          </a:p>
          <a:p>
            <a:r>
              <a:t>- WHY THIS MATTERS FOR AI: These drugs target well-understood mechanisms with huge datasets (millions of patient records, thousands of compounds tested). This is where AI/QSAR models have the most training data and highest impact.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highlights why oral bioavailability (Lipinski's Rule of Five) matters so much in drug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Lipinski et al. (1997) 'Experimental and computational approaches to estimate solubility and permeability in drug discovery.' Adv. Drug Deliv. Rev. 23:3-25. Also: Homayun et al. (2019) 'Challenges and Recent Progress in Oral Drug Delivery.' Pharmaceutics 11(3):129.</a:t>
            </a:r>
          </a:p>
          <a:p/>
          <a:p>
            <a:r>
              <a:t>EXPLAIN IN DETAIL:</a:t>
            </a:r>
          </a:p>
          <a:p>
            <a:r>
              <a:t>- The oral route dominates because it is the simplest, cheapest, and most convenient for patients. Patient compliance is highest for oral drugs.</a:t>
            </a:r>
          </a:p>
          <a:p>
            <a:r>
              <a:t>- But oral drugs face major hurdles: they must survive stomach acid (pH 1-3), be absorbed through the intestinal wall, survive first-pass metabolism in the liver, and reach the target tissue at sufficient concentration.</a:t>
            </a:r>
          </a:p>
          <a:p>
            <a:r>
              <a:t>- This is why Lipinski's Rule of Five (Ro5) is so important: it defines the physicochemical properties that predict oral absorption. We will learn this on Day 2.</a:t>
            </a:r>
          </a:p>
          <a:p>
            <a:r>
              <a:t>- Other routes: injection (~10-20%, for drugs that can't survive the gut or need rapid action — e.g., insulin, antibodies like Humira), topical (~2-5%, skin creams), transdermal (&lt;2%, patches like nicotine/fentanyl), inhalation (asthma inhalers), intrathecal (into spinal fluid for CNS drugs).</a:t>
            </a:r>
          </a:p>
          <a:p>
            <a:r>
              <a:t>- IMPORTANT FOR AI: Most QSAR models predict properties relevant to oral drugs (solubility, permeability, LogP). If your target is a CNS drug, you also need blood-brain barrier (BBB) penetration — an additional filter beyond Ro5.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overestimate the veterinary market. This question provides perspective on market sizes.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Straits Research (2024) 'Veterinary Pharmaceutical Drugs Market Size.' Reports veterinary pharma at ~$53B in 2024. IQVIA/Statista (2024) reports human pharma at ~$1.58 trillion.</a:t>
            </a:r>
          </a:p>
          <a:p/>
          <a:p>
            <a:r>
              <a:t>EXPLAIN IN DETAIL:</a:t>
            </a:r>
          </a:p>
          <a:p>
            <a:r>
              <a:t>- Human pharmaceutical market (2024): ~$1.58 trillion. This is one of the largest industries on Earth.</a:t>
            </a:r>
          </a:p>
          <a:p>
            <a:r>
              <a:t>- Veterinary pharmaceutical market (2024): ~$53 billion. About 3.3% of human pharma.</a:t>
            </a:r>
          </a:p>
          <a:p>
            <a:r>
              <a:t>- BUT veterinary pharma is growing faster (~8-9% CAGR vs. ~5-6% for human pharma), driven by the pet care boom — people increasingly treat pets like family members and spend more on their healthcare.</a:t>
            </a:r>
          </a:p>
          <a:p>
            <a:r>
              <a:t>- The veterinary market breaks down into: livestock/production animals (~55%) vs. companion animals/pets (~45%). The pet segment is growing fastest.</a:t>
            </a:r>
          </a:p>
          <a:p>
            <a:r>
              <a:t>- INTERESTING OVERLAP: Many drugs work in both humans and animals! Ivermectin (antiparasitic), gabapentin (pain), fluoxetine (anxiety in dogs), and many antibiotics are used across species. The 'One Health' concept recognizes that human, animal, and environmental health are interconnected.</a:t>
            </a:r>
          </a:p>
          <a:p>
            <a:r>
              <a:t>- CONNECTION TO THE COURSE: The David Willson mRNA vaccine story (Day 1 slide 7) is a veterinary application. AI drug discovery methods apply equally to both markets. Some companies (like Invetx/Dechra) are using AI specifically for veterinary drug discovery.</a:t>
            </a:r>
          </a:p>
          <a:p>
            <a:r>
              <a:t>- REGULATORY DIFFERENCE: FDA Center for Veterinary Medicine (CVM) handles animal drugs. Approval is generally faster and cheaper than for human drugs, making it potentially a good entry point for AI-discovered drugs.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thought-provoking question. All four have saved millions. Let students debate.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Science History Institute: 'To date, penicillin has saved an estimated 200 million lives worldwide.' Guinness World Records lists Penicillium as the 'most life-saving fungi.'</a:t>
            </a:r>
          </a:p>
          <a:p/>
          <a:p>
            <a:r>
              <a:t>EXPLAIN IN DETAIL:</a:t>
            </a:r>
          </a:p>
          <a:p>
            <a:r>
              <a:t>- Penicillin was discovered by Alexander Fleming in 1928 when he noticed that Penicillium mold killed bacteria on a petri dish. But it wasn't developed into a usable drug until Howard Florey and Ernst Boris Chain purified it in 1940-41 (all three shared the 1945 Nobel Prize in Physiology or Medicine).</a:t>
            </a:r>
          </a:p>
          <a:p>
            <a:r>
              <a:t>- Before penicillin, a simple scratch could be lethal if it got infected. Bacterial pneumonia, wound infections, strep throat — all were potential death sentences. Penicillin transformed medicine.</a:t>
            </a:r>
          </a:p>
          <a:p>
            <a:r>
              <a:t>- HOW IT WORKS: Penicillin inhibits bacterial cell wall synthesis by blocking transpeptidase (penicillin-binding proteins, PBPs). Bacteria can't maintain their cell wall → they lyse and die. Human cells don't have cell walls, so penicillin is selectively toxic to bacteria.</a:t>
            </a:r>
          </a:p>
          <a:p>
            <a:r>
              <a:t>- ORS is also an incredible answer — it has saved ~70 million lives by treating dehydration from diarrheal diseases, primarily in children in developing countries. It's the simplest 'drug' imaginable: water + salt + sugar.</a:t>
            </a:r>
          </a:p>
          <a:p>
            <a:r>
              <a:t>- Chloroquine has saved tens of millions from malaria. Insulin has saved millions of Type 1 diabetics since 1922.</a:t>
            </a:r>
          </a:p>
          <a:p>
            <a:r>
              <a:t>- KEY TAKEAWAY: The most impactful drugs are often simple molecules with well-understood mechanisms. AI can help find the NEXT penicillin by screening billions of compounds against novel bacterial targets — especially important given rising antibiotic resistance (see Stokes et al. 2020, Cell — halicin discovery).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sets up the motivation for the entire course: why we need AI to speed up drug discovery.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DiMasi et al. (2016) 'Innovation in the pharmaceutical industry: New estimates of R&amp;D costs.' J. Health Economics 47:20-33. Reports $2.558B out-of-pocket ($2.87B capitalized). Also: BIO/Informa/QLS (2021) 'Clinical Development Success Rates 2011-2020' for the ~7.9% overall success rate.</a:t>
            </a:r>
          </a:p>
          <a:p/>
          <a:p>
            <a:r>
              <a:t>EXPLAIN IN DETAIL:</a:t>
            </a:r>
          </a:p>
          <a:p>
            <a:r>
              <a:t>- The breakdown: Target ID &amp; Validation (1-2 years) → Lead Discovery &amp; Optimization (2-3 years) → Preclinical (1-2 years) → Phase I safety (1-2 years) → Phase II efficacy (2-3 years) → Phase III large-scale (3-4 years) → FDA Review (1-2 years).</a:t>
            </a:r>
          </a:p>
          <a:p>
            <a:r>
              <a:t>- Total: 10-15 years. Average cost per approved drug: ~$2.6 billion. This includes the cost of ALL the failed drugs along the way (&gt;90% failure rate).</a:t>
            </a:r>
          </a:p>
          <a:p>
            <a:r>
              <a:t>- WHY AI MATTERS: Insilico Medicine's ISM001-055 (Rentosertib) went from project start to Phase IIa enrollment in ~30 months — compressing the first 5-6 years of the pipeline. CITATION: Ren et al. (2024) Nature Biotechnology. doi:10.1038/s41587-024-02143-0.</a:t>
            </a:r>
          </a:p>
          <a:p>
            <a:r>
              <a:t>- BUT: AI primarily accelerates the EARLY stages (target ID, virtual screening, lead optimization). Clinical trials still take 5-10 years because you have to test in humans and that takes time for safety reasons.</a:t>
            </a:r>
          </a:p>
          <a:p>
            <a:r>
              <a:t>- The $2.6B figure is controversial — some argue it's inflated by opportunity cost calculations. But even conservative estimates put the cost at &gt;$1B per approved drug.</a:t>
            </a:r>
          </a:p>
          <a:p>
            <a:r>
              <a:t>- KEY MESSAGE FOR THE COURSE: AI won't eliminate the need for clinical trials. But it can dramatically reduce the cost and time of the preclinical stages, and improve the success rate by better predicting which drugs will fail.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introduces the concept of TARGETED therapy — the foundation of modern rational drug design and what AI tries to optimize.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Ehrlich, P. (1913) 'Address in Pathology on Chemotherapeutics: Scientific Principles, Methods and Results.' The Lancet 182:445-451. Also: Strebhardt &amp; Ullrich (2008) 'Paul Ehrlich's magic bullet concept: 100 years of progress.' Nature Rev. Cancer 8:473-480.</a:t>
            </a:r>
          </a:p>
          <a:p/>
          <a:p>
            <a:r>
              <a:t>EXPLAIN IN DETAIL:</a:t>
            </a:r>
          </a:p>
          <a:p>
            <a:r>
              <a:t>- Paul Ehrlich (1854-1915) is the father of chemotherapy. He proposed the 'Zauberkugel' (magic bullet) concept: a chemical that selectively kills disease-causing organisms without harming the patient.</a:t>
            </a:r>
          </a:p>
          <a:p>
            <a:r>
              <a:t>- He systematically tested hundreds of arsenic-based compounds against Treponema pallidum (the syphilis bacterium). Compound number 606 worked — hence the name 'Salvarsan' ('that which saves by arsenic').</a:t>
            </a:r>
          </a:p>
          <a:p>
            <a:r>
              <a:t>- This was the FIRST example of rational, systematic drug screening — the precursor to modern high-throughput screening (HTS) and virtual screening. Ehrlich tested 606 compounds manually. Today, AI can screen billions of virtual compounds in silico.</a:t>
            </a:r>
          </a:p>
          <a:p>
            <a:r>
              <a:t>- The concept of the 'magic bullet' is the FOUNDATION of targeted drug design: find a molecule that binds specifically to a disease target (receptor, enzyme, ion channel) without hitting 'off-targets' that cause side effects.</a:t>
            </a:r>
          </a:p>
          <a:p>
            <a:r>
              <a:t>- Ehrlich won the 1908 Nobel Prize in Physiology or Medicine for his work on immunity. His chemotherapy work came after the Nobel Prize.</a:t>
            </a:r>
          </a:p>
          <a:p>
            <a:r>
              <a:t>- CONNECTION TO AI: Modern drug discovery is essentially Ehrlich's approach scaled up with AI. Instead of testing 606 compounds by hand, we use QSAR models and GNNs to predict which of 10^60 possible molecules will be the best 'magic bullet' for a given target. Same concept, exponentially more powerful.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question. This shows where the industry is currently investing the most.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CITATION: FDA CDER (2024) 'Novel Drug Approvals for 2024' — 50 novel drugs approved. Also: Mullard (2025) 'FDA approvals.' Nature Rev. Drug Discov. (annual review).</a:t>
            </a:r>
          </a:p>
          <a:p/>
          <a:p>
            <a:r>
              <a:t>EXPLAIN IN DETAIL:</a:t>
            </a:r>
          </a:p>
          <a:p>
            <a:r>
              <a:t>- Oncology dominates new drug approvals because: (1) cancer is a leading cause of death globally, (2) precision medicine/genomics has enabled targeted therapies, (3) immune checkpoint inhibitors (like Keytruda) revolutionized treatment, (4) FDA has accelerated approval pathways for cancer drugs (breakthrough therapy designation, accelerated approval).</a:t>
            </a:r>
          </a:p>
          <a:p>
            <a:r>
              <a:t>- In 2024: ~13-15 of 50 novel FDA approvals were oncology drugs. Neurology/CNS was second with ~6-8 approvals.</a:t>
            </a:r>
          </a:p>
          <a:p>
            <a:r>
              <a:t>- HISTORICAL SHIFT: In the 1990s-2000s, cardiovascular drugs dominated (statins, ACE inhibitors, ARBs). But most cardiovascular targets are now well-served by generics, so pharma has shifted investment to oncology where there's more unmet need and higher prices.</a:t>
            </a:r>
          </a:p>
          <a:p>
            <a:r>
              <a:t>- CNS drugs have the HIGHEST failure rate of any therapeutic area (~97% failure rate in clinical trials for Alzheimer's drugs). This is because: the blood-brain barrier (BBB) blocks most drugs, brain biology is poorly understood, and clinical endpoints are harder to measure.</a:t>
            </a:r>
          </a:p>
          <a:p>
            <a:r>
              <a:t>- WHY AI MATTERS: AI is particularly valuable for oncology (massive genomics datasets, precision medicine) and for CNS (where traditional approaches have failed, AI might find new targets and BBB-penetrant molecules). Both are active areas of AI drug discovery research.</a:t>
            </a:r>
          </a:p>
          <a:p>
            <a:r>
              <a:t>- CONNECTION TO THE COURSE: In Day 3, we discuss AlphaFold structures for CNS targets (GPCRs, ion channels) and how AI can predict BBB penetration (Day 2 QSAR models). The challenge of CNS drug discovery motivates better AI methods.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End of quiz.</a:t>
            </a:r>
          </a:p>
          <a:p/>
          <a:p>
            <a:r>
              <a:t>Recap: We've covered drug history, market sizes, targets, timelines, and therapeutic areas. All of these topics will come up again during the 4-day course. Now let's start with the Day 1 lecture!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4572000" cy="548640"/>
          </a:xfrm>
          <a:prstGeom prst="rect">
            <a:avLst/>
          </a:prstGeom>
          <a:noFill/>
        </p:spPr>
        <p:txBody>
          <a:bodyPr wrap="square">
            <a:spAutoFit/>
          </a:bodyPr>
          <a:lstStyle/>
          <a:p>
            <a:pPr algn="l">
              <a:defRPr sz="1600" b="1">
                <a:solidFill>
                  <a:srgbClr val="1F77B4"/>
                </a:solidFill>
                <a:latin typeface="Calibri"/>
              </a:defRPr>
            </a:pPr>
            <a:r>
              <a:t>DAY 1 — 15 April 2026</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Drug Discovery Quiz</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10 questions to test your knowledge — from ancient remedies to billion-dollar blockbusters</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1/10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is the highest-grossing drug of all time by total revenue?</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Lipitor (atorvastatin) — cholesterol</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Humira (adalimumab) — autoimmune diseases</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Keytruda (pembrolizumab) — cancer</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Viagra (sildenafil) — erectile dysfunction</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1/10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is the highest-grossing drug of all time by total revenue?</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Lipitor (atorvastatin) — cholesterol</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Humira (adalimumab) — autoimmune diseases</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Keytruda (pembrolizumab) — cancer</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Viagra (sildenafil) — erectile dysfunction</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Humira (adalimumab, AbbVie) — ~$230 billion lifetime revenue, peak $21.2B/year (2022).</a:t>
            </a:r>
            <a:br/>
            <a:r>
              <a:t>Lipitor was the previous record holder at ~$125-170B. Humira treats rheumatoid arthritis, Crohn's disease, psoriasis. It is a monoclonal antibody — a biologic, not a small molecule!</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2/10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is considered the oldest drug used by humans?</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Aspirin (from willow bark)</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Opium (from poppies)</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Alcohol (from fermentation)</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Penicillin (from mold)</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2/10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is considered the oldest drug used by humans?</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Aspirin (from willow bark)</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Opium (from poppies)</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Alcohol (from fermentation)</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Penicillin (from mold)</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Opium — used since ~3400 BCE by Sumerians (called the 'joy plant').</a:t>
            </a:r>
            <a:br/>
            <a:r>
              <a:t>Willow bark (salicin → aspirin) was used from ~1500 BCE. Alcohol from ~7000 BCE as beverage, but opium was specifically used as a MEDICINE. Penicillin was discovered in 1928.</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3/10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Which protein family is targeted by the largest fraction of FDA-approved drugs?</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Ion channels (~15%)</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Kinases (~12%)</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Nuclear receptors (~8%)</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GPCRs (~34%)</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3/10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Which protein family is targeted by the largest fraction of FDA-approved drugs?</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Ion channels (~15%)</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Kinases (~12%)</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Nuclear receptors (~8%)</a:t>
            </a:r>
          </a:p>
        </p:txBody>
      </p:sp>
      <p:sp>
        <p:nvSpPr>
          <p:cNvPr id="7" name="Rounded Rectangle 6"/>
          <p:cNvSpPr/>
          <p:nvPr/>
        </p:nvSpPr>
        <p:spPr>
          <a:xfrm>
            <a:off x="1371600" y="38862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D)  GPCRs (~34%)</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GPCRs — ~34% of ALL FDA-approved drugs target G protein-coupled receptors.</a:t>
            </a:r>
            <a:br/>
            <a:r>
              <a:t>Examples: beta-blockers (heart), antihistamines (allergies), opioids (pain), SSRIs (depression). GPCRs are the single largest drug target family in pharmacology.</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4/10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is the most prescribed drug in the world (by number of prescriptions)?</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Metformin (diabetes)</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Amoxicillin (antibiotic)</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Atorvastatin (cholesterol)</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Omeprazole (stomach acid)</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4/10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is the most prescribed drug in the world (by number of prescriptions)?</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Metformin (diabetes)</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Amoxicillin (antibiotic)</a:t>
            </a:r>
          </a:p>
        </p:txBody>
      </p:sp>
      <p:sp>
        <p:nvSpPr>
          <p:cNvPr id="6" name="Rounded Rectangle 5"/>
          <p:cNvSpPr/>
          <p:nvPr/>
        </p:nvSpPr>
        <p:spPr>
          <a:xfrm>
            <a:off x="1371600" y="32004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C)  Atorvastatin (cholesterol)</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Omeprazole (stomach acid)</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Atorvastatin (Lipitor) — ~185 million prescriptions/year in the US alone.</a:t>
            </a:r>
            <a:br/>
            <a:r>
              <a:t>Followed by levothyroxine (thyroid), lisinopril (blood pressure), metformin (diabetes). These are all chronic disease drugs — taken daily for life.</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5/10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What percentage of all medications are administered orally (by mouth)?</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~30%</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~50%</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~60%</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~80%</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5/10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percentage of all medications are administered orally (by mouth)?</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~30%</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~50%</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~60%</a:t>
            </a:r>
          </a:p>
        </p:txBody>
      </p:sp>
      <p:sp>
        <p:nvSpPr>
          <p:cNvPr id="7" name="Rounded Rectangle 6"/>
          <p:cNvSpPr/>
          <p:nvPr/>
        </p:nvSpPr>
        <p:spPr>
          <a:xfrm>
            <a:off x="1371600" y="38862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D)  ~80%</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~80-90% of all medications are taken orally. This is why Lipinski's Rule of Five</a:t>
            </a:r>
            <a:br/>
            <a:r>
              <a:t>(MW ≤ 500, LogP ≤ 5, HBD ≤ 5, HBA ≤ 10) is so central to drug design — it predicts oral absorption.</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6/10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How does the global veterinary drug market compare to the human pharmaceutical market?</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Veterinary is about 50% of human pharma</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Veterinary is about 25% of human pharma</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Veterinary is about 10% of human pharma</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Veterinary is about 3% of human pharma</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6/10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How does the global veterinary drug market compare to the human pharmaceutical market?</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Veterinary is about 50% of human pharma</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Veterinary is about 25% of human pharma</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Veterinary is about 10% of human pharma</a:t>
            </a:r>
          </a:p>
        </p:txBody>
      </p:sp>
      <p:sp>
        <p:nvSpPr>
          <p:cNvPr id="7" name="Rounded Rectangle 6"/>
          <p:cNvSpPr/>
          <p:nvPr/>
        </p:nvSpPr>
        <p:spPr>
          <a:xfrm>
            <a:off x="1371600" y="38862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D)  Veterinary is about 3% of human pharma</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The veterinary pharmaceutical market (~$53B) is only about 3% of the human pharmaceutical market (~$1.58 trillion). However, veterinary drug discovery is growing fast, especially for companion animals (pets).</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7/10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Which drug is estimated to have saved the most human lives in history?</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Insulin</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Penicillin</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Chloroquine</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Oral Rehydration Salts (ORS)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7/10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Which drug is estimated to have saved the most human lives in history?</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Insulin</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Penicillin</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Chloroquine</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Oral Rehydration Salts (ORS)</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Penicillin — estimated to have saved over 200 million lives since its discovery.</a:t>
            </a:r>
            <a:br/>
            <a:r>
              <a:t>Discovered by Alexander Fleming (1928), first clinical use 1941. Antibiotics collectively prevent ~200K deaths/year in the US alone. ORS has saved ~70 million lives (primarily children with diarrheal disease).</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8/10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On average, how long does it take to develop a new drug from initial discovery to FDA approval?</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3-5 years</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6-8 years</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10-15 years</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20-25 years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8/10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On average, how long does it take to develop a new drug from initial discovery to FDA approval?</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3-5 years</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6-8 years</a:t>
            </a:r>
          </a:p>
        </p:txBody>
      </p:sp>
      <p:sp>
        <p:nvSpPr>
          <p:cNvPr id="6" name="Rounded Rectangle 5"/>
          <p:cNvSpPr/>
          <p:nvPr/>
        </p:nvSpPr>
        <p:spPr>
          <a:xfrm>
            <a:off x="1371600" y="32004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C)  10-15 years</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20-25 years</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10-15 years on average (median ~12 years). Costs ~$2.6 billion per approved drug.</a:t>
            </a:r>
            <a:br/>
            <a:r>
              <a:t>This is why AI is so valuable: Insilico Medicine reached Phase II in ~30 months using AI for both target identification and drug design.</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9/10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Paul Ehrlich coined the concept of a 'magic bullet' — a drug that selectively targets disease. What was the first magic bullet drug?</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Aspirin (1897) — targeting pain/inflammation</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Salvarsan (1910) — targeting syphilis bacteria</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Penicillin (1941) — targeting bacterial infections</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Methotrexate (1947) — targeting cancer cells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9/10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What was the first 'magic bullet' drug?</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Aspirin (1897) — targeting pain/inflammation</a:t>
            </a:r>
          </a:p>
        </p:txBody>
      </p:sp>
      <p:sp>
        <p:nvSpPr>
          <p:cNvPr id="5" name="Rounded Rectangle 4"/>
          <p:cNvSpPr/>
          <p:nvPr/>
        </p:nvSpPr>
        <p:spPr>
          <a:xfrm>
            <a:off x="1371600" y="25146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B)  Salvarsan (1910) — targeting syphilis bacteria</a:t>
            </a:r>
          </a:p>
        </p:txBody>
      </p:sp>
      <p:sp>
        <p:nvSpPr>
          <p:cNvPr id="6" name="Rounded Rectangle 5"/>
          <p:cNvSpPr/>
          <p:nvPr/>
        </p:nvSpPr>
        <p:spPr>
          <a:xfrm>
            <a:off x="1371600" y="32004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C)  Penicillin (1941) — targeting bacterial infections</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Methotrexate (1947) — targeting cancer cells</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Salvarsan (arsphenamine, compound 606) — discovered by Paul Ehrlich &amp; Sahachiro Hata in 1909, clinical use 1910. First synthetic drug designed to selectively kill a pathogen (Treponema pallidum, syphilis). Ehrlich tested 605 compounds before finding the right one!</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365760"/>
            <a:ext cx="2743200" cy="457200"/>
          </a:xfrm>
          <a:prstGeom prst="rect">
            <a:avLst/>
          </a:prstGeom>
          <a:noFill/>
        </p:spPr>
        <p:txBody>
          <a:bodyPr wrap="square">
            <a:spAutoFit/>
          </a:bodyPr>
          <a:lstStyle/>
          <a:p>
            <a:pPr algn="l">
              <a:defRPr sz="1600" b="1">
                <a:solidFill>
                  <a:srgbClr val="1F77B4"/>
                </a:solidFill>
                <a:latin typeface="Calibri"/>
              </a:defRPr>
            </a:pPr>
            <a:r>
              <a:t>QUIZ — Question 10/10</a:t>
            </a:r>
          </a:p>
        </p:txBody>
      </p:sp>
      <p:sp>
        <p:nvSpPr>
          <p:cNvPr id="3" name="TextBox 2"/>
          <p:cNvSpPr txBox="1"/>
          <p:nvPr/>
        </p:nvSpPr>
        <p:spPr>
          <a:xfrm>
            <a:off x="731520" y="1005840"/>
            <a:ext cx="10515600" cy="1280160"/>
          </a:xfrm>
          <a:prstGeom prst="rect">
            <a:avLst/>
          </a:prstGeom>
          <a:noFill/>
        </p:spPr>
        <p:txBody>
          <a:bodyPr wrap="square">
            <a:spAutoFit/>
          </a:bodyPr>
          <a:lstStyle/>
          <a:p>
            <a:pPr algn="l">
              <a:defRPr sz="2800" b="1">
                <a:solidFill>
                  <a:srgbClr val="FFFFFF"/>
                </a:solidFill>
                <a:latin typeface="Calibri"/>
              </a:defRPr>
            </a:pPr>
            <a:r>
              <a:t>Which therapeutic area currently has the most new drug approvals per year (FDA)?</a:t>
            </a:r>
          </a:p>
        </p:txBody>
      </p:sp>
      <p:sp>
        <p:nvSpPr>
          <p:cNvPr id="4" name="Rounded Rectangle 3"/>
          <p:cNvSpPr/>
          <p:nvPr/>
        </p:nvSpPr>
        <p:spPr>
          <a:xfrm>
            <a:off x="1371600" y="283464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A)  Cardiovascular disease</a:t>
            </a:r>
          </a:p>
        </p:txBody>
      </p:sp>
      <p:sp>
        <p:nvSpPr>
          <p:cNvPr id="5" name="Rounded Rectangle 4"/>
          <p:cNvSpPr/>
          <p:nvPr/>
        </p:nvSpPr>
        <p:spPr>
          <a:xfrm>
            <a:off x="1371600" y="379476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B)  Infectious disease</a:t>
            </a:r>
          </a:p>
        </p:txBody>
      </p:sp>
      <p:sp>
        <p:nvSpPr>
          <p:cNvPr id="6" name="Rounded Rectangle 5"/>
          <p:cNvSpPr/>
          <p:nvPr/>
        </p:nvSpPr>
        <p:spPr>
          <a:xfrm>
            <a:off x="1371600" y="475488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C)  Oncology (cancer)</a:t>
            </a:r>
          </a:p>
        </p:txBody>
      </p:sp>
      <p:sp>
        <p:nvSpPr>
          <p:cNvPr id="7" name="Rounded Rectangle 6"/>
          <p:cNvSpPr/>
          <p:nvPr/>
        </p:nvSpPr>
        <p:spPr>
          <a:xfrm>
            <a:off x="1371600" y="5715000"/>
            <a:ext cx="9144000" cy="777240"/>
          </a:xfrm>
          <a:prstGeom prst="roundRect">
            <a:avLst/>
          </a:prstGeom>
          <a:solidFill>
            <a:srgbClr val="2C3E50"/>
          </a:solidFill>
          <a:ln w="2540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200">
                <a:solidFill>
                  <a:srgbClr val="FFFFFF"/>
                </a:solidFill>
                <a:latin typeface="Calibri"/>
              </a:defRPr>
            </a:pPr>
            <a:r>
              <a:t>  D)  Neurology / CNS disorders</a:t>
            </a:r>
          </a:p>
        </p:txBody>
      </p:sp>
      <p:sp>
        <p:nvSpPr>
          <p:cNvPr id="8" name="TextBox 7"/>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274320"/>
            <a:ext cx="2743200" cy="365760"/>
          </a:xfrm>
          <a:prstGeom prst="rect">
            <a:avLst/>
          </a:prstGeom>
          <a:noFill/>
        </p:spPr>
        <p:txBody>
          <a:bodyPr wrap="square">
            <a:spAutoFit/>
          </a:bodyPr>
          <a:lstStyle/>
          <a:p>
            <a:pPr algn="l">
              <a:defRPr sz="1600" b="1">
                <a:solidFill>
                  <a:srgbClr val="27AE60"/>
                </a:solidFill>
                <a:latin typeface="Calibri"/>
              </a:defRPr>
            </a:pPr>
            <a:r>
              <a:t>ANSWER — Question 10/10</a:t>
            </a:r>
          </a:p>
        </p:txBody>
      </p:sp>
      <p:sp>
        <p:nvSpPr>
          <p:cNvPr id="3" name="TextBox 2"/>
          <p:cNvSpPr txBox="1"/>
          <p:nvPr/>
        </p:nvSpPr>
        <p:spPr>
          <a:xfrm>
            <a:off x="731520" y="731520"/>
            <a:ext cx="10515600" cy="822960"/>
          </a:xfrm>
          <a:prstGeom prst="rect">
            <a:avLst/>
          </a:prstGeom>
          <a:noFill/>
        </p:spPr>
        <p:txBody>
          <a:bodyPr wrap="square">
            <a:spAutoFit/>
          </a:bodyPr>
          <a:lstStyle/>
          <a:p>
            <a:pPr algn="l">
              <a:defRPr sz="2200" b="1">
                <a:solidFill>
                  <a:srgbClr val="F0F0F0"/>
                </a:solidFill>
                <a:latin typeface="Calibri"/>
              </a:defRPr>
            </a:pPr>
            <a:r>
              <a:t>Which therapeutic area currently has the most new drug approvals per year (FDA)?</a:t>
            </a:r>
          </a:p>
        </p:txBody>
      </p:sp>
      <p:sp>
        <p:nvSpPr>
          <p:cNvPr id="4" name="Rounded Rectangle 3"/>
          <p:cNvSpPr/>
          <p:nvPr/>
        </p:nvSpPr>
        <p:spPr>
          <a:xfrm>
            <a:off x="1371600" y="18288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A)  Cardiovascular disease</a:t>
            </a:r>
          </a:p>
        </p:txBody>
      </p:sp>
      <p:sp>
        <p:nvSpPr>
          <p:cNvPr id="5" name="Rounded Rectangle 4"/>
          <p:cNvSpPr/>
          <p:nvPr/>
        </p:nvSpPr>
        <p:spPr>
          <a:xfrm>
            <a:off x="1371600" y="25146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B)  Infectious disease</a:t>
            </a:r>
          </a:p>
        </p:txBody>
      </p:sp>
      <p:sp>
        <p:nvSpPr>
          <p:cNvPr id="6" name="Rounded Rectangle 5"/>
          <p:cNvSpPr/>
          <p:nvPr/>
        </p:nvSpPr>
        <p:spPr>
          <a:xfrm>
            <a:off x="1371600" y="3200400"/>
            <a:ext cx="9144000" cy="594360"/>
          </a:xfrm>
          <a:prstGeom prst="roundRect">
            <a:avLst/>
          </a:prstGeom>
          <a:solidFill>
            <a:srgbClr val="27AE60"/>
          </a:solidFill>
          <a:ln w="25400">
            <a:solidFill>
              <a:srgbClr val="27AE6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FFFFFF"/>
                </a:solidFill>
                <a:latin typeface="Calibri"/>
              </a:defRPr>
            </a:pPr>
            <a:r>
              <a:t>  C)  Oncology (cancer)</a:t>
            </a:r>
          </a:p>
        </p:txBody>
      </p:sp>
      <p:sp>
        <p:nvSpPr>
          <p:cNvPr id="7" name="Rounded Rectangle 6"/>
          <p:cNvSpPr/>
          <p:nvPr/>
        </p:nvSpPr>
        <p:spPr>
          <a:xfrm>
            <a:off x="1371600" y="3886200"/>
            <a:ext cx="9144000" cy="594360"/>
          </a:xfrm>
          <a:prstGeom prst="roundRect">
            <a:avLst/>
          </a:prstGeom>
          <a:solidFill>
            <a:srgbClr val="3C3C46"/>
          </a:solidFill>
          <a:ln w="25400">
            <a:solidFill>
              <a:srgbClr val="50505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a:solidFill>
                  <a:srgbClr val="8C8C8C"/>
                </a:solidFill>
                <a:latin typeface="Calibri"/>
              </a:defRPr>
            </a:pPr>
            <a:r>
              <a:t>  D)  Neurology / CNS disorders</a:t>
            </a:r>
          </a:p>
        </p:txBody>
      </p:sp>
      <p:sp>
        <p:nvSpPr>
          <p:cNvPr id="8" name="TextBox 7"/>
          <p:cNvSpPr txBox="1"/>
          <p:nvPr/>
        </p:nvSpPr>
        <p:spPr>
          <a:xfrm>
            <a:off x="914400" y="4709160"/>
            <a:ext cx="10058400" cy="1828800"/>
          </a:xfrm>
          <a:prstGeom prst="rect">
            <a:avLst/>
          </a:prstGeom>
          <a:noFill/>
        </p:spPr>
        <p:txBody>
          <a:bodyPr wrap="square">
            <a:spAutoFit/>
          </a:bodyPr>
          <a:lstStyle/>
          <a:p>
            <a:pPr algn="l">
              <a:defRPr sz="1600" b="0">
                <a:solidFill>
                  <a:srgbClr val="FFFFFF"/>
                </a:solidFill>
                <a:latin typeface="Calibri"/>
              </a:defRPr>
            </a:pPr>
            <a:r>
              <a:t>✓ Oncology — ~25-30% of all new FDA approvals in 2023-2024 were cancer drugs.</a:t>
            </a:r>
            <a:br/>
            <a:r>
              <a:t>50 novel drugs approved by FDA in 2024, with oncology leading by a wide margin. Neurology/CNS is second. Cardiovascular was historically dominant but now has fewer novel approvals.</a:t>
            </a:r>
          </a:p>
        </p:txBody>
      </p:sp>
      <p:sp>
        <p:nvSpPr>
          <p:cNvPr id="9" name="TextBox 8"/>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Ready for the Course? Let's Dive In! 🚀</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Now you know more about drugs than most people — time to learn how AI designs them!</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