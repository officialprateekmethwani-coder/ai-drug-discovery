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Week 4! This is where we level up from classical ML to deep learning. Start by asking: how many students have experience with neural networks? PyTorch? The key insight today: molecules are naturally graphs. Atoms are nodes, bonds are edges. Graph Neural Networks learn from this structure directly, instead of relying on handcrafted fingerprints.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2-3 minutes. Emphasize the logical progression. The key limitation of fingerprints: information loss due to hashing. Also, fingerprints treat all atoms at a given radius equally. GNNs solve both problems: they learn representations end-to-end from graph structure.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let us think about molecules differently. Not as text (SMILES) or bit vectors (fingerprints), but as mathematical objects: graphs.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on features. These features are similar to what is encoded in fingerprints, but they are preserved as separate attributes per atom/bond. The GNN will LEARN which features matter and how to combine them. We do not need to manually decide that aromatic carbon adjacent to nitrogen is important.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4-5 minutes on this, the core concept. Analogy: imagine each atom is a person at a party. In round 1, you talk to your direct friends. In round 2, your friends tell you what THEY learned. After 3 rounds, you know about people up to 3 handshakes away. Draw a molecular graph on the board, pick an atom, and trace neighborhoods. The connection to fingerprints is important.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on the math. Do not go too deep, the intuition from the previous slide is more important. The key equations: AGGREGATE collects messages from neighbors, UPDATE combines with self. The choice of AGGREGATE function defines different GNN variants: GCN uses normalized sum, GraphSAGE uses mean or max, GAT uses attention-weighted sum.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 minutes as an overview. GCN (Kipf and Welling 2017) is the most cited GNN paper (~12,000 citations). It is simple and effective. GAT adds attention: not all neighbors are equally important. MPNN is the most important for drug discovery. 3D-aware models use atomic coordinates, important for conformational properties and binding. The choice of architecture often matters less than the quality of data and featurization.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The Stokes et al. 2020 Cell paper on halicin is a fantastic story: researchers trained a neural network on 2,335 molecules, then screened compounds. Halicin (originally an anti-diabetic candidate) was identified as a potent broad-spectrum antibiotic. Chemprop from the Barzilay/Jaakkola lab at MIT is an excellent open-source tool. Students can use it for their course projects.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on this cross-domain connection. In brain-computer interfaces, we represent the brain as a graph: each ECoG electrode is a node, edges represent functional connectivity. GNNs on brain graphs can decode speech intent, motor commands, or emotional states. The instructor's work at FUTRUE Neurosciences: 512 electrodes recording from the brain surface. This is the beauty of GNNs: the mathematical framework is the same whether you are predicting molecular toxicity or decoding brain signals.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overview of tools, 2 minutes. DeepChem is the easiest starting point. PyTorch Geometric is more flexible but requires more code. Chemprop is the best out-of-the-box GNN for molecular property prediction. For the course project: start with Chemprop for quick results, use DeepChem for trying different architectures.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on overview. We use the HIV or BACE dataset from MoleculeNet. HIV has ~41,000 compounds (classification), BACE has ~1,500 compounds against BACE-1 Alzheimer's target. Students should compare GCN to their RF baseline on the SAME scaffold split. Expected: for HIV (large dataset), GNN should outperform RF. For BACE (small), it might not. Remind students to use GPU in Colab.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5-minute discussion. RF wins when data is small, interpretability is critical, or computational resources are limited. GNN wins when data is large. Yang et al. 2019 showed Chemprop beat RF on 7 of 8 MoleculeNet tasks, but RF won on 1. Always have an RF/XGBoost baseline.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2743200" cy="548640"/>
          </a:xfrm>
          <a:prstGeom prst="rect">
            <a:avLst/>
          </a:prstGeom>
          <a:noFill/>
        </p:spPr>
        <p:txBody>
          <a:bodyPr wrap="square">
            <a:spAutoFit/>
          </a:bodyPr>
          <a:lstStyle/>
          <a:p>
            <a:pPr algn="l">
              <a:defRPr sz="1600" b="1">
                <a:solidFill>
                  <a:srgbClr val="1F77B4"/>
                </a:solidFill>
                <a:latin typeface="Calibri"/>
              </a:defRPr>
            </a:pPr>
            <a:r>
              <a:t>WEEK 4</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Deep Learning &amp; Graph Neural Networks</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When molecules become graphs and graphs become predictions</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Recap: Weeks 1-3 -&gt; Today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Week 1: Drug discovery pipeline, molecular data types, RDKit</a:t>
            </a:r>
          </a:p>
          <a:p>
            <a:pPr>
              <a:spcAft>
                <a:spcPts val="800"/>
              </a:spcAft>
              <a:defRPr sz="2000">
                <a:solidFill>
                  <a:srgbClr val="323232"/>
                </a:solidFill>
                <a:latin typeface="Calibri"/>
              </a:defRPr>
            </a:pPr>
            <a:r>
              <a:t>Week 2: SMILES, fingerprints (ECFP), QSAR with RF &amp; XGBoost</a:t>
            </a:r>
          </a:p>
          <a:p>
            <a:pPr>
              <a:spcAft>
                <a:spcPts val="800"/>
              </a:spcAft>
              <a:defRPr sz="2000">
                <a:solidFill>
                  <a:srgbClr val="323232"/>
                </a:solidFill>
                <a:latin typeface="Calibri"/>
              </a:defRPr>
            </a:pPr>
            <a:r>
              <a:t>Week 3: Evaluation pitfalls, scaffold splits, SHAP interpretability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story so far: fingerprints + classical ML = strong baselines</a:t>
            </a:r>
          </a:p>
          <a:p>
            <a:pPr>
              <a:spcAft>
                <a:spcPts val="800"/>
              </a:spcAft>
              <a:defRPr sz="2000">
                <a:solidFill>
                  <a:srgbClr val="323232"/>
                </a:solidFill>
                <a:latin typeface="Calibri"/>
              </a:defRPr>
            </a:pPr>
            <a:r>
              <a:t>But fingerprints have limitations:</a:t>
            </a:r>
          </a:p>
          <a:p>
            <a:pPr>
              <a:spcAft>
                <a:spcPts val="800"/>
              </a:spcAft>
              <a:defRPr sz="2000">
                <a:solidFill>
                  <a:srgbClr val="323232"/>
                </a:solidFill>
                <a:latin typeface="Calibri"/>
              </a:defRPr>
            </a:pPr>
            <a:r>
              <a:t>  Fixed-length bit vectors lose information (hash collisions)</a:t>
            </a:r>
          </a:p>
          <a:p>
            <a:pPr>
              <a:spcAft>
                <a:spcPts val="800"/>
              </a:spcAft>
              <a:defRPr sz="2000">
                <a:solidFill>
                  <a:srgbClr val="323232"/>
                </a:solidFill>
                <a:latin typeface="Calibri"/>
              </a:defRPr>
            </a:pPr>
            <a:r>
              <a:t>  Cannot capture 3D spatial relationships</a:t>
            </a:r>
          </a:p>
          <a:p>
            <a:pPr>
              <a:spcAft>
                <a:spcPts val="800"/>
              </a:spcAft>
              <a:defRPr sz="2000">
                <a:solidFill>
                  <a:srgbClr val="323232"/>
                </a:solidFill>
                <a:latin typeface="Calibri"/>
              </a:defRPr>
            </a:pPr>
            <a:r>
              <a:t>  Hand-designed, not learned from data</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Today: learn molecular representations directly from graph structure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Molecules as Graphs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A natural representation for molecular structure</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Node and Edge Features for Molecular Graphs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Atom (node) features:</a:t>
            </a:r>
          </a:p>
          <a:p>
            <a:pPr>
              <a:spcAft>
                <a:spcPts val="800"/>
              </a:spcAft>
              <a:defRPr sz="2000">
                <a:solidFill>
                  <a:srgbClr val="323232"/>
                </a:solidFill>
                <a:latin typeface="Calibri"/>
              </a:defRPr>
            </a:pPr>
            <a:r>
              <a:t>  Atomic number (C=6, N=7, O=8)</a:t>
            </a:r>
          </a:p>
          <a:p>
            <a:pPr>
              <a:spcAft>
                <a:spcPts val="800"/>
              </a:spcAft>
              <a:defRPr sz="2000">
                <a:solidFill>
                  <a:srgbClr val="323232"/>
                </a:solidFill>
                <a:latin typeface="Calibri"/>
              </a:defRPr>
            </a:pPr>
            <a:r>
              <a:t>  Degree (number of bonds)</a:t>
            </a:r>
          </a:p>
          <a:p>
            <a:pPr>
              <a:spcAft>
                <a:spcPts val="800"/>
              </a:spcAft>
              <a:defRPr sz="2000">
                <a:solidFill>
                  <a:srgbClr val="323232"/>
                </a:solidFill>
                <a:latin typeface="Calibri"/>
              </a:defRPr>
            </a:pPr>
            <a:r>
              <a:t>  Formal charge</a:t>
            </a:r>
          </a:p>
          <a:p>
            <a:pPr>
              <a:spcAft>
                <a:spcPts val="800"/>
              </a:spcAft>
              <a:defRPr sz="2000">
                <a:solidFill>
                  <a:srgbClr val="323232"/>
                </a:solidFill>
                <a:latin typeface="Calibri"/>
              </a:defRPr>
            </a:pPr>
            <a:r>
              <a:t>  Hybridization (sp, sp2, sp3)</a:t>
            </a:r>
          </a:p>
          <a:p>
            <a:pPr>
              <a:spcAft>
                <a:spcPts val="800"/>
              </a:spcAft>
              <a:defRPr sz="2000">
                <a:solidFill>
                  <a:srgbClr val="323232"/>
                </a:solidFill>
                <a:latin typeface="Calibri"/>
              </a:defRPr>
            </a:pPr>
            <a:r>
              <a:t>  Aromaticity (is this atom in an aromatic ring?)</a:t>
            </a:r>
          </a:p>
          <a:p>
            <a:pPr>
              <a:spcAft>
                <a:spcPts val="800"/>
              </a:spcAft>
              <a:defRPr sz="2000">
                <a:solidFill>
                  <a:srgbClr val="323232"/>
                </a:solidFill>
                <a:latin typeface="Calibri"/>
              </a:defRPr>
            </a:pPr>
            <a:r>
              <a:t>  Number of hydrogens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Bond (edge) features:</a:t>
            </a:r>
          </a:p>
          <a:p>
            <a:pPr>
              <a:spcAft>
                <a:spcPts val="800"/>
              </a:spcAft>
              <a:defRPr sz="2000">
                <a:solidFill>
                  <a:srgbClr val="323232"/>
                </a:solidFill>
                <a:latin typeface="Calibri"/>
              </a:defRPr>
            </a:pPr>
            <a:r>
              <a:t>  Bond type (single, double, triple, aromatic)</a:t>
            </a:r>
          </a:p>
          <a:p>
            <a:pPr>
              <a:spcAft>
                <a:spcPts val="800"/>
              </a:spcAft>
              <a:defRPr sz="2000">
                <a:solidFill>
                  <a:srgbClr val="323232"/>
                </a:solidFill>
                <a:latin typeface="Calibri"/>
              </a:defRPr>
            </a:pPr>
            <a:r>
              <a:t>  Is in ring?</a:t>
            </a:r>
          </a:p>
          <a:p>
            <a:pPr>
              <a:spcAft>
                <a:spcPts val="800"/>
              </a:spcAft>
              <a:defRPr sz="2000">
                <a:solidFill>
                  <a:srgbClr val="323232"/>
                </a:solidFill>
                <a:latin typeface="Calibri"/>
              </a:defRPr>
            </a:pPr>
            <a:r>
              <a:t>  Is conjugated?</a:t>
            </a:r>
          </a:p>
          <a:p>
            <a:pPr>
              <a:spcAft>
                <a:spcPts val="800"/>
              </a:spcAft>
              <a:defRPr sz="2000">
                <a:solidFill>
                  <a:srgbClr val="323232"/>
                </a:solidFill>
                <a:latin typeface="Calibri"/>
              </a:defRPr>
            </a:pPr>
            <a:r>
              <a:t>  Stereochemistry (E/Z, cis/trans)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GNN Intuition: Message Passing</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Core idea: each node gathers information from its neighbors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message passing algorithm (for each node v):</a:t>
            </a:r>
          </a:p>
          <a:p>
            <a:pPr>
              <a:spcAft>
                <a:spcPts val="800"/>
              </a:spcAft>
              <a:defRPr sz="2000">
                <a:solidFill>
                  <a:srgbClr val="323232"/>
                </a:solidFill>
                <a:latin typeface="Calibri"/>
              </a:defRPr>
            </a:pPr>
            <a:r>
              <a:t>  1. AGGREGATE: collect features from all neighbors of v</a:t>
            </a:r>
          </a:p>
          <a:p>
            <a:pPr>
              <a:spcAft>
                <a:spcPts val="800"/>
              </a:spcAft>
              <a:defRPr sz="2000">
                <a:solidFill>
                  <a:srgbClr val="323232"/>
                </a:solidFill>
                <a:latin typeface="Calibri"/>
              </a:defRPr>
            </a:pPr>
            <a:r>
              <a:t>  2. UPDATE: combine aggregated message with v's own features</a:t>
            </a:r>
          </a:p>
          <a:p>
            <a:pPr>
              <a:spcAft>
                <a:spcPts val="800"/>
              </a:spcAft>
              <a:defRPr sz="2000">
                <a:solidFill>
                  <a:srgbClr val="323232"/>
                </a:solidFill>
                <a:latin typeface="Calibri"/>
              </a:defRPr>
            </a:pPr>
            <a:r>
              <a:t>  3. Repeat for K iterations (K = number of layers)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After K iterations, each node has information from its K-hop neighborhood</a:t>
            </a:r>
          </a:p>
          <a:p>
            <a:pPr>
              <a:spcAft>
                <a:spcPts val="800"/>
              </a:spcAft>
              <a:defRPr sz="2000">
                <a:solidFill>
                  <a:srgbClr val="323232"/>
                </a:solidFill>
                <a:latin typeface="Calibri"/>
              </a:defRPr>
            </a:pPr>
            <a:r>
              <a:t>  K=1: knows about direct neighbors (like Morgan radius=1)</a:t>
            </a:r>
          </a:p>
          <a:p>
            <a:pPr>
              <a:spcAft>
                <a:spcPts val="800"/>
              </a:spcAft>
              <a:defRPr sz="2000">
                <a:solidFill>
                  <a:srgbClr val="323232"/>
                </a:solidFill>
                <a:latin typeface="Calibri"/>
              </a:defRPr>
            </a:pPr>
            <a:r>
              <a:t>  K=2: knows about 2-hop neighborhood (like Morgan radius=2)</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This is EXACTLY what ECFP fingerprints do - but learned, not hashed!</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Message Passing: The Math (Simplified)</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For layer k, node v:</a:t>
            </a:r>
          </a:p>
          <a:p>
            <a:pPr>
              <a:spcAft>
                <a:spcPts val="800"/>
              </a:spcAft>
              <a:defRPr sz="2000">
                <a:solidFill>
                  <a:srgbClr val="323232"/>
                </a:solidFill>
                <a:latin typeface="Calibri"/>
              </a:defRPr>
            </a:pPr>
          </a:p>
          <a:p>
            <a:pPr>
              <a:spcAft>
                <a:spcPts val="800"/>
              </a:spcAft>
              <a:defRPr sz="2000">
                <a:solidFill>
                  <a:srgbClr val="323232"/>
                </a:solidFill>
                <a:latin typeface="Calibri"/>
              </a:defRPr>
            </a:pPr>
            <a:r>
              <a:t>  m_v^(k) = AGGREGATE({h_u^(k-1) : u in N(v)})</a:t>
            </a:r>
          </a:p>
          <a:p>
            <a:pPr>
              <a:spcAft>
                <a:spcPts val="800"/>
              </a:spcAft>
              <a:defRPr sz="2000">
                <a:solidFill>
                  <a:srgbClr val="323232"/>
                </a:solidFill>
                <a:latin typeface="Calibri"/>
              </a:defRPr>
            </a:pPr>
            <a:r>
              <a:t>  h_v^(k) = UPDATE(h_v^(k-1), m_v^(k))</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Where:</a:t>
            </a:r>
          </a:p>
          <a:p>
            <a:pPr>
              <a:spcAft>
                <a:spcPts val="800"/>
              </a:spcAft>
              <a:defRPr sz="2000">
                <a:solidFill>
                  <a:srgbClr val="323232"/>
                </a:solidFill>
                <a:latin typeface="Calibri"/>
              </a:defRPr>
            </a:pPr>
            <a:r>
              <a:t>  h_v^(k) = node v representation at layer k</a:t>
            </a:r>
          </a:p>
          <a:p>
            <a:pPr>
              <a:spcAft>
                <a:spcPts val="800"/>
              </a:spcAft>
              <a:defRPr sz="2000">
                <a:solidFill>
                  <a:srgbClr val="323232"/>
                </a:solidFill>
                <a:latin typeface="Calibri"/>
              </a:defRPr>
            </a:pPr>
            <a:r>
              <a:t>  N(v) = neighbors of node v</a:t>
            </a:r>
          </a:p>
          <a:p>
            <a:pPr>
              <a:spcAft>
                <a:spcPts val="800"/>
              </a:spcAft>
              <a:defRPr sz="2000">
                <a:solidFill>
                  <a:srgbClr val="323232"/>
                </a:solidFill>
                <a:latin typeface="Calibri"/>
              </a:defRPr>
            </a:pPr>
            <a:r>
              <a:t>  AGGREGATE = sum, mean, or max pooling</a:t>
            </a:r>
          </a:p>
          <a:p>
            <a:pPr>
              <a:spcAft>
                <a:spcPts val="800"/>
              </a:spcAft>
              <a:defRPr sz="2000">
                <a:solidFill>
                  <a:srgbClr val="323232"/>
                </a:solidFill>
                <a:latin typeface="Calibri"/>
              </a:defRPr>
            </a:pPr>
            <a:r>
              <a:t>  UPDATE = neural network (MLP, GRU, ...)</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After K layers -&gt; READOUT: aggregate all node features -&gt; molecular property</a:t>
            </a:r>
          </a:p>
          <a:p>
            <a:pPr>
              <a:spcAft>
                <a:spcPts val="800"/>
              </a:spcAft>
              <a:defRPr sz="2000">
                <a:solidFill>
                  <a:srgbClr val="323232"/>
                </a:solidFill>
                <a:latin typeface="Calibri"/>
              </a:defRPr>
            </a:pPr>
            <a:r>
              <a:t>  h_graph = READOUT({h_v^(K) : v in V}) = mean/sum/attention pooling</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Common GNN Architectures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GCN - Graph Convolutional Network</a:t>
            </a:r>
          </a:p>
          <a:p>
            <a:pPr>
              <a:spcAft>
                <a:spcPts val="800"/>
              </a:spcAft>
              <a:defRPr sz="2000">
                <a:solidFill>
                  <a:srgbClr val="323232"/>
                </a:solidFill>
                <a:latin typeface="Calibri"/>
              </a:defRPr>
            </a:pPr>
            <a:r>
              <a:t>  Kipf &amp; Welling (2017), ICLR</a:t>
            </a:r>
          </a:p>
          <a:p>
            <a:pPr>
              <a:spcAft>
                <a:spcPts val="800"/>
              </a:spcAft>
              <a:defRPr sz="2000">
                <a:solidFill>
                  <a:srgbClr val="323232"/>
                </a:solidFill>
                <a:latin typeface="Calibri"/>
              </a:defRPr>
            </a:pPr>
          </a:p>
          <a:p>
            <a:pPr>
              <a:spcAft>
                <a:spcPts val="800"/>
              </a:spcAft>
              <a:defRPr sz="2000">
                <a:solidFill>
                  <a:srgbClr val="323232"/>
                </a:solidFill>
                <a:latin typeface="Calibri"/>
              </a:defRPr>
            </a:pPr>
            <a:r>
              <a:t>GAT - Graph Attention Network</a:t>
            </a:r>
          </a:p>
          <a:p>
            <a:pPr>
              <a:spcAft>
                <a:spcPts val="800"/>
              </a:spcAft>
              <a:defRPr sz="2000">
                <a:solidFill>
                  <a:srgbClr val="323232"/>
                </a:solidFill>
                <a:latin typeface="Calibri"/>
              </a:defRPr>
            </a:pPr>
            <a:r>
              <a:t>  Velickovic et al. (2018), ICLR</a:t>
            </a:r>
          </a:p>
          <a:p>
            <a:pPr>
              <a:spcAft>
                <a:spcPts val="800"/>
              </a:spcAft>
              <a:defRPr sz="2000">
                <a:solidFill>
                  <a:srgbClr val="323232"/>
                </a:solidFill>
                <a:latin typeface="Calibri"/>
              </a:defRPr>
            </a:pPr>
            <a:r>
              <a:t>  Learns attention weights: some neighbors matter more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MPNN - Message Passing Neural Network</a:t>
            </a:r>
          </a:p>
          <a:p>
            <a:pPr>
              <a:spcAft>
                <a:spcPts val="800"/>
              </a:spcAft>
              <a:defRPr sz="2000">
                <a:solidFill>
                  <a:srgbClr val="323232"/>
                </a:solidFill>
                <a:latin typeface="Calibri"/>
              </a:defRPr>
            </a:pPr>
            <a:r>
              <a:t>  Gilmer et al. (2017), ICML - the unifying framework</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SchNet / DimeNet - 3D-aware GNNs</a:t>
            </a:r>
          </a:p>
          <a:p>
            <a:pPr>
              <a:spcAft>
                <a:spcPts val="800"/>
              </a:spcAft>
              <a:defRPr sz="2000">
                <a:solidFill>
                  <a:srgbClr val="323232"/>
                </a:solidFill>
                <a:latin typeface="Calibri"/>
              </a:defRPr>
            </a:pPr>
            <a:r>
              <a:t>  Schutt et al. (2018), J. Chem. Phys.</a:t>
            </a:r>
          </a:p>
          <a:p>
            <a:pPr>
              <a:spcAft>
                <a:spcPts val="800"/>
              </a:spcAft>
              <a:defRPr sz="2000">
                <a:solidFill>
                  <a:srgbClr val="323232"/>
                </a:solidFill>
                <a:latin typeface="Calibri"/>
              </a:defRPr>
            </a:pPr>
            <a:r>
              <a:t>  Gasteiger et al. (2020), ICLR</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Real-World GNN Applications in Pharma</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Stokes et al. (2020), Cell 180:688-702 - Halicin discovery</a:t>
            </a:r>
          </a:p>
          <a:p>
            <a:pPr>
              <a:spcAft>
                <a:spcPts val="800"/>
              </a:spcAft>
              <a:defRPr sz="2000">
                <a:solidFill>
                  <a:srgbClr val="323232"/>
                </a:solidFill>
                <a:latin typeface="Calibri"/>
              </a:defRPr>
            </a:pPr>
            <a:r>
              <a:t>  Neural networks to discover a novel antibiotic from 100M+ molecules</a:t>
            </a:r>
          </a:p>
          <a:p>
            <a:pPr>
              <a:spcAft>
                <a:spcPts val="800"/>
              </a:spcAft>
              <a:defRPr sz="2000">
                <a:solidFill>
                  <a:srgbClr val="323232"/>
                </a:solidFill>
                <a:latin typeface="Calibri"/>
              </a:defRPr>
            </a:pPr>
            <a:r>
              <a:t>  Active against pan-resistant A. baumannii</a:t>
            </a:r>
          </a:p>
          <a:p>
            <a:pPr>
              <a:spcAft>
                <a:spcPts val="800"/>
              </a:spcAft>
              <a:defRPr sz="2000">
                <a:solidFill>
                  <a:srgbClr val="323232"/>
                </a:solidFill>
                <a:latin typeface="Calibri"/>
              </a:defRPr>
            </a:pPr>
            <a:r>
              <a:t>  Collaboration: MIT + Broad Institute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Chemprop - D-MPNN from MIT (Yang et al. 2019, JCIM 59:3370-3388)</a:t>
            </a:r>
          </a:p>
          <a:p>
            <a:pPr>
              <a:spcAft>
                <a:spcPts val="800"/>
              </a:spcAft>
              <a:defRPr sz="2000">
                <a:solidFill>
                  <a:srgbClr val="323232"/>
                </a:solidFill>
                <a:latin typeface="Calibri"/>
              </a:defRPr>
            </a:pPr>
            <a:r>
              <a:t>  Open-source MPNN achieving state-of-the-art on MoleculeNet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Recursion Pharmaceuticals - high-content imaging + GNNs</a:t>
            </a:r>
          </a:p>
          <a:p>
            <a:pPr>
              <a:spcAft>
                <a:spcPts val="800"/>
              </a:spcAft>
              <a:defRPr sz="2000">
                <a:solidFill>
                  <a:srgbClr val="323232"/>
                </a:solidFill>
                <a:latin typeface="Calibri"/>
              </a:defRPr>
            </a:pPr>
            <a:r>
              <a:t>  Combining cell painting (microscopy) with molecular graphs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Pre-trained models: MolBERT, ChemBERTa, Uni-Mol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Cross-Domain: GNNs in Brain-Computer Interfaces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Same GNN architecture, different domain: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Molecular graph:</a:t>
            </a:r>
          </a:p>
          <a:p>
            <a:pPr>
              <a:spcAft>
                <a:spcPts val="800"/>
              </a:spcAft>
              <a:defRPr sz="2000">
                <a:solidFill>
                  <a:srgbClr val="323232"/>
                </a:solidFill>
                <a:latin typeface="Calibri"/>
              </a:defRPr>
            </a:pPr>
            <a:r>
              <a:t>  Nodes = atoms | Edges = bonds</a:t>
            </a:r>
          </a:p>
          <a:p>
            <a:pPr>
              <a:spcAft>
                <a:spcPts val="800"/>
              </a:spcAft>
              <a:defRPr sz="2000">
                <a:solidFill>
                  <a:srgbClr val="323232"/>
                </a:solidFill>
                <a:latin typeface="Calibri"/>
              </a:defRPr>
            </a:pPr>
            <a:r>
              <a:t>  Task: predict molecular properties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Brain connectivity graph:</a:t>
            </a:r>
          </a:p>
          <a:p>
            <a:pPr>
              <a:spcAft>
                <a:spcPts val="800"/>
              </a:spcAft>
              <a:defRPr sz="2000">
                <a:solidFill>
                  <a:srgbClr val="323232"/>
                </a:solidFill>
                <a:latin typeface="Calibri"/>
              </a:defRPr>
            </a:pPr>
            <a:r>
              <a:t>  Nodes = brain regions/electrodes | Edges = functional connectivity</a:t>
            </a:r>
          </a:p>
          <a:p>
            <a:pPr>
              <a:spcAft>
                <a:spcPts val="800"/>
              </a:spcAft>
              <a:defRPr sz="2000">
                <a:solidFill>
                  <a:srgbClr val="323232"/>
                </a:solidFill>
                <a:latin typeface="Calibri"/>
              </a:defRPr>
            </a:pPr>
            <a:r>
              <a:t>  Task: decode neural intent (speech, movement)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instructor's research (FUTRUE Neurosciences):</a:t>
            </a:r>
          </a:p>
          <a:p>
            <a:pPr>
              <a:spcAft>
                <a:spcPts val="800"/>
              </a:spcAft>
              <a:defRPr sz="2000">
                <a:solidFill>
                  <a:srgbClr val="323232"/>
                </a:solidFill>
                <a:latin typeface="Calibri"/>
              </a:defRPr>
            </a:pPr>
            <a:r>
              <a:t>  512-channel ECoG grid -&gt; electrode connectivity graph -&gt; GNN decoder</a:t>
            </a:r>
          </a:p>
          <a:p>
            <a:pPr>
              <a:spcAft>
                <a:spcPts val="800"/>
              </a:spcAft>
              <a:defRPr sz="2000">
                <a:solidFill>
                  <a:srgbClr val="323232"/>
                </a:solidFill>
                <a:latin typeface="Calibri"/>
              </a:defRPr>
            </a:pPr>
            <a:r>
              <a:t>  Same message passing, same readout - different signal domain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insight: graph learning is a UNIVERSAL framework</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Tools: DeepChem and PyTorch Geometric</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DeepChem (Ramsundar et al.): high-level library for molecular ML</a:t>
            </a:r>
          </a:p>
          <a:p>
            <a:pPr>
              <a:spcAft>
                <a:spcPts val="800"/>
              </a:spcAft>
              <a:defRPr sz="2000">
                <a:solidFill>
                  <a:srgbClr val="323232"/>
                </a:solidFill>
                <a:latin typeface="Calibri"/>
              </a:defRPr>
            </a:pPr>
            <a:r>
              <a:t>  Built-in datasets (MoleculeNet), featurizers, models</a:t>
            </a:r>
          </a:p>
          <a:p>
            <a:pPr>
              <a:spcAft>
                <a:spcPts val="800"/>
              </a:spcAft>
              <a:defRPr sz="2000">
                <a:solidFill>
                  <a:srgbClr val="323232"/>
                </a:solidFill>
                <a:latin typeface="Calibri"/>
              </a:defRPr>
            </a:pPr>
            <a:r>
              <a:t>  pip install deepchem</a:t>
            </a:r>
          </a:p>
          <a:p>
            <a:pPr>
              <a:spcAft>
                <a:spcPts val="800"/>
              </a:spcAft>
              <a:defRPr sz="2000">
                <a:solidFill>
                  <a:srgbClr val="323232"/>
                </a:solidFill>
                <a:latin typeface="Calibri"/>
              </a:defRPr>
            </a:pPr>
            <a:r>
              <a:t>  Reference: Ramsundar et al. (2019), O'Reilly Deep Learning for the Life Sciences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PyTorch Geometric (PyG): low-level GNN building blocks</a:t>
            </a:r>
          </a:p>
          <a:p>
            <a:pPr>
              <a:spcAft>
                <a:spcPts val="800"/>
              </a:spcAft>
              <a:defRPr sz="2000">
                <a:solidFill>
                  <a:srgbClr val="323232"/>
                </a:solidFill>
                <a:latin typeface="Calibri"/>
              </a:defRPr>
            </a:pPr>
            <a:r>
              <a:t>  Fey &amp; Lenssen (2019), ICLR Workshop</a:t>
            </a:r>
          </a:p>
          <a:p>
            <a:pPr>
              <a:spcAft>
                <a:spcPts val="800"/>
              </a:spcAft>
              <a:defRPr sz="2000">
                <a:solidFill>
                  <a:srgbClr val="323232"/>
                </a:solidFill>
                <a:latin typeface="Calibri"/>
              </a:defRPr>
            </a:pPr>
            <a:r>
              <a:t>  pip install torch-geometric</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Chemprop: specialized for molecular property prediction</a:t>
            </a:r>
          </a:p>
          <a:p>
            <a:pPr>
              <a:spcAft>
                <a:spcPts val="800"/>
              </a:spcAft>
              <a:defRPr sz="2000">
                <a:solidFill>
                  <a:srgbClr val="323232"/>
                </a:solidFill>
                <a:latin typeface="Calibri"/>
              </a:defRPr>
            </a:pPr>
            <a:r>
              <a:t>  Easy to use CLI + Python API</a:t>
            </a:r>
          </a:p>
          <a:p>
            <a:pPr>
              <a:spcAft>
                <a:spcPts val="800"/>
              </a:spcAft>
              <a:defRPr sz="2000">
                <a:solidFill>
                  <a:srgbClr val="323232"/>
                </a:solidFill>
                <a:latin typeface="Calibri"/>
              </a:defRPr>
            </a:pPr>
            <a:r>
              <a:t>  pip install chemprop</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Practical: Simple GNN for Activity Prediction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week4_deep_learning_gnn/Week4_Practical.ipynb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Steps:</a:t>
            </a:r>
          </a:p>
          <a:p>
            <a:pPr>
              <a:spcAft>
                <a:spcPts val="800"/>
              </a:spcAft>
              <a:defRPr sz="2000">
                <a:solidFill>
                  <a:srgbClr val="323232"/>
                </a:solidFill>
                <a:latin typeface="Calibri"/>
              </a:defRPr>
            </a:pPr>
            <a:r>
              <a:t>  1. Load a MoleculeNet dataset (HIV or BACE)</a:t>
            </a:r>
          </a:p>
          <a:p>
            <a:pPr>
              <a:spcAft>
                <a:spcPts val="800"/>
              </a:spcAft>
              <a:defRPr sz="2000">
                <a:solidFill>
                  <a:srgbClr val="323232"/>
                </a:solidFill>
                <a:latin typeface="Calibri"/>
              </a:defRPr>
            </a:pPr>
            <a:r>
              <a:t>  2. Featurize molecules as graphs using DeepChem</a:t>
            </a:r>
          </a:p>
          <a:p>
            <a:pPr>
              <a:spcAft>
                <a:spcPts val="800"/>
              </a:spcAft>
              <a:defRPr sz="2000">
                <a:solidFill>
                  <a:srgbClr val="323232"/>
                </a:solidFill>
                <a:latin typeface="Calibri"/>
              </a:defRPr>
            </a:pPr>
            <a:r>
              <a:t>  3. Train a Graph Convolutional Network (GCN)</a:t>
            </a:r>
          </a:p>
          <a:p>
            <a:pPr>
              <a:spcAft>
                <a:spcPts val="800"/>
              </a:spcAft>
              <a:defRPr sz="2000">
                <a:solidFill>
                  <a:srgbClr val="323232"/>
                </a:solidFill>
                <a:latin typeface="Calibri"/>
              </a:defRPr>
            </a:pPr>
            <a:r>
              <a:t>  4. Compare to your Week 2 Random Forest baseline</a:t>
            </a:r>
          </a:p>
          <a:p>
            <a:pPr>
              <a:spcAft>
                <a:spcPts val="800"/>
              </a:spcAft>
              <a:defRPr sz="2000">
                <a:solidFill>
                  <a:srgbClr val="323232"/>
                </a:solidFill>
                <a:latin typeface="Calibri"/>
              </a:defRPr>
            </a:pPr>
            <a:r>
              <a:t>  5. Analyze: when does GNN outperform RF? When doesn't it?</a:t>
            </a:r>
          </a:p>
          <a:p>
            <a:pPr>
              <a:spcAft>
                <a:spcPts val="800"/>
              </a:spcAft>
              <a:defRPr sz="2000">
                <a:solidFill>
                  <a:srgbClr val="323232"/>
                </a:solidFill>
                <a:latin typeface="Calibri"/>
              </a:defRPr>
            </a:pPr>
            <a:r>
              <a:t>  6. (Bonus) Try Chemprop D-MPNN and compare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Time: ~60 minutes | Work in pairs</a:t>
            </a:r>
          </a:p>
          <a:p>
            <a:pPr>
              <a:spcAft>
                <a:spcPts val="800"/>
              </a:spcAft>
              <a:defRPr sz="2000">
                <a:solidFill>
                  <a:srgbClr val="323232"/>
                </a:solidFill>
                <a:latin typeface="Calibri"/>
              </a:defRPr>
            </a:pPr>
            <a:r>
              <a:t>Note: GNN training takes longer - GPU recommended (Colab provides free GPU)</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800" b="1">
                <a:solidFill>
                  <a:srgbClr val="1F77B4"/>
                </a:solidFill>
                <a:latin typeface="Calibri"/>
              </a:defRPr>
            </a:pPr>
            <a:r>
              <a:t>DISCUSSION QUESTION</a:t>
            </a:r>
          </a:p>
        </p:txBody>
      </p:sp>
      <p:sp>
        <p:nvSpPr>
          <p:cNvPr id="3" name="TextBox 2"/>
          <p:cNvSpPr txBox="1"/>
          <p:nvPr/>
        </p:nvSpPr>
        <p:spPr>
          <a:xfrm>
            <a:off x="914400" y="1371600"/>
            <a:ext cx="10058400" cy="1828800"/>
          </a:xfrm>
          <a:prstGeom prst="rect">
            <a:avLst/>
          </a:prstGeom>
          <a:noFill/>
        </p:spPr>
        <p:txBody>
          <a:bodyPr wrap="square">
            <a:spAutoFit/>
          </a:bodyPr>
          <a:lstStyle/>
          <a:p>
            <a:pPr algn="ctr">
              <a:defRPr sz="3000" b="1">
                <a:solidFill>
                  <a:srgbClr val="FFFFFF"/>
                </a:solidFill>
                <a:latin typeface="Calibri"/>
              </a:defRPr>
            </a:pPr>
            <a:r>
              <a:t>GNNs achieve state-of-the-art on benchmarks. Are they ALWAYS better than Random Forest? When would you still choose RF?</a:t>
            </a:r>
          </a:p>
        </p:txBody>
      </p:sp>
      <p:sp>
        <p:nvSpPr>
          <p:cNvPr id="4" name="TextBox 3"/>
          <p:cNvSpPr txBox="1"/>
          <p:nvPr/>
        </p:nvSpPr>
        <p:spPr>
          <a:xfrm>
            <a:off x="1371600" y="3657600"/>
            <a:ext cx="9144000" cy="2743200"/>
          </a:xfrm>
          <a:prstGeom prst="rect">
            <a:avLst/>
          </a:prstGeom>
          <a:noFill/>
        </p:spPr>
        <p:txBody>
          <a:bodyPr wrap="square">
            <a:spAutoFit/>
          </a:bodyPr>
          <a:lstStyle/>
          <a:p>
            <a:pPr>
              <a:spcAft>
                <a:spcPts val="800"/>
              </a:spcAft>
              <a:defRPr sz="1800">
                <a:solidFill>
                  <a:srgbClr val="F0F0F0"/>
                </a:solidFill>
                <a:latin typeface="Calibri"/>
              </a:defRPr>
            </a:pPr>
            <a:r>
              <a:t>Consider: dataset size, interpretability needs, computational budget</a:t>
            </a:r>
          </a:p>
          <a:p>
            <a:pPr>
              <a:spcAft>
                <a:spcPts val="800"/>
              </a:spcAft>
              <a:defRPr sz="1800">
                <a:solidFill>
                  <a:srgbClr val="F0F0F0"/>
                </a:solidFill>
                <a:latin typeface="Calibri"/>
              </a:defRPr>
            </a:pPr>
            <a:r>
              <a:t>Think about: the no-free-lunch theorem</a:t>
            </a:r>
          </a:p>
          <a:p>
            <a:pPr>
              <a:spcAft>
                <a:spcPts val="800"/>
              </a:spcAft>
              <a:defRPr sz="1800">
                <a:solidFill>
                  <a:srgbClr val="F0F0F0"/>
                </a:solidFill>
                <a:latin typeface="Calibri"/>
              </a:defRPr>
            </a:pPr>
            <a:r>
              <a:t>Reflect on: your experience in the practical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