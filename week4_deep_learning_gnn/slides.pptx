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Week 4! This is where we level up from classical ML to deep learning. Start by asking: how many students have experience with neural networks? PyTorch? The key insight today: molecules are naturally graphs. Atoms are nodes, bonds are edges. Graph Neural Networks learn from this structure directly, instead of relying on handcrafted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2-3 minutes. Emphasize the logical progression. The key limitation of fingerprints: information loss due to hashing. Also, fingerprints treat all atoms at a given radius equally. GNNs solve both problems: they learn representations end-to-end from graph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let us think about molecules differently. Not as text (SMILES) or bit vectors (fingerprints), but as mathematical objects: graphs.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features. These features are similar to what is encoded in fingerprints, but they are preserved as separate attributes per atom/bond. The GNN will LEARN which features matter and how to combine them. We do not need to manually decide that aromatic carbon adjacent to nitrogen is important.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this, the core concept. Analogy: imagine each atom is a person at a party. In round 1, you talk to your direct friends. In round 2, your friends tell you what THEY learned. After 3 rounds, you know about people up to 3 handshakes away. Draw a molecular graph on the board, pick an atom, and trace neighborhoods. The connection to fingerprints is important.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the math. Do not go too deep, the intuition from the previous slide is more important. The key equations: AGGREGATE collects messages from neighbors, UPDATE combines with self. The choice of AGGREGATE function defines different GNN variants: GCN uses normalized sum, GraphSAGE uses mean or max, GAT uses attention-weighted sum.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as an overview. GCN (Kipf and Welling 2017) is the most cited GNN paper (~12,000 citations). It is simple and effective. GAT adds attention: not all neighbors are equally important. MPNN is the most important for drug discovery. 3D-aware models use atomic coordinates, important for conformational properties and binding. The choice of architecture often matters less than the quality of data and featurization.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The Stokes et al. 2020 Cell paper on halicin is a fantastic story: researchers trained a neural network on 2,335 molecules, then screened compounds. Halicin (originally an anti-diabetic candidate) was identified as a potent broad-spectrum antibiotic. Chemprop from the Barzilay/Jaakkola lab at MIT is an excellent open-source tool. Students can use it for their course projects.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PRESENTER NOTES - CROSS-DOMAIN GNNs &amp; HUMAN PHYSIOLOGY</a:t>
            </a:r>
          </a:p>
          <a:p/>
          <a:p>
            <a:r>
              <a:t>Spend 4-5 minutes on this slide. This is where we bring together everything: GNNs from the lecture, physiology from the SpikerBot, and drug discovery.</a:t>
            </a:r>
          </a:p>
          <a:p/>
          <a:p>
            <a:r>
              <a:t>=== GNNs ON MOLECULAR GRAPHS ===</a:t>
            </a:r>
          </a:p>
          <a:p>
            <a:r>
              <a:t>We covered this in detail earlier: atoms are nodes, bonds are edges, message passing aggregates neighbor information. The GNN learns molecular representations end-to-end. GCN, GAT, MPNN all follow this framework.</a:t>
            </a:r>
          </a:p>
          <a:p/>
          <a:p>
            <a:r>
              <a:t>=== GNNs ON BRAIN / PHYSIOLOGY GRAPHS ===</a:t>
            </a:r>
          </a:p>
          <a:p>
            <a:r>
              <a:t>The SAME mathematical framework applies to physiological data. Here is how:</a:t>
            </a:r>
          </a:p>
          <a:p/>
          <a:p>
            <a:r>
              <a:t>1. EEG (Electroencephalography): Place 19-256 electrodes on the scalp. Each electrode is a NODE. Compute pairwise correlations (coherence, phase-locking value, or Granger causality) between electrode time series. These become EDGES. Now you have a brain graph. Feed it to a GNN to classify:</a:t>
            </a:r>
          </a:p>
          <a:p>
            <a:r>
              <a:t>   - Sleep stages (wake, N1, N2, N3, REM)</a:t>
            </a:r>
          </a:p>
          <a:p>
            <a:r>
              <a:t>   - Seizure detection (epilepsy monitoring)</a:t>
            </a:r>
          </a:p>
          <a:p>
            <a:r>
              <a:t>   - Drug effects (sedatives increase slow-wave coherence, stimulants increase fast-frequency connectivity)</a:t>
            </a:r>
          </a:p>
          <a:p>
            <a:r>
              <a:t>   Reference: Bessadok et al. (2022), Graph Neural Networks in Network Neuroscience, Medical Image Analysis 76:102333</a:t>
            </a:r>
          </a:p>
          <a:p/>
          <a:p>
            <a:r>
              <a:t>2. EMG (Electromyography): Record from multiple muscles simultaneously. Each muscle is a node. Correlations in activation timing become edges. GNNs can decode hand gestures for prosthetic control.</a:t>
            </a:r>
          </a:p>
          <a:p/>
          <a:p>
            <a:r>
              <a:t>3. ECG (Electrocardiography): A standard 12-lead ECG has 12 recording channels. Each lead is a node. Spatial and temporal correlations become edges. GNNs have been applied to arrhythmia detection.</a:t>
            </a:r>
          </a:p>
          <a:p/>
          <a:p>
            <a:r>
              <a:t>The KEY insight for students: the mathematical framework of message passing, aggregation, and readout is IDENTICAL whether the graph represents a molecule or a brain. The only difference is what the nodes and edges mean.</a:t>
            </a:r>
          </a:p>
          <a:p/>
          <a:p>
            <a:r>
              <a:t>=== HUMAN PHYSIOLOGY EXPERIMENTS ===</a:t>
            </a:r>
          </a:p>
          <a:p>
            <a:r>
              <a:t>This is where students get hands-on with their OWN bodies. Using Backyard Brains equipment:</a:t>
            </a:r>
          </a:p>
          <a:p/>
          <a:p>
            <a:r>
              <a:t>1. EMG EXPERIMENT (Muscle SpikerShield, ~$60):</a:t>
            </a:r>
          </a:p>
          <a:p>
            <a:r>
              <a:t>   - Attach surface electrodes to the forearm (flexor digitorum)</a:t>
            </a:r>
          </a:p>
          <a:p>
            <a:r>
              <a:t>   - Ask students to grip with increasing force</a:t>
            </a:r>
          </a:p>
          <a:p>
            <a:r>
              <a:t>   - Observe: EMG amplitude increases with force (motor unit recruitment)</a:t>
            </a:r>
          </a:p>
          <a:p>
            <a:r>
              <a:t>   - Measure: RMS amplitude, median frequency, burst duration</a:t>
            </a:r>
          </a:p>
          <a:p>
            <a:r>
              <a:t>   - Drug connection: neuromuscular blockers (e.g., rocuronium used in anesthesia) would reduce EMG amplitude. Myasthenia gravis (autoimmune attack on acetylcholine receptors) causes EMG decrement.</a:t>
            </a:r>
          </a:p>
          <a:p>
            <a:r>
              <a:t>   - ML task: Can you predict grip force from EMG features? This is REGRESSION, just like predicting pIC50.</a:t>
            </a:r>
          </a:p>
          <a:p/>
          <a:p>
            <a:r>
              <a:t>2. ECG EXPERIMENT (Heart &amp; Brain SpikerShield, ~$150):</a:t>
            </a:r>
          </a:p>
          <a:p>
            <a:r>
              <a:t>   - Record your own ECG using limb electrodes</a:t>
            </a:r>
          </a:p>
          <a:p>
            <a:r>
              <a:t>   - Identify the P wave (atrial depolarization), QRS complex (ventricular depolarization), T wave (ventricular repolarization)</a:t>
            </a:r>
          </a:p>
          <a:p>
            <a:r>
              <a:t>   - Measure the QT interval: time from Q wave onset to T wave end</a:t>
            </a:r>
          </a:p>
          <a:p>
            <a:r>
              <a:t>   - Normal QT: 350-440 ms (corrected for heart rate using Bazett's formula: QTc = QT / sqrt(RR))</a:t>
            </a:r>
          </a:p>
          <a:p>
            <a:r>
              <a:t>   - Drug safety: QT prolongation &gt; 500 ms is DANGEROUS. This is exactly what hERG-blocking drugs cause.</a:t>
            </a:r>
          </a:p>
          <a:p>
            <a:r>
              <a:t>   - Have students measure their own QTc at rest, then after 2 minutes of exercise. QT shortens with faster heart rate (physiological).</a:t>
            </a:r>
          </a:p>
          <a:p>
            <a:r>
              <a:t>   - Reference: Redfern et al. (2003), Relationships between preclinical cardiac electrophysiology, clinical QT interval prolongation and torsade de pointes, Cardiovascular Research 58:32-45</a:t>
            </a:r>
          </a:p>
          <a:p/>
          <a:p>
            <a:r>
              <a:t>3. CAFFEINE EXPERIMENT (non-invasive, safe):</a:t>
            </a:r>
          </a:p>
          <a:p>
            <a:r>
              <a:t>   - Record EMG baseline, then have students drink coffee/tea</a:t>
            </a:r>
          </a:p>
          <a:p>
            <a:r>
              <a:t>   - Record again after 30 minutes</a:t>
            </a:r>
          </a:p>
          <a:p>
            <a:r>
              <a:t>   - Caffeine blocks adenosine receptors (A1, A2A) -&gt; increases neural excitability</a:t>
            </a:r>
          </a:p>
          <a:p>
            <a:r>
              <a:t>   - Expected: slightly increased EMG amplitude, possibly increased heart rate on ECG</a:t>
            </a:r>
          </a:p>
          <a:p>
            <a:r>
              <a:t>   - This is a real neuropharmacology experiment with a legal, safe drug!</a:t>
            </a:r>
          </a:p>
          <a:p/>
          <a:p>
            <a:r>
              <a:t>=== CONNECTING TO DRUG DISCOVERY ===</a:t>
            </a:r>
          </a:p>
          <a:p>
            <a:r>
              <a:t>The evaluation principles from Week 3 apply directly:</a:t>
            </a:r>
          </a:p>
          <a:p>
            <a:r>
              <a:t>- Train/test splitting: use temporal splits (before/after drug) just like temporal splits in QSAR</a:t>
            </a:r>
          </a:p>
          <a:p>
            <a:r>
              <a:t>- Feature engineering: RMS, frequency, intervals = molecular descriptors</a:t>
            </a:r>
          </a:p>
          <a:p>
            <a:r>
              <a:t>- Model evaluation: AUC-ROC for classifying drug effect present/absent</a:t>
            </a:r>
          </a:p>
          <a:p>
            <a:r>
              <a:t>- Interpretability: SHAP on physiological features tells you which signal features changed most</a:t>
            </a:r>
          </a:p>
          <a:p/>
          <a:p>
            <a:r>
              <a:t>This is the power of the course: students learn ML principles that transfer across ALL biomedical domains.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tools, 2 minutes. DeepChem is the easiest starting point. PyTorch Geometric is more flexible but requires more code. Chemprop is the best out-of-the-box GNN for molecular property prediction. For the course project: start with Chemprop for quick results, use DeepChem for trying different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on overview. We use the HIV or BACE dataset from MoleculeNet. HIV has ~41,000 compounds (classification), BACE has ~1,500 compounds against BACE-1 Alzheimer's target. Students should compare GCN to their RF baseline on the SAME scaffold split. Expected: for HIV (large dataset), GNN should outperform RF. For BACE (small), it might not. Remind students to use GPU in Colab.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5-minute discussion. RF wins when data is small, interpretability is critical, or computational resources are limited. GNN wins when data is large. Yang et al. 2019 showed Chemprop beat RF on 7 of 8 MoleculeNet tasks, but RF won on 1. Always have an RF/XGBoost baseline.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4</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Deep Learning &amp; Graph Neural Networks</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When molecules become graphs and graphs become predictions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Weeks 1-3 -&gt; Today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Week 1: Drug discovery pipeline, molecular data types, RDKit</a:t>
            </a:r>
          </a:p>
          <a:p>
            <a:pPr>
              <a:spcAft>
                <a:spcPts val="800"/>
              </a:spcAft>
              <a:defRPr sz="2000">
                <a:solidFill>
                  <a:srgbClr val="323232"/>
                </a:solidFill>
                <a:latin typeface="Calibri"/>
              </a:defRPr>
            </a:pPr>
            <a:r>
              <a:t>Week 2: SMILES, fingerprints (ECFP), QSAR with RF &amp; XGBoost</a:t>
            </a:r>
          </a:p>
          <a:p>
            <a:pPr>
              <a:spcAft>
                <a:spcPts val="800"/>
              </a:spcAft>
              <a:defRPr sz="2000">
                <a:solidFill>
                  <a:srgbClr val="323232"/>
                </a:solidFill>
                <a:latin typeface="Calibri"/>
              </a:defRPr>
            </a:pPr>
            <a:r>
              <a:t>Week 3: Evaluation pitfalls, scaffold splits, SHAP interpretability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story so far: fingerprints + classical ML = strong baselines</a:t>
            </a:r>
          </a:p>
          <a:p>
            <a:pPr>
              <a:spcAft>
                <a:spcPts val="800"/>
              </a:spcAft>
              <a:defRPr sz="2000">
                <a:solidFill>
                  <a:srgbClr val="323232"/>
                </a:solidFill>
                <a:latin typeface="Calibri"/>
              </a:defRPr>
            </a:pPr>
            <a:r>
              <a:t>But fingerprints have limitations:</a:t>
            </a:r>
          </a:p>
          <a:p>
            <a:pPr>
              <a:spcAft>
                <a:spcPts val="800"/>
              </a:spcAft>
              <a:defRPr sz="2000">
                <a:solidFill>
                  <a:srgbClr val="323232"/>
                </a:solidFill>
                <a:latin typeface="Calibri"/>
              </a:defRPr>
            </a:pPr>
            <a:r>
              <a:t>  Fixed-length bit vectors lose information (hash collisions)</a:t>
            </a:r>
          </a:p>
          <a:p>
            <a:pPr>
              <a:spcAft>
                <a:spcPts val="800"/>
              </a:spcAft>
              <a:defRPr sz="2000">
                <a:solidFill>
                  <a:srgbClr val="323232"/>
                </a:solidFill>
                <a:latin typeface="Calibri"/>
              </a:defRPr>
            </a:pPr>
            <a:r>
              <a:t>  Cannot capture 3D spatial relationships</a:t>
            </a:r>
          </a:p>
          <a:p>
            <a:pPr>
              <a:spcAft>
                <a:spcPts val="800"/>
              </a:spcAft>
              <a:defRPr sz="2000">
                <a:solidFill>
                  <a:srgbClr val="323232"/>
                </a:solidFill>
                <a:latin typeface="Calibri"/>
              </a:defRPr>
            </a:pPr>
            <a:r>
              <a:t>  Hand-designed, not learned from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 learn molecular representations directly from graph structure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Molecules as Graphs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A natural representation for molecular structure</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Node and Edge Features for Molecular Graphs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 (node) features:</a:t>
            </a:r>
          </a:p>
          <a:p>
            <a:pPr>
              <a:spcAft>
                <a:spcPts val="800"/>
              </a:spcAft>
              <a:defRPr sz="2000">
                <a:solidFill>
                  <a:srgbClr val="323232"/>
                </a:solidFill>
                <a:latin typeface="Calibri"/>
              </a:defRPr>
            </a:pPr>
            <a:r>
              <a:t>  Atomic number (C=6, N=7, O=8)</a:t>
            </a:r>
          </a:p>
          <a:p>
            <a:pPr>
              <a:spcAft>
                <a:spcPts val="800"/>
              </a:spcAft>
              <a:defRPr sz="2000">
                <a:solidFill>
                  <a:srgbClr val="323232"/>
                </a:solidFill>
                <a:latin typeface="Calibri"/>
              </a:defRPr>
            </a:pPr>
            <a:r>
              <a:t>  Degree (number of bonds)</a:t>
            </a:r>
          </a:p>
          <a:p>
            <a:pPr>
              <a:spcAft>
                <a:spcPts val="800"/>
              </a:spcAft>
              <a:defRPr sz="2000">
                <a:solidFill>
                  <a:srgbClr val="323232"/>
                </a:solidFill>
                <a:latin typeface="Calibri"/>
              </a:defRPr>
            </a:pPr>
            <a:r>
              <a:t>  Formal charge</a:t>
            </a:r>
          </a:p>
          <a:p>
            <a:pPr>
              <a:spcAft>
                <a:spcPts val="800"/>
              </a:spcAft>
              <a:defRPr sz="2000">
                <a:solidFill>
                  <a:srgbClr val="323232"/>
                </a:solidFill>
                <a:latin typeface="Calibri"/>
              </a:defRPr>
            </a:pPr>
            <a:r>
              <a:t>  Hybridization (sp, sp2, sp3)</a:t>
            </a:r>
          </a:p>
          <a:p>
            <a:pPr>
              <a:spcAft>
                <a:spcPts val="800"/>
              </a:spcAft>
              <a:defRPr sz="2000">
                <a:solidFill>
                  <a:srgbClr val="323232"/>
                </a:solidFill>
                <a:latin typeface="Calibri"/>
              </a:defRPr>
            </a:pPr>
            <a:r>
              <a:t>  Aromaticity (is this atom in an aromatic ring?)</a:t>
            </a:r>
          </a:p>
          <a:p>
            <a:pPr>
              <a:spcAft>
                <a:spcPts val="800"/>
              </a:spcAft>
              <a:defRPr sz="2000">
                <a:solidFill>
                  <a:srgbClr val="323232"/>
                </a:solidFill>
                <a:latin typeface="Calibri"/>
              </a:defRPr>
            </a:pPr>
            <a:r>
              <a:t>  Number of hydrogens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Bond (edge) features:</a:t>
            </a:r>
          </a:p>
          <a:p>
            <a:pPr>
              <a:spcAft>
                <a:spcPts val="800"/>
              </a:spcAft>
              <a:defRPr sz="2000">
                <a:solidFill>
                  <a:srgbClr val="323232"/>
                </a:solidFill>
                <a:latin typeface="Calibri"/>
              </a:defRPr>
            </a:pPr>
            <a:r>
              <a:t>  Bond type (single, double, triple, aromatic)</a:t>
            </a:r>
          </a:p>
          <a:p>
            <a:pPr>
              <a:spcAft>
                <a:spcPts val="800"/>
              </a:spcAft>
              <a:defRPr sz="2000">
                <a:solidFill>
                  <a:srgbClr val="323232"/>
                </a:solidFill>
                <a:latin typeface="Calibri"/>
              </a:defRPr>
            </a:pPr>
            <a:r>
              <a:t>  Is in ring?</a:t>
            </a:r>
          </a:p>
          <a:p>
            <a:pPr>
              <a:spcAft>
                <a:spcPts val="800"/>
              </a:spcAft>
              <a:defRPr sz="2000">
                <a:solidFill>
                  <a:srgbClr val="323232"/>
                </a:solidFill>
                <a:latin typeface="Calibri"/>
              </a:defRPr>
            </a:pPr>
            <a:r>
              <a:t>  Is conjugated?</a:t>
            </a:r>
          </a:p>
          <a:p>
            <a:pPr>
              <a:spcAft>
                <a:spcPts val="800"/>
              </a:spcAft>
              <a:defRPr sz="2000">
                <a:solidFill>
                  <a:srgbClr val="323232"/>
                </a:solidFill>
                <a:latin typeface="Calibri"/>
              </a:defRPr>
            </a:pPr>
            <a:r>
              <a:t>  Stereochemistry (E/Z, cis/trans)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GNN Intuition: Message Passing</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Core idea: each node gathers information from its neighbors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message passing algorithm (for each node v):</a:t>
            </a:r>
          </a:p>
          <a:p>
            <a:pPr>
              <a:spcAft>
                <a:spcPts val="800"/>
              </a:spcAft>
              <a:defRPr sz="2000">
                <a:solidFill>
                  <a:srgbClr val="323232"/>
                </a:solidFill>
                <a:latin typeface="Calibri"/>
              </a:defRPr>
            </a:pPr>
            <a:r>
              <a:t>  1. AGGREGATE: collect features from all neighbors of v</a:t>
            </a:r>
          </a:p>
          <a:p>
            <a:pPr>
              <a:spcAft>
                <a:spcPts val="800"/>
              </a:spcAft>
              <a:defRPr sz="2000">
                <a:solidFill>
                  <a:srgbClr val="323232"/>
                </a:solidFill>
                <a:latin typeface="Calibri"/>
              </a:defRPr>
            </a:pPr>
            <a:r>
              <a:t>  2. UPDATE: combine aggregated message with v's own features</a:t>
            </a:r>
          </a:p>
          <a:p>
            <a:pPr>
              <a:spcAft>
                <a:spcPts val="800"/>
              </a:spcAft>
              <a:defRPr sz="2000">
                <a:solidFill>
                  <a:srgbClr val="323232"/>
                </a:solidFill>
                <a:latin typeface="Calibri"/>
              </a:defRPr>
            </a:pPr>
            <a:r>
              <a:t>  3. Repeat for K iterations (K = number of layers)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 K iterations, each node has information from its K-hop neighborhood</a:t>
            </a:r>
          </a:p>
          <a:p>
            <a:pPr>
              <a:spcAft>
                <a:spcPts val="800"/>
              </a:spcAft>
              <a:defRPr sz="2000">
                <a:solidFill>
                  <a:srgbClr val="323232"/>
                </a:solidFill>
                <a:latin typeface="Calibri"/>
              </a:defRPr>
            </a:pPr>
            <a:r>
              <a:t>  K=1: knows about direct neighbors (like Morgan radius=1)</a:t>
            </a:r>
          </a:p>
          <a:p>
            <a:pPr>
              <a:spcAft>
                <a:spcPts val="800"/>
              </a:spcAft>
              <a:defRPr sz="2000">
                <a:solidFill>
                  <a:srgbClr val="323232"/>
                </a:solidFill>
                <a:latin typeface="Calibri"/>
              </a:defRPr>
            </a:pPr>
            <a:r>
              <a:t>  K=2: knows about 2-hop neighborhood (like Morgan radius=2)</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This is EXACTLY what ECFP fingerprints do - but learned, not hashed!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Message Passing: The Math (Simplified)</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For layer k, node v:</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m_v^(k) = AGGREGATE({h_u^(k-1) : u in N(v)})</a:t>
            </a:r>
          </a:p>
          <a:p>
            <a:pPr>
              <a:spcAft>
                <a:spcPts val="800"/>
              </a:spcAft>
              <a:defRPr sz="2000">
                <a:solidFill>
                  <a:srgbClr val="323232"/>
                </a:solidFill>
                <a:latin typeface="Calibri"/>
              </a:defRPr>
            </a:pPr>
            <a:r>
              <a:t>  h_v^(k) = UPDATE(h_v^(k-1), m_v^(k))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Where:</a:t>
            </a:r>
          </a:p>
          <a:p>
            <a:pPr>
              <a:spcAft>
                <a:spcPts val="800"/>
              </a:spcAft>
              <a:defRPr sz="2000">
                <a:solidFill>
                  <a:srgbClr val="323232"/>
                </a:solidFill>
                <a:latin typeface="Calibri"/>
              </a:defRPr>
            </a:pPr>
            <a:r>
              <a:t>  h_v^(k) = node v representation at layer k</a:t>
            </a:r>
          </a:p>
          <a:p>
            <a:pPr>
              <a:spcAft>
                <a:spcPts val="800"/>
              </a:spcAft>
              <a:defRPr sz="2000">
                <a:solidFill>
                  <a:srgbClr val="323232"/>
                </a:solidFill>
                <a:latin typeface="Calibri"/>
              </a:defRPr>
            </a:pPr>
            <a:r>
              <a:t>  N(v) = neighbors of node v</a:t>
            </a:r>
          </a:p>
          <a:p>
            <a:pPr>
              <a:spcAft>
                <a:spcPts val="800"/>
              </a:spcAft>
              <a:defRPr sz="2000">
                <a:solidFill>
                  <a:srgbClr val="323232"/>
                </a:solidFill>
                <a:latin typeface="Calibri"/>
              </a:defRPr>
            </a:pPr>
            <a:r>
              <a:t>  AGGREGATE = sum, mean, or max pooling</a:t>
            </a:r>
          </a:p>
          <a:p>
            <a:pPr>
              <a:spcAft>
                <a:spcPts val="800"/>
              </a:spcAft>
              <a:defRPr sz="2000">
                <a:solidFill>
                  <a:srgbClr val="323232"/>
                </a:solidFill>
                <a:latin typeface="Calibri"/>
              </a:defRPr>
            </a:pPr>
            <a:r>
              <a:t>  UPDATE = neural network (MLP, GRU, ...)</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 K layers -&gt; READOUT: aggregate all node features -&gt; molecular property</a:t>
            </a:r>
          </a:p>
          <a:p>
            <a:pPr>
              <a:spcAft>
                <a:spcPts val="800"/>
              </a:spcAft>
              <a:defRPr sz="2000">
                <a:solidFill>
                  <a:srgbClr val="323232"/>
                </a:solidFill>
                <a:latin typeface="Calibri"/>
              </a:defRPr>
            </a:pPr>
            <a:r>
              <a:t>  h_graph = READOUT({h_v^(K) : v in V}) = mean/sum/attention pooling</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Common GNN Architectures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GCN - Graph Convolutional Network</a:t>
            </a:r>
          </a:p>
          <a:p>
            <a:pPr>
              <a:spcAft>
                <a:spcPts val="800"/>
              </a:spcAft>
              <a:defRPr sz="2000">
                <a:solidFill>
                  <a:srgbClr val="323232"/>
                </a:solidFill>
                <a:latin typeface="Calibri"/>
              </a:defRPr>
            </a:pPr>
            <a:r>
              <a:t>  Kipf &amp; Welling (2017), ICLR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GAT - Graph Attention Network</a:t>
            </a:r>
          </a:p>
          <a:p>
            <a:pPr>
              <a:spcAft>
                <a:spcPts val="800"/>
              </a:spcAft>
              <a:defRPr sz="2000">
                <a:solidFill>
                  <a:srgbClr val="323232"/>
                </a:solidFill>
                <a:latin typeface="Calibri"/>
              </a:defRPr>
            </a:pPr>
            <a:r>
              <a:t>  Velickovic et al. (2018), ICLR</a:t>
            </a:r>
          </a:p>
          <a:p>
            <a:pPr>
              <a:spcAft>
                <a:spcPts val="800"/>
              </a:spcAft>
              <a:defRPr sz="2000">
                <a:solidFill>
                  <a:srgbClr val="323232"/>
                </a:solidFill>
                <a:latin typeface="Calibri"/>
              </a:defRPr>
            </a:pPr>
            <a:r>
              <a:t>  Learns attention weights: some neighbors matter more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MPNN - Message Passing Neural Network</a:t>
            </a:r>
          </a:p>
          <a:p>
            <a:pPr>
              <a:spcAft>
                <a:spcPts val="800"/>
              </a:spcAft>
              <a:defRPr sz="2000">
                <a:solidFill>
                  <a:srgbClr val="323232"/>
                </a:solidFill>
                <a:latin typeface="Calibri"/>
              </a:defRPr>
            </a:pPr>
            <a:r>
              <a:t>  Gilmer et al. (2017), ICML - the unifying framework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SchNet / DimeNet - 3D-aware GNNs</a:t>
            </a:r>
          </a:p>
          <a:p>
            <a:pPr>
              <a:spcAft>
                <a:spcPts val="800"/>
              </a:spcAft>
              <a:defRPr sz="2000">
                <a:solidFill>
                  <a:srgbClr val="323232"/>
                </a:solidFill>
                <a:latin typeface="Calibri"/>
              </a:defRPr>
            </a:pPr>
            <a:r>
              <a:t>  Schutt et al. (2018), J. Chem. Phys.</a:t>
            </a:r>
          </a:p>
          <a:p>
            <a:pPr>
              <a:spcAft>
                <a:spcPts val="800"/>
              </a:spcAft>
              <a:defRPr sz="2000">
                <a:solidFill>
                  <a:srgbClr val="323232"/>
                </a:solidFill>
                <a:latin typeface="Calibri"/>
              </a:defRPr>
            </a:pPr>
            <a:r>
              <a:t>  Gasteiger et al. (2020), ICLR</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Real-World GNN Applications in Pharma</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Stokes et al. (2020), Cell 180:688-702 - Halicin discovery</a:t>
            </a:r>
          </a:p>
          <a:p>
            <a:pPr>
              <a:spcAft>
                <a:spcPts val="800"/>
              </a:spcAft>
              <a:defRPr sz="2000">
                <a:solidFill>
                  <a:srgbClr val="323232"/>
                </a:solidFill>
                <a:latin typeface="Calibri"/>
              </a:defRPr>
            </a:pPr>
            <a:r>
              <a:t>  Neural networks to discover a novel antibiotic from 100M+ molecules</a:t>
            </a:r>
          </a:p>
          <a:p>
            <a:pPr>
              <a:spcAft>
                <a:spcPts val="800"/>
              </a:spcAft>
              <a:defRPr sz="2000">
                <a:solidFill>
                  <a:srgbClr val="323232"/>
                </a:solidFill>
                <a:latin typeface="Calibri"/>
              </a:defRPr>
            </a:pPr>
            <a:r>
              <a:t>  Active against pan-resistant A. baumannii</a:t>
            </a:r>
          </a:p>
          <a:p>
            <a:pPr>
              <a:spcAft>
                <a:spcPts val="800"/>
              </a:spcAft>
              <a:defRPr sz="2000">
                <a:solidFill>
                  <a:srgbClr val="323232"/>
                </a:solidFill>
                <a:latin typeface="Calibri"/>
              </a:defRPr>
            </a:pPr>
            <a:r>
              <a:t>  Collaboration: MIT + Broad Institute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Chemprop - D-MPNN from MIT (Yang et al. 2019, JCIM 59:3370-3388)</a:t>
            </a:r>
          </a:p>
          <a:p>
            <a:pPr>
              <a:spcAft>
                <a:spcPts val="800"/>
              </a:spcAft>
              <a:defRPr sz="2000">
                <a:solidFill>
                  <a:srgbClr val="323232"/>
                </a:solidFill>
                <a:latin typeface="Calibri"/>
              </a:defRPr>
            </a:pPr>
            <a:r>
              <a:t>  Open-source MPNN achieving state-of-the-art on MoleculeNet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Recursion Pharmaceuticals - high-content imaging + GNNs</a:t>
            </a:r>
          </a:p>
          <a:p>
            <a:pPr>
              <a:spcAft>
                <a:spcPts val="800"/>
              </a:spcAft>
              <a:defRPr sz="2000">
                <a:solidFill>
                  <a:srgbClr val="323232"/>
                </a:solidFill>
                <a:latin typeface="Calibri"/>
              </a:defRPr>
            </a:pPr>
            <a:r>
              <a:t>  Combining cell painting (microscopy) with molecular graphs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Pre-trained models: MolBERT, ChemBERTa, Uni-Mol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Cross-Domain: GNNs Meet Human Physiology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Same GNN architecture, different biological domains: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Molecular graph:</a:t>
            </a:r>
          </a:p>
          <a:p>
            <a:pPr>
              <a:spcAft>
                <a:spcPts val="800"/>
              </a:spcAft>
              <a:defRPr sz="2000">
                <a:solidFill>
                  <a:srgbClr val="323232"/>
                </a:solidFill>
                <a:latin typeface="Calibri"/>
              </a:defRPr>
            </a:pPr>
            <a:r>
              <a:t>  Nodes = atoms | Edges = bonds</a:t>
            </a:r>
          </a:p>
          <a:p>
            <a:pPr>
              <a:spcAft>
                <a:spcPts val="800"/>
              </a:spcAft>
              <a:defRPr sz="2000">
                <a:solidFill>
                  <a:srgbClr val="323232"/>
                </a:solidFill>
                <a:latin typeface="Calibri"/>
              </a:defRPr>
            </a:pPr>
            <a:r>
              <a:t>  Task: predict molecular properties (toxicity, solubility, binding)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Neural / physiological graph:</a:t>
            </a:r>
          </a:p>
          <a:p>
            <a:pPr>
              <a:spcAft>
                <a:spcPts val="800"/>
              </a:spcAft>
              <a:defRPr sz="2000">
                <a:solidFill>
                  <a:srgbClr val="323232"/>
                </a:solidFill>
                <a:latin typeface="Calibri"/>
              </a:defRPr>
            </a:pPr>
            <a:r>
              <a:t>  Nodes = recording electrodes (EEG/EMG/ECG sensors)</a:t>
            </a:r>
          </a:p>
          <a:p>
            <a:pPr>
              <a:spcAft>
                <a:spcPts val="800"/>
              </a:spcAft>
              <a:defRPr sz="2000">
                <a:solidFill>
                  <a:srgbClr val="323232"/>
                </a:solidFill>
                <a:latin typeface="Calibri"/>
              </a:defRPr>
            </a:pPr>
            <a:r>
              <a:t>  Edges = functional connectivity (correlation between channels)</a:t>
            </a:r>
          </a:p>
          <a:p>
            <a:pPr>
              <a:spcAft>
                <a:spcPts val="800"/>
              </a:spcAft>
              <a:defRPr sz="2000">
                <a:solidFill>
                  <a:srgbClr val="323232"/>
                </a:solidFill>
                <a:latin typeface="Calibri"/>
              </a:defRPr>
            </a:pPr>
            <a:r>
              <a:t>  Task: classify brain states, detect drug effects on physiology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Human physiology experiments with SpikerBot:</a:t>
            </a:r>
          </a:p>
          <a:p>
            <a:pPr>
              <a:spcAft>
                <a:spcPts val="800"/>
              </a:spcAft>
              <a:defRPr sz="2000">
                <a:solidFill>
                  <a:srgbClr val="323232"/>
                </a:solidFill>
                <a:latin typeface="Calibri"/>
              </a:defRPr>
            </a:pPr>
            <a:r>
              <a:t>  Record EMG from your own muscles - see motor unit recruitment</a:t>
            </a:r>
          </a:p>
          <a:p>
            <a:pPr>
              <a:spcAft>
                <a:spcPts val="800"/>
              </a:spcAft>
              <a:defRPr sz="2000">
                <a:solidFill>
                  <a:srgbClr val="323232"/>
                </a:solidFill>
                <a:latin typeface="Calibri"/>
              </a:defRPr>
            </a:pPr>
            <a:r>
              <a:t>  Record ECG - measure QT interval (hERG drug safety target!)</a:t>
            </a:r>
          </a:p>
          <a:p>
            <a:pPr>
              <a:spcAft>
                <a:spcPts val="800"/>
              </a:spcAft>
              <a:defRPr sz="2000">
                <a:solidFill>
                  <a:srgbClr val="323232"/>
                </a:solidFill>
                <a:latin typeface="Calibri"/>
              </a:defRPr>
            </a:pPr>
            <a:r>
              <a:t>  Compare: how does caffeine / exercise change YOUR signals?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insight: graph learning is a UNIVERSAL framework for biology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Tools: DeepChem and PyTorch Geometric</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DeepChem (Ramsundar et al.): high-level library for molecular ML</a:t>
            </a:r>
          </a:p>
          <a:p>
            <a:pPr>
              <a:spcAft>
                <a:spcPts val="800"/>
              </a:spcAft>
              <a:defRPr sz="2000">
                <a:solidFill>
                  <a:srgbClr val="323232"/>
                </a:solidFill>
                <a:latin typeface="Calibri"/>
              </a:defRPr>
            </a:pPr>
            <a:r>
              <a:t>  Built-in datasets (MoleculeNet), featurizers, models</a:t>
            </a:r>
          </a:p>
          <a:p>
            <a:pPr>
              <a:spcAft>
                <a:spcPts val="800"/>
              </a:spcAft>
              <a:defRPr sz="2000">
                <a:solidFill>
                  <a:srgbClr val="323232"/>
                </a:solidFill>
                <a:latin typeface="Calibri"/>
              </a:defRPr>
            </a:pPr>
            <a:r>
              <a:t>  pip install deepchem</a:t>
            </a:r>
          </a:p>
          <a:p>
            <a:pPr>
              <a:spcAft>
                <a:spcPts val="800"/>
              </a:spcAft>
              <a:defRPr sz="2000">
                <a:solidFill>
                  <a:srgbClr val="323232"/>
                </a:solidFill>
                <a:latin typeface="Calibri"/>
              </a:defRPr>
            </a:pPr>
            <a:r>
              <a:t>  Reference: Ramsundar et al. (2019), O'Reilly Deep Learning for the Life Sciences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PyTorch Geometric (PyG): low-level GNN building blocks</a:t>
            </a:r>
          </a:p>
          <a:p>
            <a:pPr>
              <a:spcAft>
                <a:spcPts val="800"/>
              </a:spcAft>
              <a:defRPr sz="2000">
                <a:solidFill>
                  <a:srgbClr val="323232"/>
                </a:solidFill>
                <a:latin typeface="Calibri"/>
              </a:defRPr>
            </a:pPr>
            <a:r>
              <a:t>  Fey &amp; Lenssen (2019), ICLR Workshop</a:t>
            </a:r>
          </a:p>
          <a:p>
            <a:pPr>
              <a:spcAft>
                <a:spcPts val="800"/>
              </a:spcAft>
              <a:defRPr sz="2000">
                <a:solidFill>
                  <a:srgbClr val="323232"/>
                </a:solidFill>
                <a:latin typeface="Calibri"/>
              </a:defRPr>
            </a:pPr>
            <a:r>
              <a:t>  pip install torch-geometric</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Chemprop: specialized for molecular property prediction</a:t>
            </a:r>
          </a:p>
          <a:p>
            <a:pPr>
              <a:spcAft>
                <a:spcPts val="800"/>
              </a:spcAft>
              <a:defRPr sz="2000">
                <a:solidFill>
                  <a:srgbClr val="323232"/>
                </a:solidFill>
                <a:latin typeface="Calibri"/>
              </a:defRPr>
            </a:pPr>
            <a:r>
              <a:t>  Easy to use CLI + Python API</a:t>
            </a:r>
          </a:p>
          <a:p>
            <a:pPr>
              <a:spcAft>
                <a:spcPts val="800"/>
              </a:spcAft>
              <a:defRPr sz="2000">
                <a:solidFill>
                  <a:srgbClr val="323232"/>
                </a:solidFill>
                <a:latin typeface="Calibri"/>
              </a:defRPr>
            </a:pPr>
            <a:r>
              <a:t>  pip install chemprop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Simple GNN for Activity Prediction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week4_deep_learning_gnn/Week4_Practical.ipynb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a MoleculeNet dataset (HIV or BACE)</a:t>
            </a:r>
          </a:p>
          <a:p>
            <a:pPr>
              <a:spcAft>
                <a:spcPts val="800"/>
              </a:spcAft>
              <a:defRPr sz="2000">
                <a:solidFill>
                  <a:srgbClr val="323232"/>
                </a:solidFill>
                <a:latin typeface="Calibri"/>
              </a:defRPr>
            </a:pPr>
            <a:r>
              <a:t>  2. Featurize molecules as graphs using DeepChem</a:t>
            </a:r>
          </a:p>
          <a:p>
            <a:pPr>
              <a:spcAft>
                <a:spcPts val="800"/>
              </a:spcAft>
              <a:defRPr sz="2000">
                <a:solidFill>
                  <a:srgbClr val="323232"/>
                </a:solidFill>
                <a:latin typeface="Calibri"/>
              </a:defRPr>
            </a:pPr>
            <a:r>
              <a:t>  3. Train a Graph Convolutional Network (GCN)</a:t>
            </a:r>
          </a:p>
          <a:p>
            <a:pPr>
              <a:spcAft>
                <a:spcPts val="800"/>
              </a:spcAft>
              <a:defRPr sz="2000">
                <a:solidFill>
                  <a:srgbClr val="323232"/>
                </a:solidFill>
                <a:latin typeface="Calibri"/>
              </a:defRPr>
            </a:pPr>
            <a:r>
              <a:t>  4. Compare to your Week 2 Random Forest baseline</a:t>
            </a:r>
          </a:p>
          <a:p>
            <a:pPr>
              <a:spcAft>
                <a:spcPts val="800"/>
              </a:spcAft>
              <a:defRPr sz="2000">
                <a:solidFill>
                  <a:srgbClr val="323232"/>
                </a:solidFill>
                <a:latin typeface="Calibri"/>
              </a:defRPr>
            </a:pPr>
            <a:r>
              <a:t>  5. Analyze: when does GNN outperform RF? When doesn't it?</a:t>
            </a:r>
          </a:p>
          <a:p>
            <a:pPr>
              <a:spcAft>
                <a:spcPts val="800"/>
              </a:spcAft>
              <a:defRPr sz="2000">
                <a:solidFill>
                  <a:srgbClr val="323232"/>
                </a:solidFill>
                <a:latin typeface="Calibri"/>
              </a:defRPr>
            </a:pPr>
            <a:r>
              <a:t>  6. (Bonus) Try Chemprop D-MPNN and compare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 | Work in pairs</a:t>
            </a:r>
          </a:p>
          <a:p>
            <a:pPr>
              <a:spcAft>
                <a:spcPts val="800"/>
              </a:spcAft>
              <a:defRPr sz="2000">
                <a:solidFill>
                  <a:srgbClr val="323232"/>
                </a:solidFill>
                <a:latin typeface="Calibri"/>
              </a:defRPr>
            </a:pPr>
            <a:r>
              <a:t>Note: GNN training takes longer - GPU recommended (Colab provides free GPU)</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GNNs achieve state-of-the-art on benchmarks. Are they ALWAYS better than Random Forest? When would you still choose RF?</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Consider: dataset size, interpretability needs, computational budget</a:t>
            </a:r>
          </a:p>
          <a:p>
            <a:pPr>
              <a:spcAft>
                <a:spcPts val="800"/>
              </a:spcAft>
              <a:defRPr sz="1800">
                <a:solidFill>
                  <a:srgbClr val="F0F0F0"/>
                </a:solidFill>
                <a:latin typeface="Calibri"/>
              </a:defRPr>
            </a:pPr>
            <a:r>
              <a:t>Think about: the no-free-lunch theorem</a:t>
            </a:r>
          </a:p>
          <a:p>
            <a:pPr>
              <a:spcAft>
                <a:spcPts val="800"/>
              </a:spcAft>
              <a:defRPr sz="1800">
                <a:solidFill>
                  <a:srgbClr val="F0F0F0"/>
                </a:solidFill>
                <a:latin typeface="Calibri"/>
              </a:defRPr>
            </a:pPr>
            <a:r>
              <a:t>Reflect on: your experience in the practical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