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Week 4! This is where we level up from classical ML to deep learning. Start by asking: how many students have experience with neural networks? PyTorch? The key insight today: molecules are naturally graphs. Atoms are nodes, bonds are edges. Graph Neural Networks learn from this structure directly, instead of relying on handcrafted fingerprints.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2-3 minutes. Emphasize the logical progression. The key limitation of fingerprints: information loss due to hashing. Also, fingerprints treat all atoms at a given radius equally. GNNs solve both problems: they learn representations end-to-end from graph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let us think about molecules differently. Not as text (SMILES) or bit vectors (fingerprints), but as mathematical objects: graphs.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on features. These features are similar to what is encoded in fingerprints, but they are preserved as separate attributes per atom/bond. The GNN will LEARN which features matter and how to combine them. We do not need to manually decide that aromatic carbon adjacent to nitrogen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on this, the core concept. Analogy: imagine each atom is a person at a party. In round 1, you talk to your direct friends. In round 2, your friends tell you what THEY learned. After 3 rounds, you know about people up to 3 handshakes away. Draw a molecular graph on the board, pick an atom, and trace neighborhoods. The connection to fingerprints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the math. Do not go too deep, the intuition from the previous slide is more important. The key equations: AGGREGATE collects messages from neighbors, UPDATE combines with self. The choice of AGGREGATE function defines different GNN variants: GCN uses normalized sum, GraphSAGE uses mean or max, GAT uses attention-weighted sum.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 minutes as an overview. GCN (Kipf and Welling 2017) is the most cited GNN paper (~12,000 citations). It is simple and effective. GAT adds attention: not all neighbors are equally important. MPNN is the most important for drug discovery. 3D-aware models use atomic coordinates, important for conformational properties and binding. The choice of architecture often matters less than the quality of data and featurization.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a:t>
            </a:r>
          </a:p>
          <a:p/>
          <a:p>
            <a:r>
              <a:t>=== DRUG DISCOVERY GNNs ===</a:t>
            </a:r>
          </a:p>
          <a:p>
            <a:r>
              <a:t>Stokes et al. 2020 Cell paper: trained a neural network on 2,335 molecules, screened the Broad Institute repurposing library, discovered halicin as a potent broad-spectrum antibiotic active against pan-resistant A. baumannii. Chemprop (Barzilay/Jaakkola lab, MIT) is the best open-source molecular GNN.</a:t>
            </a:r>
          </a:p>
          <a:p/>
          <a:p>
            <a:r>
              <a:t>=== NEUROSCIENCE GNNs ===</a:t>
            </a:r>
          </a:p>
          <a:p/>
          <a:p>
            <a:r>
              <a:t>1. CONNECTOMICS GNNs:</a:t>
            </a:r>
          </a:p>
          <a:p>
            <a:r>
              <a:t>   - The Drosophila brain connectome has ~140,000 neurons and ~50 million synapses</a:t>
            </a:r>
          </a:p>
          <a:p>
            <a:r>
              <a:t>   - This is the ultimate graph dataset: neurons = nodes, synapses = directed edges</a:t>
            </a:r>
          </a:p>
          <a:p>
            <a:r>
              <a:t>   - GNNs can predict neuron cell types from local connectivity patterns</a:t>
            </a:r>
          </a:p>
          <a:p>
            <a:r>
              <a:t>   - Analogous to predicting molecular activity from graph structure</a:t>
            </a:r>
          </a:p>
          <a:p>
            <a:r>
              <a:t>   - Schlegel et al. (2024, Nature 634:139-152) used graph-based approaches for cell typing</a:t>
            </a:r>
          </a:p>
          <a:p/>
          <a:p>
            <a:r>
              <a:t>2. BRAIN IMAGING GNNs:</a:t>
            </a:r>
          </a:p>
          <a:p>
            <a:r>
              <a:t>   - Bessadok et al. (2022, Medical Image Analysis) reviewed GNNs in network neuroscience</a:t>
            </a:r>
          </a:p>
          <a:p>
            <a:r>
              <a:t>   - EEG/fMRI data -&gt; brain graphs -&gt; GNN classification</a:t>
            </a:r>
          </a:p>
          <a:p>
            <a:r>
              <a:t>   - Applications: Alzheimer's detection, seizure prediction, drug effect monitoring</a:t>
            </a:r>
          </a:p>
          <a:p/>
          <a:p>
            <a:r>
              <a:t>3. DRUG EFFECT ON BRAIN GRAPHS:</a:t>
            </a:r>
          </a:p>
          <a:p>
            <a:r>
              <a:t>   - Administer a drug (e.g., SSRI for depression)</a:t>
            </a:r>
          </a:p>
          <a:p>
            <a:r>
              <a:t>   - Record brain connectivity (fMRI, EEG) before and after</a:t>
            </a:r>
          </a:p>
          <a:p>
            <a:r>
              <a:t>   - Build graphs from both timepoints</a:t>
            </a:r>
          </a:p>
          <a:p>
            <a:r>
              <a:t>   - GNN classifies: did the drug change brain connectivity?</a:t>
            </a:r>
          </a:p>
          <a:p>
            <a:r>
              <a:t>   - This is 'pharmacological connectomics' - a growing field</a:t>
            </a:r>
          </a:p>
          <a:p/>
          <a:p>
            <a:r>
              <a:t>=== FROM DR. SERBE-KAMP'S RESEARCH ===</a:t>
            </a:r>
          </a:p>
          <a:p>
            <a:r>
              <a:t>Dr. Serbe-Kamp's work on the Drosophila visual motion detection circuit is a perfect example of how connectomics and functional neuroscience work together:</a:t>
            </a:r>
          </a:p>
          <a:p>
            <a:r>
              <a:t>- Connectomics (EM) maps the STRUCTURAL graph: which neurons are connected</a:t>
            </a:r>
          </a:p>
          <a:p>
            <a:r>
              <a:t>- Calcium imaging and electrophysiology measure the FUNCTIONAL properties</a:t>
            </a:r>
          </a:p>
          <a:p>
            <a:r>
              <a:t>- Together: the structure constrains function, and function validates structure</a:t>
            </a:r>
          </a:p>
          <a:p>
            <a:r>
              <a:t>- In Serbe et al. (2016, Neuron): used both approaches to map T5 (OFF motion) inputs</a:t>
            </a:r>
          </a:p>
          <a:p>
            <a:r>
              <a:t>- In Haag, Arenz, Serbe-Kamp et al. (2023, Nature Neurosci.): identified GluClα as mediating inhibition across three circuit levels</a:t>
            </a:r>
          </a:p>
          <a:p/>
          <a:p>
            <a:r>
              <a:t>This is exactly what modern drug discovery does: structural information (protein structures, binding sites) + functional assays (IC50, EC50) together inform drug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PRESENTER NOTES - CROSS-DOMAIN GNNs, CONNECTOMICS &amp; DROSOPHILA</a:t>
            </a:r>
          </a:p>
          <a:p/>
          <a:p>
            <a:r>
              <a:t>Spend 4-5 minutes on this slide. This connects GNNs to the instructor's actual neuroscience research.</a:t>
            </a:r>
          </a:p>
          <a:p/>
          <a:p>
            <a:r>
              <a:t>=== THE DROSOPHILA CONNECTOME ===</a:t>
            </a:r>
          </a:p>
          <a:p>
            <a:r>
              <a:t>The FlyWire project (Dorkenwald et al. 2024, Nature) reconstructed the complete connectome of an adult Drosophila brain:</a:t>
            </a:r>
          </a:p>
          <a:p>
            <a:r>
              <a:t>- ~140,000 neurons fully reconstructed from electron microscopy (EM) serial sections</a:t>
            </a:r>
          </a:p>
          <a:p>
            <a:r>
              <a:t>- ~50 million chemical synapses mapped</a:t>
            </a:r>
          </a:p>
          <a:p>
            <a:r>
              <a:t>- This is literally a GRAPH: neurons are nodes, synapses are directed edges (with synapse count as edge weight)</a:t>
            </a:r>
          </a:p>
          <a:p>
            <a:r>
              <a:t>- This is the largest complete animal brain connectome and a landmark in neuroscience</a:t>
            </a:r>
          </a:p>
          <a:p/>
          <a:p>
            <a:r>
              <a:t>=== DR. SERBE-KAMP'S CONNECTOMICS RESEARCH ===</a:t>
            </a:r>
          </a:p>
          <a:p>
            <a:r>
              <a:t>Dr. Serbe-Kamp used connectomics extensively in his research on the Drosophila visual system:</a:t>
            </a:r>
          </a:p>
          <a:p/>
          <a:p>
            <a:r>
              <a:t>'Comprehensive Characterization of the Major Presynaptic Elements to the Drosophila OFF Motion Detector' (Serbe et al., 2016, Neuron 89:829-841):</a:t>
            </a:r>
          </a:p>
          <a:p>
            <a:r>
              <a:t>- Used EM connectomics to map all synaptic inputs to T5 (OFF motion-detecting) neurons</a:t>
            </a:r>
          </a:p>
          <a:p>
            <a:r>
              <a:t>- Identified specific medulla interneuron types providing input: Tm1, Tm2, Tm4, Tm9</a:t>
            </a:r>
          </a:p>
          <a:p>
            <a:r>
              <a:t>- Combined connectomics with functional imaging (calcium imaging) and optogenetics</a:t>
            </a:r>
          </a:p>
          <a:p>
            <a:r>
              <a:t>- This paper demonstrates connectomics-guided target identification: by mapping the circuit, you identify which cell types to target</a:t>
            </a:r>
          </a:p>
          <a:p/>
          <a:p>
            <a:r>
              <a:t>Earlier connectomics work on the optic lobe:</a:t>
            </a:r>
          </a:p>
          <a:p>
            <a:r>
              <a:t>- Takemura et al. (2013), Nature 500:175-181 - 'A visual motion detection circuit suggested by Drosophila connectomics'</a:t>
            </a:r>
          </a:p>
          <a:p>
            <a:r>
              <a:t>- Shinomiya et al. (2019), eLife 8:e42756 - Expanded medulla connectome</a:t>
            </a:r>
          </a:p>
          <a:p>
            <a:r>
              <a:t>- These studies directly informed the models of motion detection that Dr. Serbe-Kamp's functional work validated</a:t>
            </a:r>
          </a:p>
          <a:p/>
          <a:p>
            <a:r>
              <a:t>=== GNNs ON CONNECTOME DATA ===</a:t>
            </a:r>
          </a:p>
          <a:p>
            <a:r>
              <a:t>The connectome is a natural graph dataset for GNNs:</a:t>
            </a:r>
          </a:p>
          <a:p/>
          <a:p>
            <a:r>
              <a:t>1. NODE CLASSIFICATION: Given a neuron's connectivity pattern, predict its cell type (e.g., T4a, T4b, T4c, T4d for the four direction-selective subtypes). This is analogous to predicting molecular activity from graph structure.</a:t>
            </a:r>
          </a:p>
          <a:p/>
          <a:p>
            <a:r>
              <a:t>2. LINK PREDICTION: Predict missing or weak synapses. Analogous to predicting molecular interactions.</a:t>
            </a:r>
          </a:p>
          <a:p/>
          <a:p>
            <a:r>
              <a:t>3. GRAPH CLASSIFICATION: Given a local circuit (subgraph), classify its function (motion detection, color processing, etc.). Analogous to predicting molecular properties from the whole graph.</a:t>
            </a:r>
          </a:p>
          <a:p/>
          <a:p>
            <a:r>
              <a:t>4. TARGET IDENTIFICATION: Use GNNs to identify hub neurons (highly connected, critical for circuit function) that could be drug targets. This is like using network analysis to identify key proteins in disease pathways.</a:t>
            </a:r>
          </a:p>
          <a:p/>
          <a:p>
            <a:r>
              <a:t>References:</a:t>
            </a:r>
          </a:p>
          <a:p>
            <a:r>
              <a:t>- Dorkenwald et al. (2024). Neuronal wiring diagram of an adult brain. Nature 634:124-138.</a:t>
            </a:r>
          </a:p>
          <a:p>
            <a:r>
              <a:t>- Schlegel et al. (2024). Whole-brain annotation and multi-connectome cell typing of Drosophila. Nature 634:139-152.</a:t>
            </a:r>
          </a:p>
          <a:p>
            <a:r>
              <a:t>- Zeng et al. (2023). Using graph neural networks for cell-type classification in connectomics. Cell Reports Methods 3:100532.</a:t>
            </a:r>
          </a:p>
          <a:p/>
          <a:p>
            <a:r>
              <a:t>=== HUMAN PHYSIOLOGY GRAPH APPLICATIONS ===</a:t>
            </a:r>
          </a:p>
          <a:p/>
          <a:p>
            <a:r>
              <a:t>1. EEG brain graphs: Electrodes = nodes, correlations = edges. GNNs classify sleep stages, detect seizures.</a:t>
            </a:r>
          </a:p>
          <a:p>
            <a:r>
              <a:t>   - Bessadok et al. (2022), Medical Image Analysis 76:102333</a:t>
            </a:r>
          </a:p>
          <a:p/>
          <a:p>
            <a:r>
              <a:t>2. EMG recordings: Muscles = nodes, coordination patterns = edges. GNNs decode gestures.</a:t>
            </a:r>
          </a:p>
          <a:p/>
          <a:p>
            <a:r>
              <a:t>3. ECG: Leads = nodes. GNNs detect arrhythmias.</a:t>
            </a:r>
          </a:p>
          <a:p/>
          <a:p>
            <a:r>
              <a:t>=== SPIKERBOT EXPERIMENTS ===</a:t>
            </a:r>
          </a:p>
          <a:p>
            <a:r>
              <a:t>Students record their own EMG/ECG and can build simple graphs:</a:t>
            </a:r>
          </a:p>
          <a:p>
            <a:r>
              <a:t>- Record from 2+ muscle groups simultaneously (biceps + triceps)</a:t>
            </a:r>
          </a:p>
          <a:p>
            <a:r>
              <a:t>- Compute correlation between channels</a:t>
            </a:r>
          </a:p>
          <a:p>
            <a:r>
              <a:t>- This creates a mini 2-node graph</a:t>
            </a:r>
          </a:p>
          <a:p>
            <a:r>
              <a:t>- Scale up to 8 channels with the Muscle SpikerShield Pro</a:t>
            </a:r>
          </a:p>
          <a:p/>
          <a:p>
            <a:r>
              <a:t>The message: the mathematical framework of GNNs (message passing, aggregation, readout) is IDENTICAL whether the graph represents molecules, brain circuits, or physiological recordings.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overview of tools, 2 minutes. DeepChem is the easiest starting point. PyTorch Geometric is more flexible but requires more code. Chemprop is the best out-of-the-box GNN for molecular property prediction. For the course project: start with Chemprop for quick results, use DeepChem for trying different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 minutes on overview. We use the HIV or BACE dataset from MoleculeNet. HIV has ~41,000 compounds (classification), BACE has ~1,500 compounds against BACE-1 Alzheimer's target. Students should compare GCN to their RF baseline on the SAME scaffold split. Expected: for HIV (large dataset), GNN should outperform RF. For BACE (small), it might not. Remind students to use GPU in Colab.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5-minute discussion. RF wins when data is small, interpretability is critical, or computational resources are limited. GNN wins when data is large. Yang et al. 2019 showed Chemprop beat RF on 7 of 8 MoleculeNet tasks, but RF won on 1.</a:t>
            </a:r>
          </a:p>
          <a:p/>
          <a:p>
            <a:r>
              <a:t>Neuroscience angle: In connectomics, if you have a small circuit (e.g., the 60 neurons in the T5 motion detection pathway), RF on hand-crafted connectivity features might outperform a GNN because the graph is too small for the GNN to learn meaningful representations. But on the full 140,000-neuron fly brain connectome, GNNs would be essential because hand-crafting features for that scale is impossible.</a:t>
            </a:r>
          </a:p>
          <a:p/>
          <a:p>
            <a:r>
              <a:t>Same principle in drug discovery: for BACE (1,500 compounds), RF is competitive. For HIV (41,000 compounds), GNN wins. ALWAYS have an RF/XGBoost baseline.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2743200" cy="548640"/>
          </a:xfrm>
          <a:prstGeom prst="rect">
            <a:avLst/>
          </a:prstGeom>
          <a:noFill/>
        </p:spPr>
        <p:txBody>
          <a:bodyPr wrap="square">
            <a:spAutoFit/>
          </a:bodyPr>
          <a:lstStyle/>
          <a:p>
            <a:pPr algn="l">
              <a:defRPr sz="1600" b="1">
                <a:solidFill>
                  <a:srgbClr val="1F77B4"/>
                </a:solidFill>
                <a:latin typeface="Calibri"/>
              </a:defRPr>
            </a:pPr>
            <a:r>
              <a:t>WEEK 4</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Deep Learning &amp; Graph Neural Networks</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When molecules become graphs and graphs become predictions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Recap: Weeks 1-3 -&gt; Today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Week 1: Drug discovery pipeline, molecular data types, RDKit</a:t>
            </a:r>
          </a:p>
          <a:p>
            <a:pPr>
              <a:spcAft>
                <a:spcPts val="800"/>
              </a:spcAft>
              <a:defRPr sz="2000">
                <a:solidFill>
                  <a:srgbClr val="323232"/>
                </a:solidFill>
                <a:latin typeface="Calibri"/>
              </a:defRPr>
            </a:pPr>
            <a:r>
              <a:t>Week 2: SMILES, fingerprints (ECFP), QSAR with RF &amp; XGBoost</a:t>
            </a:r>
          </a:p>
          <a:p>
            <a:pPr>
              <a:spcAft>
                <a:spcPts val="800"/>
              </a:spcAft>
              <a:defRPr sz="2000">
                <a:solidFill>
                  <a:srgbClr val="323232"/>
                </a:solidFill>
                <a:latin typeface="Calibri"/>
              </a:defRPr>
            </a:pPr>
            <a:r>
              <a:t>Week 3: Evaluation pitfalls, scaffold splits, SHAP interpretability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story so far: fingerprints + classical ML = strong baselines</a:t>
            </a:r>
          </a:p>
          <a:p>
            <a:pPr>
              <a:spcAft>
                <a:spcPts val="800"/>
              </a:spcAft>
              <a:defRPr sz="2000">
                <a:solidFill>
                  <a:srgbClr val="323232"/>
                </a:solidFill>
                <a:latin typeface="Calibri"/>
              </a:defRPr>
            </a:pPr>
            <a:r>
              <a:t>But fingerprints have limitations:</a:t>
            </a:r>
          </a:p>
          <a:p>
            <a:pPr>
              <a:spcAft>
                <a:spcPts val="800"/>
              </a:spcAft>
              <a:defRPr sz="2000">
                <a:solidFill>
                  <a:srgbClr val="323232"/>
                </a:solidFill>
                <a:latin typeface="Calibri"/>
              </a:defRPr>
            </a:pPr>
            <a:r>
              <a:t>  Fixed-length bit vectors lose information (hash collisions)</a:t>
            </a:r>
          </a:p>
          <a:p>
            <a:pPr>
              <a:spcAft>
                <a:spcPts val="800"/>
              </a:spcAft>
              <a:defRPr sz="2000">
                <a:solidFill>
                  <a:srgbClr val="323232"/>
                </a:solidFill>
                <a:latin typeface="Calibri"/>
              </a:defRPr>
            </a:pPr>
            <a:r>
              <a:t>  Cannot capture 3D spatial relationships</a:t>
            </a:r>
          </a:p>
          <a:p>
            <a:pPr>
              <a:spcAft>
                <a:spcPts val="800"/>
              </a:spcAft>
              <a:defRPr sz="2000">
                <a:solidFill>
                  <a:srgbClr val="323232"/>
                </a:solidFill>
                <a:latin typeface="Calibri"/>
              </a:defRPr>
            </a:pPr>
            <a:r>
              <a:t>  Hand-designed, not learned from data</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Today: learn molecular representations directly from graph structure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Molecules as Graphs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A natural representation for molecular structure</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Node and Edge Features for Molecular Graphs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Atom (node) features:</a:t>
            </a:r>
          </a:p>
          <a:p>
            <a:pPr>
              <a:spcAft>
                <a:spcPts val="800"/>
              </a:spcAft>
              <a:defRPr sz="2000">
                <a:solidFill>
                  <a:srgbClr val="323232"/>
                </a:solidFill>
                <a:latin typeface="Calibri"/>
              </a:defRPr>
            </a:pPr>
            <a:r>
              <a:t>  Atomic number (C=6, N=7, O=8)</a:t>
            </a:r>
          </a:p>
          <a:p>
            <a:pPr>
              <a:spcAft>
                <a:spcPts val="800"/>
              </a:spcAft>
              <a:defRPr sz="2000">
                <a:solidFill>
                  <a:srgbClr val="323232"/>
                </a:solidFill>
                <a:latin typeface="Calibri"/>
              </a:defRPr>
            </a:pPr>
            <a:r>
              <a:t>  Degree (number of bonds)</a:t>
            </a:r>
          </a:p>
          <a:p>
            <a:pPr>
              <a:spcAft>
                <a:spcPts val="800"/>
              </a:spcAft>
              <a:defRPr sz="2000">
                <a:solidFill>
                  <a:srgbClr val="323232"/>
                </a:solidFill>
                <a:latin typeface="Calibri"/>
              </a:defRPr>
            </a:pPr>
            <a:r>
              <a:t>  Formal charge</a:t>
            </a:r>
          </a:p>
          <a:p>
            <a:pPr>
              <a:spcAft>
                <a:spcPts val="800"/>
              </a:spcAft>
              <a:defRPr sz="2000">
                <a:solidFill>
                  <a:srgbClr val="323232"/>
                </a:solidFill>
                <a:latin typeface="Calibri"/>
              </a:defRPr>
            </a:pPr>
            <a:r>
              <a:t>  Hybridization (sp, sp2, sp3)</a:t>
            </a:r>
          </a:p>
          <a:p>
            <a:pPr>
              <a:spcAft>
                <a:spcPts val="800"/>
              </a:spcAft>
              <a:defRPr sz="2000">
                <a:solidFill>
                  <a:srgbClr val="323232"/>
                </a:solidFill>
                <a:latin typeface="Calibri"/>
              </a:defRPr>
            </a:pPr>
            <a:r>
              <a:t>  Aromaticity (is this atom in an aromatic ring?)</a:t>
            </a:r>
          </a:p>
          <a:p>
            <a:pPr>
              <a:spcAft>
                <a:spcPts val="800"/>
              </a:spcAft>
              <a:defRPr sz="2000">
                <a:solidFill>
                  <a:srgbClr val="323232"/>
                </a:solidFill>
                <a:latin typeface="Calibri"/>
              </a:defRPr>
            </a:pPr>
            <a:r>
              <a:t>  Number of hydrogens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Bond (edge) features:</a:t>
            </a:r>
          </a:p>
          <a:p>
            <a:pPr>
              <a:spcAft>
                <a:spcPts val="800"/>
              </a:spcAft>
              <a:defRPr sz="2000">
                <a:solidFill>
                  <a:srgbClr val="323232"/>
                </a:solidFill>
                <a:latin typeface="Calibri"/>
              </a:defRPr>
            </a:pPr>
            <a:r>
              <a:t>  Bond type (single, double, triple, aromatic)</a:t>
            </a:r>
          </a:p>
          <a:p>
            <a:pPr>
              <a:spcAft>
                <a:spcPts val="800"/>
              </a:spcAft>
              <a:defRPr sz="2000">
                <a:solidFill>
                  <a:srgbClr val="323232"/>
                </a:solidFill>
                <a:latin typeface="Calibri"/>
              </a:defRPr>
            </a:pPr>
            <a:r>
              <a:t>  Is in ring?</a:t>
            </a:r>
          </a:p>
          <a:p>
            <a:pPr>
              <a:spcAft>
                <a:spcPts val="800"/>
              </a:spcAft>
              <a:defRPr sz="2000">
                <a:solidFill>
                  <a:srgbClr val="323232"/>
                </a:solidFill>
                <a:latin typeface="Calibri"/>
              </a:defRPr>
            </a:pPr>
            <a:r>
              <a:t>  Is conjugated?</a:t>
            </a:r>
          </a:p>
          <a:p>
            <a:pPr>
              <a:spcAft>
                <a:spcPts val="800"/>
              </a:spcAft>
              <a:defRPr sz="2000">
                <a:solidFill>
                  <a:srgbClr val="323232"/>
                </a:solidFill>
                <a:latin typeface="Calibri"/>
              </a:defRPr>
            </a:pPr>
            <a:r>
              <a:t>  Stereochemistry (E/Z, cis/trans)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GNN Intuition: Message Passing</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Core idea: each node gathers information from its neighbors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message passing algorithm (for each node v):</a:t>
            </a:r>
          </a:p>
          <a:p>
            <a:pPr>
              <a:spcAft>
                <a:spcPts val="800"/>
              </a:spcAft>
              <a:defRPr sz="2000">
                <a:solidFill>
                  <a:srgbClr val="323232"/>
                </a:solidFill>
                <a:latin typeface="Calibri"/>
              </a:defRPr>
            </a:pPr>
            <a:r>
              <a:t>  1. AGGREGATE: collect features from all neighbors of v</a:t>
            </a:r>
          </a:p>
          <a:p>
            <a:pPr>
              <a:spcAft>
                <a:spcPts val="800"/>
              </a:spcAft>
              <a:defRPr sz="2000">
                <a:solidFill>
                  <a:srgbClr val="323232"/>
                </a:solidFill>
                <a:latin typeface="Calibri"/>
              </a:defRPr>
            </a:pPr>
            <a:r>
              <a:t>  2. UPDATE: combine aggregated message with v's own features</a:t>
            </a:r>
          </a:p>
          <a:p>
            <a:pPr>
              <a:spcAft>
                <a:spcPts val="800"/>
              </a:spcAft>
              <a:defRPr sz="2000">
                <a:solidFill>
                  <a:srgbClr val="323232"/>
                </a:solidFill>
                <a:latin typeface="Calibri"/>
              </a:defRPr>
            </a:pPr>
            <a:r>
              <a:t>  3. Repeat for K iterations (K = number of layers)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After K iterations, each node has information from its K-hop neighborhood</a:t>
            </a:r>
          </a:p>
          <a:p>
            <a:pPr>
              <a:spcAft>
                <a:spcPts val="800"/>
              </a:spcAft>
              <a:defRPr sz="2000">
                <a:solidFill>
                  <a:srgbClr val="323232"/>
                </a:solidFill>
                <a:latin typeface="Calibri"/>
              </a:defRPr>
            </a:pPr>
            <a:r>
              <a:t>  K=1: knows about direct neighbors (like Morgan radius=1)</a:t>
            </a:r>
          </a:p>
          <a:p>
            <a:pPr>
              <a:spcAft>
                <a:spcPts val="800"/>
              </a:spcAft>
              <a:defRPr sz="2000">
                <a:solidFill>
                  <a:srgbClr val="323232"/>
                </a:solidFill>
                <a:latin typeface="Calibri"/>
              </a:defRPr>
            </a:pPr>
            <a:r>
              <a:t>  K=2: knows about 2-hop neighborhood (like Morgan radius=2)</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This is EXACTLY what ECFP fingerprints do - but learned, not hashed!</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Message Passing: The Math (Simplified)</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For layer k, node 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m_v^(k) = AGGREGATE({h_u^(k-1) : u in N(v)})</a:t>
            </a:r>
          </a:p>
          <a:p>
            <a:pPr>
              <a:spcAft>
                <a:spcPts val="800"/>
              </a:spcAft>
              <a:defRPr sz="2000">
                <a:solidFill>
                  <a:srgbClr val="323232"/>
                </a:solidFill>
                <a:latin typeface="Calibri"/>
              </a:defRPr>
            </a:pPr>
            <a:r>
              <a:t>  h_v^(k) = UPDATE(h_v^(k-1), m_v^(k))</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Where:</a:t>
            </a:r>
          </a:p>
          <a:p>
            <a:pPr>
              <a:spcAft>
                <a:spcPts val="800"/>
              </a:spcAft>
              <a:defRPr sz="2000">
                <a:solidFill>
                  <a:srgbClr val="323232"/>
                </a:solidFill>
                <a:latin typeface="Calibri"/>
              </a:defRPr>
            </a:pPr>
            <a:r>
              <a:t>  h_v^(k) = node v representation at layer k</a:t>
            </a:r>
          </a:p>
          <a:p>
            <a:pPr>
              <a:spcAft>
                <a:spcPts val="800"/>
              </a:spcAft>
              <a:defRPr sz="2000">
                <a:solidFill>
                  <a:srgbClr val="323232"/>
                </a:solidFill>
                <a:latin typeface="Calibri"/>
              </a:defRPr>
            </a:pPr>
            <a:r>
              <a:t>  N(v) = neighbors of node v</a:t>
            </a:r>
          </a:p>
          <a:p>
            <a:pPr>
              <a:spcAft>
                <a:spcPts val="800"/>
              </a:spcAft>
              <a:defRPr sz="2000">
                <a:solidFill>
                  <a:srgbClr val="323232"/>
                </a:solidFill>
                <a:latin typeface="Calibri"/>
              </a:defRPr>
            </a:pPr>
            <a:r>
              <a:t>  AGGREGATE = sum, mean, or max pooling</a:t>
            </a:r>
          </a:p>
          <a:p>
            <a:pPr>
              <a:spcAft>
                <a:spcPts val="800"/>
              </a:spcAft>
              <a:defRPr sz="2000">
                <a:solidFill>
                  <a:srgbClr val="323232"/>
                </a:solidFill>
                <a:latin typeface="Calibri"/>
              </a:defRPr>
            </a:pPr>
            <a:r>
              <a:t>  UPDATE = neural network (MLP, GRU, ...)</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After K layers -&gt; READOUT: aggregate all node features -&gt; molecular property</a:t>
            </a:r>
          </a:p>
          <a:p>
            <a:pPr>
              <a:spcAft>
                <a:spcPts val="800"/>
              </a:spcAft>
              <a:defRPr sz="2000">
                <a:solidFill>
                  <a:srgbClr val="323232"/>
                </a:solidFill>
                <a:latin typeface="Calibri"/>
              </a:defRPr>
            </a:pPr>
            <a:r>
              <a:t>  h_graph = READOUT({h_v^(K) : v in V}) = mean/sum/attention pooling</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Common GNN Architectures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GCN - Graph Convolutional Network</a:t>
            </a:r>
          </a:p>
          <a:p>
            <a:pPr>
              <a:spcAft>
                <a:spcPts val="800"/>
              </a:spcAft>
              <a:defRPr sz="2000">
                <a:solidFill>
                  <a:srgbClr val="323232"/>
                </a:solidFill>
                <a:latin typeface="Calibri"/>
              </a:defRPr>
            </a:pPr>
            <a:r>
              <a:t>  Kipf &amp; Welling (2017), ICLR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GAT - Graph Attention Network</a:t>
            </a:r>
          </a:p>
          <a:p>
            <a:pPr>
              <a:spcAft>
                <a:spcPts val="800"/>
              </a:spcAft>
              <a:defRPr sz="2000">
                <a:solidFill>
                  <a:srgbClr val="323232"/>
                </a:solidFill>
                <a:latin typeface="Calibri"/>
              </a:defRPr>
            </a:pPr>
            <a:r>
              <a:t>  Velickovic et al. (2018), ICLR</a:t>
            </a:r>
          </a:p>
          <a:p>
            <a:pPr>
              <a:spcAft>
                <a:spcPts val="800"/>
              </a:spcAft>
              <a:defRPr sz="2000">
                <a:solidFill>
                  <a:srgbClr val="323232"/>
                </a:solidFill>
                <a:latin typeface="Calibri"/>
              </a:defRPr>
            </a:pPr>
            <a:r>
              <a:t>  Learns attention weights: some neighbors matter more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MPNN - Message Passing Neural Network</a:t>
            </a:r>
          </a:p>
          <a:p>
            <a:pPr>
              <a:spcAft>
                <a:spcPts val="800"/>
              </a:spcAft>
              <a:defRPr sz="2000">
                <a:solidFill>
                  <a:srgbClr val="323232"/>
                </a:solidFill>
                <a:latin typeface="Calibri"/>
              </a:defRPr>
            </a:pPr>
            <a:r>
              <a:t>  Gilmer et al. (2017), ICML - the unifying framework</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SchNet / DimeNet - 3D-aware GNNs</a:t>
            </a:r>
          </a:p>
          <a:p>
            <a:pPr>
              <a:spcAft>
                <a:spcPts val="800"/>
              </a:spcAft>
              <a:defRPr sz="2000">
                <a:solidFill>
                  <a:srgbClr val="323232"/>
                </a:solidFill>
                <a:latin typeface="Calibri"/>
              </a:defRPr>
            </a:pPr>
            <a:r>
              <a:t>  Schutt et al. (2018), J. Chem. Phys.</a:t>
            </a:r>
          </a:p>
          <a:p>
            <a:pPr>
              <a:spcAft>
                <a:spcPts val="800"/>
              </a:spcAft>
              <a:defRPr sz="2000">
                <a:solidFill>
                  <a:srgbClr val="323232"/>
                </a:solidFill>
                <a:latin typeface="Calibri"/>
              </a:defRPr>
            </a:pPr>
            <a:r>
              <a:t>  Gasteiger et al. (2020), ICLR</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Real-World GNN Applications: Pharma &amp; Neuroscience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Drug Discovery:</a:t>
            </a:r>
          </a:p>
          <a:p>
            <a:pPr>
              <a:spcAft>
                <a:spcPts val="800"/>
              </a:spcAft>
              <a:defRPr sz="2000">
                <a:solidFill>
                  <a:srgbClr val="323232"/>
                </a:solidFill>
                <a:latin typeface="Calibri"/>
              </a:defRPr>
            </a:pPr>
            <a:r>
              <a:t>  Stokes et al. (2020), Cell - Halicin antibiotic discovery via neural nets</a:t>
            </a:r>
          </a:p>
          <a:p>
            <a:pPr>
              <a:spcAft>
                <a:spcPts val="800"/>
              </a:spcAft>
              <a:defRPr sz="2000">
                <a:solidFill>
                  <a:srgbClr val="323232"/>
                </a:solidFill>
                <a:latin typeface="Calibri"/>
              </a:defRPr>
            </a:pPr>
            <a:r>
              <a:t>  Chemprop D-MPNN (Yang et al. 2019) - state-of-the-art molecular GNN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Neuroscience:</a:t>
            </a:r>
          </a:p>
          <a:p>
            <a:pPr>
              <a:spcAft>
                <a:spcPts val="800"/>
              </a:spcAft>
              <a:defRPr sz="2000">
                <a:solidFill>
                  <a:srgbClr val="323232"/>
                </a:solidFill>
                <a:latin typeface="Calibri"/>
              </a:defRPr>
            </a:pPr>
            <a:r>
              <a:t>  Connectomics: GNNs predict neuron types from synaptic connectivity</a:t>
            </a:r>
          </a:p>
          <a:p>
            <a:pPr>
              <a:spcAft>
                <a:spcPts val="800"/>
              </a:spcAft>
              <a:defRPr sz="2000">
                <a:solidFill>
                  <a:srgbClr val="323232"/>
                </a:solidFill>
                <a:latin typeface="Calibri"/>
              </a:defRPr>
            </a:pPr>
            <a:r>
              <a:t>  Brain imaging: GNNs on EEG/fMRI graphs for disease classification</a:t>
            </a:r>
          </a:p>
          <a:p>
            <a:pPr>
              <a:spcAft>
                <a:spcPts val="800"/>
              </a:spcAft>
              <a:defRPr sz="2000">
                <a:solidFill>
                  <a:srgbClr val="323232"/>
                </a:solidFill>
                <a:latin typeface="Calibri"/>
              </a:defRPr>
            </a:pPr>
            <a:r>
              <a:t>  Drug effect prediction: GNNs on brain connectivity before/after drug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From Dr. Serbe-Kamp's field:</a:t>
            </a:r>
          </a:p>
          <a:p>
            <a:pPr>
              <a:spcAft>
                <a:spcPts val="800"/>
              </a:spcAft>
              <a:defRPr sz="2000">
                <a:solidFill>
                  <a:srgbClr val="323232"/>
                </a:solidFill>
                <a:latin typeface="Calibri"/>
              </a:defRPr>
            </a:pPr>
            <a:r>
              <a:t>  Drosophila connectome (Dorkenwald et al. 2024, Nature) -&gt; graph dataset</a:t>
            </a:r>
          </a:p>
          <a:p>
            <a:pPr>
              <a:spcAft>
                <a:spcPts val="800"/>
              </a:spcAft>
              <a:defRPr sz="2000">
                <a:solidFill>
                  <a:srgbClr val="323232"/>
                </a:solidFill>
                <a:latin typeface="Calibri"/>
              </a:defRPr>
            </a:pPr>
            <a:r>
              <a:t>  T4/T5 motion circuit: mapped by EM connectomics, validated by physiology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Pre-trained models: MolBERT, ChemBERTa, Uni-Mol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Cross-Domain: GNNs from Molecules to Connectomics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Same GNN architecture, different biological graphs: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Molecular graph:  Nodes = atoms | Edges = bonds | Task: predict activity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Brain connectome graph (from Dr. Serbe-Kamp's research area):</a:t>
            </a:r>
          </a:p>
          <a:p>
            <a:pPr>
              <a:spcAft>
                <a:spcPts val="800"/>
              </a:spcAft>
              <a:defRPr sz="2000">
                <a:solidFill>
                  <a:srgbClr val="323232"/>
                </a:solidFill>
                <a:latin typeface="Calibri"/>
              </a:defRPr>
            </a:pPr>
            <a:r>
              <a:t>  Nodes = neurons (~140,000 in Drosophila brain)</a:t>
            </a:r>
          </a:p>
          <a:p>
            <a:pPr>
              <a:spcAft>
                <a:spcPts val="800"/>
              </a:spcAft>
              <a:defRPr sz="2000">
                <a:solidFill>
                  <a:srgbClr val="323232"/>
                </a:solidFill>
                <a:latin typeface="Calibri"/>
              </a:defRPr>
            </a:pPr>
            <a:r>
              <a:t>  Edges = synaptic connections (~50 million synapses!)</a:t>
            </a:r>
          </a:p>
          <a:p>
            <a:pPr>
              <a:spcAft>
                <a:spcPts val="800"/>
              </a:spcAft>
              <a:defRPr sz="2000">
                <a:solidFill>
                  <a:srgbClr val="323232"/>
                </a:solidFill>
                <a:latin typeface="Calibri"/>
              </a:defRPr>
            </a:pPr>
            <a:r>
              <a:t>  Task: predict neuron type, classify circuits, find drug targets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Drosophila connectome (FlyWire, Dorkenwald et al. 2024, Nature):</a:t>
            </a:r>
          </a:p>
          <a:p>
            <a:pPr>
              <a:spcAft>
                <a:spcPts val="800"/>
              </a:spcAft>
              <a:defRPr sz="2000">
                <a:solidFill>
                  <a:srgbClr val="323232"/>
                </a:solidFill>
                <a:latin typeface="Calibri"/>
              </a:defRPr>
            </a:pPr>
            <a:r>
              <a:t>  Complete wiring diagram of an entire brain - a GRAPH DATASET</a:t>
            </a:r>
          </a:p>
          <a:p>
            <a:pPr>
              <a:spcAft>
                <a:spcPts val="800"/>
              </a:spcAft>
              <a:defRPr sz="2000">
                <a:solidFill>
                  <a:srgbClr val="323232"/>
                </a:solidFill>
                <a:latin typeface="Calibri"/>
              </a:defRPr>
            </a:pPr>
            <a:r>
              <a:t>  GNNs predict neuron types from connectivity patterns</a:t>
            </a:r>
          </a:p>
          <a:p>
            <a:pPr>
              <a:spcAft>
                <a:spcPts val="800"/>
              </a:spcAft>
              <a:defRPr sz="2000">
                <a:solidFill>
                  <a:srgbClr val="323232"/>
                </a:solidFill>
                <a:latin typeface="Calibri"/>
              </a:defRPr>
            </a:pPr>
            <a:r>
              <a:t>  Dr. Serbe-Kamp used connectomics to map visual motion circuits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insight: graph learning is a UNIVERSAL framework for biology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Tools: DeepChem and PyTorch Geometric</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DeepChem (Ramsundar et al.): high-level library for molecular ML</a:t>
            </a:r>
          </a:p>
          <a:p>
            <a:pPr>
              <a:spcAft>
                <a:spcPts val="800"/>
              </a:spcAft>
              <a:defRPr sz="2000">
                <a:solidFill>
                  <a:srgbClr val="323232"/>
                </a:solidFill>
                <a:latin typeface="Calibri"/>
              </a:defRPr>
            </a:pPr>
            <a:r>
              <a:t>  Built-in datasets (MoleculeNet), featurizers, models</a:t>
            </a:r>
          </a:p>
          <a:p>
            <a:pPr>
              <a:spcAft>
                <a:spcPts val="800"/>
              </a:spcAft>
              <a:defRPr sz="2000">
                <a:solidFill>
                  <a:srgbClr val="323232"/>
                </a:solidFill>
                <a:latin typeface="Calibri"/>
              </a:defRPr>
            </a:pPr>
            <a:r>
              <a:t>  pip install deepchem</a:t>
            </a:r>
          </a:p>
          <a:p>
            <a:pPr>
              <a:spcAft>
                <a:spcPts val="800"/>
              </a:spcAft>
              <a:defRPr sz="2000">
                <a:solidFill>
                  <a:srgbClr val="323232"/>
                </a:solidFill>
                <a:latin typeface="Calibri"/>
              </a:defRPr>
            </a:pPr>
            <a:r>
              <a:t>  Reference: Ramsundar et al. (2019), O'Reilly Deep Learning for the Life Sciences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PyTorch Geometric (PyG): low-level GNN building blocks</a:t>
            </a:r>
          </a:p>
          <a:p>
            <a:pPr>
              <a:spcAft>
                <a:spcPts val="800"/>
              </a:spcAft>
              <a:defRPr sz="2000">
                <a:solidFill>
                  <a:srgbClr val="323232"/>
                </a:solidFill>
                <a:latin typeface="Calibri"/>
              </a:defRPr>
            </a:pPr>
            <a:r>
              <a:t>  Fey &amp; Lenssen (2019), ICLR Workshop</a:t>
            </a:r>
          </a:p>
          <a:p>
            <a:pPr>
              <a:spcAft>
                <a:spcPts val="800"/>
              </a:spcAft>
              <a:defRPr sz="2000">
                <a:solidFill>
                  <a:srgbClr val="323232"/>
                </a:solidFill>
                <a:latin typeface="Calibri"/>
              </a:defRPr>
            </a:pPr>
            <a:r>
              <a:t>  pip install torch-geometric</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Chemprop: specialized for molecular property prediction</a:t>
            </a:r>
          </a:p>
          <a:p>
            <a:pPr>
              <a:spcAft>
                <a:spcPts val="800"/>
              </a:spcAft>
              <a:defRPr sz="2000">
                <a:solidFill>
                  <a:srgbClr val="323232"/>
                </a:solidFill>
                <a:latin typeface="Calibri"/>
              </a:defRPr>
            </a:pPr>
            <a:r>
              <a:t>  Easy to use CLI + Python API</a:t>
            </a:r>
          </a:p>
          <a:p>
            <a:pPr>
              <a:spcAft>
                <a:spcPts val="800"/>
              </a:spcAft>
              <a:defRPr sz="2000">
                <a:solidFill>
                  <a:srgbClr val="323232"/>
                </a:solidFill>
                <a:latin typeface="Calibri"/>
              </a:defRPr>
            </a:pPr>
            <a:r>
              <a:t>  pip install chemprop</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Simple GNN for Activity Prediction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week4_deep_learning_gnn/Week4_Practical.ipynb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a MoleculeNet dataset (HIV or BACE)</a:t>
            </a:r>
          </a:p>
          <a:p>
            <a:pPr>
              <a:spcAft>
                <a:spcPts val="800"/>
              </a:spcAft>
              <a:defRPr sz="2000">
                <a:solidFill>
                  <a:srgbClr val="323232"/>
                </a:solidFill>
                <a:latin typeface="Calibri"/>
              </a:defRPr>
            </a:pPr>
            <a:r>
              <a:t>  2. Featurize molecules as graphs using DeepChem</a:t>
            </a:r>
          </a:p>
          <a:p>
            <a:pPr>
              <a:spcAft>
                <a:spcPts val="800"/>
              </a:spcAft>
              <a:defRPr sz="2000">
                <a:solidFill>
                  <a:srgbClr val="323232"/>
                </a:solidFill>
                <a:latin typeface="Calibri"/>
              </a:defRPr>
            </a:pPr>
            <a:r>
              <a:t>  3. Train a Graph Convolutional Network (GCN)</a:t>
            </a:r>
          </a:p>
          <a:p>
            <a:pPr>
              <a:spcAft>
                <a:spcPts val="800"/>
              </a:spcAft>
              <a:defRPr sz="2000">
                <a:solidFill>
                  <a:srgbClr val="323232"/>
                </a:solidFill>
                <a:latin typeface="Calibri"/>
              </a:defRPr>
            </a:pPr>
            <a:r>
              <a:t>  4. Compare to your Week 2 Random Forest baseline</a:t>
            </a:r>
          </a:p>
          <a:p>
            <a:pPr>
              <a:spcAft>
                <a:spcPts val="800"/>
              </a:spcAft>
              <a:defRPr sz="2000">
                <a:solidFill>
                  <a:srgbClr val="323232"/>
                </a:solidFill>
                <a:latin typeface="Calibri"/>
              </a:defRPr>
            </a:pPr>
            <a:r>
              <a:t>  5. Analyze: when does GNN outperform RF? When doesn't it?</a:t>
            </a:r>
          </a:p>
          <a:p>
            <a:pPr>
              <a:spcAft>
                <a:spcPts val="800"/>
              </a:spcAft>
              <a:defRPr sz="2000">
                <a:solidFill>
                  <a:srgbClr val="323232"/>
                </a:solidFill>
                <a:latin typeface="Calibri"/>
              </a:defRPr>
            </a:pPr>
            <a:r>
              <a:t>  6. (Bonus) Try Chemprop D-MPNN and compare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~60 minutes | Work in pairs</a:t>
            </a:r>
          </a:p>
          <a:p>
            <a:pPr>
              <a:spcAft>
                <a:spcPts val="800"/>
              </a:spcAft>
              <a:defRPr sz="2000">
                <a:solidFill>
                  <a:srgbClr val="323232"/>
                </a:solidFill>
                <a:latin typeface="Calibri"/>
              </a:defRPr>
            </a:pPr>
            <a:r>
              <a:t>Note: GNN training takes longer - GPU recommended (Colab provides free GPU)</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GNNs achieve state-of-the-art on benchmarks. Are they ALWAYS better than Random Forest? When would you still choose RF?</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Consider: dataset size, interpretability needs, computational budget</a:t>
            </a:r>
          </a:p>
          <a:p>
            <a:pPr>
              <a:spcAft>
                <a:spcPts val="800"/>
              </a:spcAft>
              <a:defRPr sz="1800">
                <a:solidFill>
                  <a:srgbClr val="F0F0F0"/>
                </a:solidFill>
                <a:latin typeface="Calibri"/>
              </a:defRPr>
            </a:pPr>
            <a:r>
              <a:t>Think about: the no-free-lunch theorem</a:t>
            </a:r>
          </a:p>
          <a:p>
            <a:pPr>
              <a:spcAft>
                <a:spcPts val="800"/>
              </a:spcAft>
              <a:defRPr sz="1800">
                <a:solidFill>
                  <a:srgbClr val="F0F0F0"/>
                </a:solidFill>
                <a:latin typeface="Calibri"/>
              </a:defRPr>
            </a:pPr>
            <a:r>
              <a:t>Neuroscience angle: would a GNN on a small Drosophila circuit outperform RF on features?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