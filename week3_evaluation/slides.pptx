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This week is critical, it separates good data scientists from great ones. Anyone can train a model. The hard part is knowing whether it actually works. Ask: who got good results on the Week 2 practical? What RMSE did you achieve? Today we will learn why those numbers might be misleading.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recap, 2 minutes. Today is about rigor. In pharmaceutical companies, a model that looks great on paper but fails in practice can cost millions. We will learn that random train/test splits are dangerous for molecular data, that accuracy alone is misleading, and that understanding WHY a model makes predictions is as important as the predictions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4-5 minutes on these cautionary tales.</a:t>
            </a:r>
          </a:p>
          <a:p/>
          <a:p>
            <a:r>
              <a:t>Wallach and Heifets 2018 is an important paper: 'Most Ligand-Based Virtual Screening Benchmarks Reward Memorization.' They showed that many published models were not learning chemistry, they were memorizing molecular series.</a:t>
            </a:r>
          </a:p>
          <a:p/>
          <a:p>
            <a:r>
              <a:t>=== NEUROSCIENCE EXAMPLE ===</a:t>
            </a:r>
          </a:p>
          <a:p>
            <a:r>
              <a:t>The GABA-A receptor example is particularly relevant:</a:t>
            </a:r>
          </a:p>
          <a:p>
            <a:r>
              <a:t>- GABA-A is the main inhibitory receptor in the brain (same Cys-loop family as GluCl from Dr. Serbe-Kamp's research)</a:t>
            </a:r>
          </a:p>
          <a:p>
            <a:r>
              <a:t>- Many GABA-A modulators are benzodiazepines: diazepam, alprazolam, clonazepam, etc.</a:t>
            </a:r>
          </a:p>
          <a:p>
            <a:r>
              <a:t>- Benzodiazepines all share a very similar core scaffold (1,4-benzodiazepine ring)</a:t>
            </a:r>
          </a:p>
          <a:p>
            <a:r>
              <a:t>- A model trained on a dataset dominated by benzodiazepines will learn to recognize the benzodiazepine scaffold</a:t>
            </a:r>
          </a:p>
          <a:p>
            <a:r>
              <a:t>- On a random split: high performance (because benzodiazepines appear in both train and test)</a:t>
            </a:r>
          </a:p>
          <a:p>
            <a:r>
              <a:t>- On a scaffold split: performance drops dramatically for non-benzodiazepine GABA-A modulators (e.g., neurosteroids, barbiturates, Z-drugs like zolpidem)</a:t>
            </a:r>
          </a:p>
          <a:p/>
          <a:p>
            <a:r>
              <a:t>This is exactly the scaffold bias problem: the model learns the scaffold, not the binding mechanism.</a:t>
            </a:r>
          </a:p>
          <a:p/>
          <a:p>
            <a:r>
              <a:t>Another neuroscience example: ML models for predicting blood-brain barrier (BBB) penetration. Many published models have inflated performance because the training data is biased toward known CNS drugs. When tested on structurally novel compounds, performance drops significantly (Goyal et al. 2022, Drug Discovery Today 27:103359).</a:t>
            </a:r>
          </a:p>
          <a:p/>
          <a:p>
            <a:r>
              <a:t>Key message: if your model looks too good to be true, it probably 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3-4 minutes. Draw a Bemis-Murcko framework: take a drug molecule, strip it to ring systems and linkers. That is the scaffold. The key insight: if training and test have the same scaffolds, the model just recognizes scaffolds. A scaffold split ensures the test set has scaffolds NOT seen in training. Wu et al. 2018 (MoleculeNet) made scaffold splitting the standard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we have evaluated our model quantitatively. But can we understand WHY it makes certain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3 minutes. The Jimenez-Luna et al. 2020 paper in Nature Machine Intelligence is the best review of interpretability methods for drug discovery. The FDA AI/ML framework emphasizes transparency. In Europe, the EU AI Act classifies medical AI as high-risk. If your model says a molecule will be toxic but cannot explain why, the chemist will be skeptical. If the model can say the nitro group at position 3 is driving the toxicity prediction, the chemist can engage.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2-3 minutes. The key practical point: for molecular fingerprints, we can decode important bits back into molecular substructures. If bit 847 is the most important feature, and it corresponds to a pyridine ring, we have learned something about chemistry. Permutation importance is preferred over built-in Gini importance.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4-5 minutes on SHAP. The Shapley value idea: imagine each feature is a player in a game. The game is making a prediction. How much does each player contribute? For tree models (RF, XGBoost), there is an exact and fast algorithm: TreeSHAP (Lundberg et al. 2020, Nature MI). In the practical, students will compute SHAP values for their QSAR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2-3 minutes on applicability domain. Analogy: a model trained on kinase inhibitors should not be used to predict activity on GPCR ligands. Sahigara et al. 2012 reviews methods for defining AD in QSAR. Conformal prediction is gaining popularity because it provides prediction intervals with guaranteed coverage.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Spend 2 minutes on overview. The key learning moment: students will see their model performance DROP when switching from random to scaffold split. This is normal and expected! Typical: R-squared drops from 0.85-0.90 to 0.70-0.80. That is the real performance. The SHAP analysis is the most fun part.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5-minute discussion. The correct answer is: NO, not without more information. Key questions: Was it a random or scaffold split? What is the class balance? Has it been validated prospectively on truly new chemical series? In industry, models go through extensive validation before being used for decision-making.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75E"/>
        </a:solidFill>
        <a:effectLst/>
      </p:bgPr>
    </p:bg>
    <p:spTree>
      <p:nvGrpSpPr>
        <p:cNvPr id="1" name=""/>
        <p:cNvGrpSpPr/>
        <p:nvPr/>
      </p:nvGrpSpPr>
      <p:grpSpPr/>
      <p:sp>
        <p:nvSpPr>
          <p:cNvPr id="2" name="TextBox 1"/>
          <p:cNvSpPr txBox="1"/>
          <p:nvPr/>
        </p:nvSpPr>
        <p:spPr>
          <a:xfrm>
            <a:off x="731520" y="548640"/>
            <a:ext cx="2743200" cy="548640"/>
          </a:xfrm>
          <a:prstGeom prst="rect">
            <a:avLst/>
          </a:prstGeom>
          <a:noFill/>
        </p:spPr>
        <p:txBody>
          <a:bodyPr wrap="square">
            <a:spAutoFit/>
          </a:bodyPr>
          <a:lstStyle/>
          <a:p>
            <a:pPr algn="l">
              <a:defRPr sz="1600" b="1">
                <a:solidFill>
                  <a:srgbClr val="1F77B4"/>
                </a:solidFill>
                <a:latin typeface="Calibri"/>
              </a:defRPr>
            </a:pPr>
            <a:r>
              <a:t>WEEK 3</a:t>
            </a:r>
          </a:p>
        </p:txBody>
      </p:sp>
      <p:sp>
        <p:nvSpPr>
          <p:cNvPr id="3" name="TextBox 2"/>
          <p:cNvSpPr txBox="1"/>
          <p:nvPr/>
        </p:nvSpPr>
        <p:spPr>
          <a:xfrm>
            <a:off x="731520" y="1645920"/>
            <a:ext cx="10058400" cy="1828800"/>
          </a:xfrm>
          <a:prstGeom prst="rect">
            <a:avLst/>
          </a:prstGeom>
          <a:noFill/>
        </p:spPr>
        <p:txBody>
          <a:bodyPr wrap="square">
            <a:spAutoFit/>
          </a:bodyPr>
          <a:lstStyle/>
          <a:p>
            <a:pPr algn="l">
              <a:defRPr sz="4400" b="1">
                <a:solidFill>
                  <a:srgbClr val="FFFFFF"/>
                </a:solidFill>
                <a:latin typeface="Calibri"/>
              </a:defRPr>
            </a:pPr>
            <a:r>
              <a:t>Model Evaluation &amp; Interpretability</a:t>
            </a:r>
          </a:p>
        </p:txBody>
      </p:sp>
      <p:sp>
        <p:nvSpPr>
          <p:cNvPr id="4" name="TextBox 3"/>
          <p:cNvSpPr txBox="1"/>
          <p:nvPr/>
        </p:nvSpPr>
        <p:spPr>
          <a:xfrm>
            <a:off x="731520" y="3657600"/>
            <a:ext cx="10058400" cy="914400"/>
          </a:xfrm>
          <a:prstGeom prst="rect">
            <a:avLst/>
          </a:prstGeom>
          <a:noFill/>
        </p:spPr>
        <p:txBody>
          <a:bodyPr wrap="square">
            <a:spAutoFit/>
          </a:bodyPr>
          <a:lstStyle/>
          <a:p>
            <a:pPr algn="l">
              <a:defRPr sz="2200" b="0">
                <a:solidFill>
                  <a:srgbClr val="F0F0F0"/>
                </a:solidFill>
                <a:latin typeface="Calibri"/>
              </a:defRPr>
            </a:pPr>
            <a:r>
              <a:t>How to know when your model is lying to you</a:t>
            </a:r>
          </a:p>
        </p:txBody>
      </p:sp>
      <p:sp>
        <p:nvSpPr>
          <p:cNvPr id="5" name="TextBox 4"/>
          <p:cNvSpPr txBox="1"/>
          <p:nvPr/>
        </p:nvSpPr>
        <p:spPr>
          <a:xfrm>
            <a:off x="731520" y="5669280"/>
            <a:ext cx="4572000" cy="457200"/>
          </a:xfrm>
          <a:prstGeom prst="rect">
            <a:avLst/>
          </a:prstGeom>
          <a:noFill/>
        </p:spPr>
        <p:txBody>
          <a:bodyPr wrap="square">
            <a:spAutoFit/>
          </a:bodyPr>
          <a:lstStyle/>
          <a:p>
            <a:pPr algn="l">
              <a:defRPr sz="1400" b="0">
                <a:solidFill>
                  <a:srgbClr val="1F77B4"/>
                </a:solidFill>
                <a:latin typeface="Calibri"/>
              </a:defRPr>
            </a:pPr>
            <a:r>
              <a:t>AI for Drug Discovery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Recap &amp; Today's Agenda</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Last week: SMILES, fingerprints, QSAR, RF &amp; XGBoost</a:t>
            </a:r>
          </a:p>
          <a:p>
            <a:pPr>
              <a:spcAft>
                <a:spcPts val="800"/>
              </a:spcAft>
              <a:defRPr sz="2000">
                <a:solidFill>
                  <a:srgbClr val="323232"/>
                </a:solidFill>
                <a:latin typeface="Calibri"/>
              </a:defRPr>
            </a:pPr>
            <a:r>
              <a:t>You trained models that predicted solubility - but are they trustworthy?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Today:</a:t>
            </a:r>
          </a:p>
          <a:p>
            <a:pPr>
              <a:spcAft>
                <a:spcPts val="800"/>
              </a:spcAft>
              <a:defRPr sz="2000">
                <a:solidFill>
                  <a:srgbClr val="323232"/>
                </a:solidFill>
                <a:latin typeface="Calibri"/>
              </a:defRPr>
            </a:pPr>
            <a:r>
              <a:t>  1. Why standard evaluation fails for molecular data</a:t>
            </a:r>
          </a:p>
          <a:p>
            <a:pPr>
              <a:spcAft>
                <a:spcPts val="800"/>
              </a:spcAft>
              <a:defRPr sz="2000">
                <a:solidFill>
                  <a:srgbClr val="323232"/>
                </a:solidFill>
                <a:latin typeface="Calibri"/>
              </a:defRPr>
            </a:pPr>
            <a:r>
              <a:t>  2. Activity cliffs and scaffold bias</a:t>
            </a:r>
          </a:p>
          <a:p>
            <a:pPr>
              <a:spcAft>
                <a:spcPts val="800"/>
              </a:spcAft>
              <a:defRPr sz="2000">
                <a:solidFill>
                  <a:srgbClr val="323232"/>
                </a:solidFill>
                <a:latin typeface="Calibri"/>
              </a:defRPr>
            </a:pPr>
            <a:r>
              <a:t>  3. Proper cross-validation strategies</a:t>
            </a:r>
          </a:p>
          <a:p>
            <a:pPr>
              <a:spcAft>
                <a:spcPts val="800"/>
              </a:spcAft>
              <a:defRPr sz="2000">
                <a:solidFill>
                  <a:srgbClr val="323232"/>
                </a:solidFill>
                <a:latin typeface="Calibri"/>
              </a:defRPr>
            </a:pPr>
            <a:r>
              <a:t>  4. Metrics: RMSE, ROC-AUC, precision-recall</a:t>
            </a:r>
          </a:p>
          <a:p>
            <a:pPr>
              <a:spcAft>
                <a:spcPts val="800"/>
              </a:spcAft>
              <a:defRPr sz="2000">
                <a:solidFill>
                  <a:srgbClr val="323232"/>
                </a:solidFill>
                <a:latin typeface="Calibri"/>
              </a:defRPr>
            </a:pPr>
            <a:r>
              <a:t>  5. Overfitting detection and prevention</a:t>
            </a:r>
          </a:p>
          <a:p>
            <a:pPr>
              <a:spcAft>
                <a:spcPts val="800"/>
              </a:spcAft>
              <a:defRPr sz="2000">
                <a:solidFill>
                  <a:srgbClr val="323232"/>
                </a:solidFill>
                <a:latin typeface="Calibri"/>
              </a:defRPr>
            </a:pPr>
            <a:r>
              <a:t>  6. Explainability with SHAP</a:t>
            </a:r>
          </a:p>
          <a:p>
            <a:pPr>
              <a:spcAft>
                <a:spcPts val="800"/>
              </a:spcAft>
              <a:defRPr sz="2000">
                <a:solidFill>
                  <a:srgbClr val="323232"/>
                </a:solidFill>
                <a:latin typeface="Calibri"/>
              </a:defRPr>
            </a:pPr>
            <a:r>
              <a:t>  7. Practical: re-evaluate your Week 2 model properly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640080"/>
          </a:xfrm>
          <a:prstGeom prst="rect">
            <a:avLst/>
          </a:prstGeom>
          <a:noFill/>
        </p:spPr>
        <p:txBody>
          <a:bodyPr wrap="square">
            <a:spAutoFit/>
          </a:bodyPr>
          <a:lstStyle/>
          <a:p>
            <a:pPr algn="l">
              <a:defRPr sz="2600" b="1">
                <a:solidFill>
                  <a:srgbClr val="27AE60"/>
                </a:solidFill>
                <a:latin typeface="Calibri"/>
              </a:defRPr>
            </a:pPr>
            <a:r>
              <a:t>The Hall of Shame: When Models Lie</a:t>
            </a:r>
          </a:p>
        </p:txBody>
      </p:sp>
      <p:sp>
        <p:nvSpPr>
          <p:cNvPr id="3" name="TextBox 2"/>
          <p:cNvSpPr txBox="1"/>
          <p:nvPr/>
        </p:nvSpPr>
        <p:spPr>
          <a:xfrm>
            <a:off x="1097280" y="1463040"/>
            <a:ext cx="9601200" cy="4754880"/>
          </a:xfrm>
          <a:prstGeom prst="rect">
            <a:avLst/>
          </a:prstGeom>
          <a:noFill/>
        </p:spPr>
        <p:txBody>
          <a:bodyPr wrap="square">
            <a:spAutoFit/>
          </a:bodyPr>
          <a:lstStyle/>
          <a:p>
            <a:pPr algn="l">
              <a:defRPr sz="2000" b="0">
                <a:solidFill>
                  <a:srgbClr val="FFFFFF"/>
                </a:solidFill>
                <a:latin typeface="Calibri"/>
              </a:defRPr>
            </a:pPr>
            <a:r>
              <a:t>Example 1: A QSAR model for hERG toxicity achieved 95% accuracy on a random test set. But it was memorizing chemical series. On novel scaffolds: 60%. Example 2: Published AUC-ROC 0.97 but dataset had duplicates. Remove duplicates: 0.72. Example 3: Scaffold split vs random: AUROC dropped from 0.92 to 0.75. Example 4 (Neuroscience): A model to predict GABA-A receptor binding looked great on paper, but it had learned to recognize benzodiazepine scaffolds, not actual binding features. On novel chemotypes: near-random. Lesson: ALWAYS validate properly. Ref: Wallach &amp; Heifets (2018).</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Scaffold Bias and Data Leakage</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Scaffold = core ring structure of a molecule</a:t>
            </a:r>
          </a:p>
          <a:p>
            <a:pPr>
              <a:spcAft>
                <a:spcPts val="800"/>
              </a:spcAft>
              <a:defRPr sz="2000">
                <a:solidFill>
                  <a:srgbClr val="323232"/>
                </a:solidFill>
                <a:latin typeface="Calibri"/>
              </a:defRPr>
            </a:pPr>
            <a:r>
              <a:t>Drug discovery projects often generate many molecules with the same scaffold</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Problem: random split puts molecules from same scaffold in both sets</a:t>
            </a:r>
          </a:p>
          <a:p>
            <a:pPr>
              <a:spcAft>
                <a:spcPts val="800"/>
              </a:spcAft>
              <a:defRPr sz="2000">
                <a:solidFill>
                  <a:srgbClr val="323232"/>
                </a:solidFill>
                <a:latin typeface="Calibri"/>
              </a:defRPr>
            </a:pPr>
            <a:r>
              <a:t>  Model memorizes scaffold-level activity, not molecular features</a:t>
            </a:r>
          </a:p>
          <a:p>
            <a:pPr>
              <a:spcAft>
                <a:spcPts val="800"/>
              </a:spcAft>
              <a:defRPr sz="2000">
                <a:solidFill>
                  <a:srgbClr val="323232"/>
                </a:solidFill>
                <a:latin typeface="Calibri"/>
              </a:defRPr>
            </a:pPr>
            <a:r>
              <a:t>  Overestimates performance on truly novel molecules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Solutions:</a:t>
            </a:r>
          </a:p>
          <a:p>
            <a:pPr>
              <a:spcAft>
                <a:spcPts val="800"/>
              </a:spcAft>
              <a:defRPr sz="2000">
                <a:solidFill>
                  <a:srgbClr val="323232"/>
                </a:solidFill>
                <a:latin typeface="Calibri"/>
              </a:defRPr>
            </a:pPr>
            <a:r>
              <a:t>  Scaffold split (Bemis-Murcko): ensure no scaffold overlap</a:t>
            </a:r>
          </a:p>
          <a:p>
            <a:pPr>
              <a:spcAft>
                <a:spcPts val="800"/>
              </a:spcAft>
              <a:defRPr sz="2000">
                <a:solidFill>
                  <a:srgbClr val="323232"/>
                </a:solidFill>
                <a:latin typeface="Calibri"/>
              </a:defRPr>
            </a:pPr>
            <a:r>
              <a:t>  Bemis &amp; Murcko (1996), J. Med. Chem. 39:2887-2893</a:t>
            </a:r>
          </a:p>
          <a:p>
            <a:pPr>
              <a:spcAft>
                <a:spcPts val="800"/>
              </a:spcAft>
              <a:defRPr sz="2000">
                <a:solidFill>
                  <a:srgbClr val="323232"/>
                </a:solidFill>
                <a:latin typeface="Calibri"/>
              </a:defRPr>
            </a:pPr>
            <a:r>
              <a:t>  Temporal split: train on older data, test on newer data</a:t>
            </a:r>
          </a:p>
          <a:p>
            <a:pPr>
              <a:spcAft>
                <a:spcPts val="800"/>
              </a:spcAft>
              <a:defRPr sz="2000">
                <a:solidFill>
                  <a:srgbClr val="323232"/>
                </a:solidFill>
                <a:latin typeface="Calibri"/>
              </a:defRPr>
            </a:pPr>
            <a:r>
              <a:t>  Cluster split: cluster molecules, split by cluster</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MoleculeNet uses scaffold split as default (Wu et al. 2018)</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F77B4"/>
        </a:solidFill>
        <a:effectLst/>
      </p:bgPr>
    </p:bg>
    <p:spTree>
      <p:nvGrpSpPr>
        <p:cNvPr id="1" name=""/>
        <p:cNvGrpSpPr/>
        <p:nvPr/>
      </p:nvGrpSpPr>
      <p:grpSpPr/>
      <p:sp>
        <p:nvSpPr>
          <p:cNvPr id="2" name="TextBox 1"/>
          <p:cNvSpPr txBox="1"/>
          <p:nvPr/>
        </p:nvSpPr>
        <p:spPr>
          <a:xfrm>
            <a:off x="914400" y="2286000"/>
            <a:ext cx="10058400" cy="1371600"/>
          </a:xfrm>
          <a:prstGeom prst="rect">
            <a:avLst/>
          </a:prstGeom>
          <a:noFill/>
        </p:spPr>
        <p:txBody>
          <a:bodyPr wrap="square">
            <a:spAutoFit/>
          </a:bodyPr>
          <a:lstStyle/>
          <a:p>
            <a:pPr algn="ctr">
              <a:defRPr sz="4000" b="1">
                <a:solidFill>
                  <a:srgbClr val="FFFFFF"/>
                </a:solidFill>
                <a:latin typeface="Calibri"/>
              </a:defRPr>
            </a:pPr>
            <a:r>
              <a:t>Model Interpretability</a:t>
            </a:r>
          </a:p>
        </p:txBody>
      </p:sp>
      <p:sp>
        <p:nvSpPr>
          <p:cNvPr id="3" name="TextBox 2"/>
          <p:cNvSpPr txBox="1"/>
          <p:nvPr/>
        </p:nvSpPr>
        <p:spPr>
          <a:xfrm>
            <a:off x="914400" y="3840480"/>
            <a:ext cx="10058400" cy="914400"/>
          </a:xfrm>
          <a:prstGeom prst="rect">
            <a:avLst/>
          </a:prstGeom>
          <a:noFill/>
        </p:spPr>
        <p:txBody>
          <a:bodyPr wrap="square">
            <a:spAutoFit/>
          </a:bodyPr>
          <a:lstStyle/>
          <a:p>
            <a:pPr algn="ctr">
              <a:defRPr sz="2000" b="0">
                <a:solidFill>
                  <a:srgbClr val="FFFFFF"/>
                </a:solidFill>
                <a:latin typeface="Calibri"/>
              </a:defRPr>
            </a:pPr>
            <a:r>
              <a:t>Opening the black box</a:t>
            </a:r>
          </a:p>
        </p:txBody>
      </p:sp>
      <p:sp>
        <p:nvSpPr>
          <p:cNvPr id="4" name="TextBox 3"/>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Why Explainability Matters in Drug Discovery</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Regulatory: FDA expects understanding of model behavior</a:t>
            </a:r>
          </a:p>
          <a:p>
            <a:pPr>
              <a:spcAft>
                <a:spcPts val="800"/>
              </a:spcAft>
              <a:defRPr sz="2000">
                <a:solidFill>
                  <a:srgbClr val="323232"/>
                </a:solidFill>
                <a:latin typeface="Calibri"/>
              </a:defRPr>
            </a:pPr>
            <a:r>
              <a:t>Scientific: chemists will not trust a model they cannot understand</a:t>
            </a:r>
          </a:p>
          <a:p>
            <a:pPr>
              <a:spcAft>
                <a:spcPts val="800"/>
              </a:spcAft>
              <a:defRPr sz="2000">
                <a:solidFill>
                  <a:srgbClr val="323232"/>
                </a:solidFill>
                <a:latin typeface="Calibri"/>
              </a:defRPr>
            </a:pPr>
            <a:r>
              <a:t>Safety: unexplained predictions could mask dangerous failure modes</a:t>
            </a:r>
          </a:p>
          <a:p>
            <a:pPr>
              <a:spcAft>
                <a:spcPts val="800"/>
              </a:spcAft>
              <a:defRPr sz="2000">
                <a:solidFill>
                  <a:srgbClr val="323232"/>
                </a:solidFill>
                <a:latin typeface="Calibri"/>
              </a:defRPr>
            </a:pPr>
            <a:r>
              <a:t>Discovery: understanding features drives new hypotheses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Jimenez-Luna et al. (2020), Nature Machine Intelligence 2:573-584</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Types of interpretability:</a:t>
            </a:r>
          </a:p>
          <a:p>
            <a:pPr>
              <a:spcAft>
                <a:spcPts val="800"/>
              </a:spcAft>
              <a:defRPr sz="2000">
                <a:solidFill>
                  <a:srgbClr val="323232"/>
                </a:solidFill>
                <a:latin typeface="Calibri"/>
              </a:defRPr>
            </a:pPr>
            <a:r>
              <a:t>  Global: which features are generally important?</a:t>
            </a:r>
          </a:p>
          <a:p>
            <a:pPr>
              <a:spcAft>
                <a:spcPts val="800"/>
              </a:spcAft>
              <a:defRPr sz="2000">
                <a:solidFill>
                  <a:srgbClr val="323232"/>
                </a:solidFill>
                <a:latin typeface="Calibri"/>
              </a:defRPr>
            </a:pPr>
            <a:r>
              <a:t>  Local: why did the model predict THIS for THIS molecule?</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Feature Importance Methods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1. Random Forest built-in importance (Gini / mean decrease impurity)</a:t>
            </a:r>
          </a:p>
          <a:p>
            <a:pPr>
              <a:spcAft>
                <a:spcPts val="800"/>
              </a:spcAft>
              <a:defRPr sz="2000">
                <a:solidFill>
                  <a:srgbClr val="323232"/>
                </a:solidFill>
                <a:latin typeface="Calibri"/>
              </a:defRPr>
            </a:pPr>
            <a:r>
              <a:t>   Warning: Biased toward high-cardinality features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2. Permutation importance:</a:t>
            </a:r>
          </a:p>
          <a:p>
            <a:pPr>
              <a:spcAft>
                <a:spcPts val="800"/>
              </a:spcAft>
              <a:defRPr sz="2000">
                <a:solidFill>
                  <a:srgbClr val="323232"/>
                </a:solidFill>
                <a:latin typeface="Calibri"/>
              </a:defRPr>
            </a:pPr>
            <a:r>
              <a:t>   Shuffle one feature at a time, measure performance drop</a:t>
            </a:r>
          </a:p>
          <a:p>
            <a:pPr>
              <a:spcAft>
                <a:spcPts val="800"/>
              </a:spcAft>
              <a:defRPr sz="2000">
                <a:solidFill>
                  <a:srgbClr val="323232"/>
                </a:solidFill>
                <a:latin typeface="Calibri"/>
              </a:defRPr>
            </a:pPr>
            <a:r>
              <a:t>   Model-agnostic, more reliable</a:t>
            </a:r>
          </a:p>
          <a:p>
            <a:pPr>
              <a:spcAft>
                <a:spcPts val="800"/>
              </a:spcAft>
              <a:defRPr sz="2000">
                <a:solidFill>
                  <a:srgbClr val="323232"/>
                </a:solidFill>
                <a:latin typeface="Calibri"/>
              </a:defRPr>
            </a:pPr>
            <a:r>
              <a:t>   Breiman (2001) described this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3. For molecular fingerprints:</a:t>
            </a:r>
          </a:p>
          <a:p>
            <a:pPr>
              <a:spcAft>
                <a:spcPts val="800"/>
              </a:spcAft>
              <a:defRPr sz="2000">
                <a:solidFill>
                  <a:srgbClr val="323232"/>
                </a:solidFill>
                <a:latin typeface="Calibri"/>
              </a:defRPr>
            </a:pPr>
            <a:r>
              <a:t>   Important bit -&gt; corresponds to a specific substructure</a:t>
            </a:r>
          </a:p>
          <a:p>
            <a:pPr>
              <a:spcAft>
                <a:spcPts val="800"/>
              </a:spcAft>
              <a:defRPr sz="2000">
                <a:solidFill>
                  <a:srgbClr val="323232"/>
                </a:solidFill>
                <a:latin typeface="Calibri"/>
              </a:defRPr>
            </a:pPr>
            <a:r>
              <a:t>   RDKit can decode fingerprint bits back to molecular fragments</a:t>
            </a:r>
          </a:p>
          <a:p>
            <a:pPr>
              <a:spcAft>
                <a:spcPts val="800"/>
              </a:spcAft>
              <a:defRPr sz="2000">
                <a:solidFill>
                  <a:srgbClr val="323232"/>
                </a:solidFill>
                <a:latin typeface="Calibri"/>
              </a:defRPr>
            </a:pPr>
            <a:r>
              <a:t>   GetMorganFingerprintBitInfo() reveals atom environments per bit</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SHAP: SHapley Additive exPlanations</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Lundberg &amp; Lee (2017), NeurIPS</a:t>
            </a:r>
          </a:p>
          <a:p>
            <a:pPr>
              <a:spcAft>
                <a:spcPts val="800"/>
              </a:spcAft>
              <a:defRPr sz="2000">
                <a:solidFill>
                  <a:srgbClr val="323232"/>
                </a:solidFill>
                <a:latin typeface="Calibri"/>
              </a:defRPr>
            </a:pPr>
            <a:r>
              <a:t>Based on Shapley values from cooperative game theory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Key idea: for each prediction, assign a contribution to each feature</a:t>
            </a:r>
          </a:p>
          <a:p>
            <a:pPr>
              <a:spcAft>
                <a:spcPts val="800"/>
              </a:spcAft>
              <a:defRPr sz="2000">
                <a:solidFill>
                  <a:srgbClr val="323232"/>
                </a:solidFill>
                <a:latin typeface="Calibri"/>
              </a:defRPr>
            </a:pPr>
            <a:r>
              <a:t>  Positive SHAP value -&gt; feature pushes prediction higher</a:t>
            </a:r>
          </a:p>
          <a:p>
            <a:pPr>
              <a:spcAft>
                <a:spcPts val="800"/>
              </a:spcAft>
              <a:defRPr sz="2000">
                <a:solidFill>
                  <a:srgbClr val="323232"/>
                </a:solidFill>
                <a:latin typeface="Calibri"/>
              </a:defRPr>
            </a:pPr>
            <a:r>
              <a:t>  Negative SHAP value -&gt; feature pushes prediction lower</a:t>
            </a:r>
          </a:p>
          <a:p>
            <a:pPr>
              <a:spcAft>
                <a:spcPts val="800"/>
              </a:spcAft>
              <a:defRPr sz="2000">
                <a:solidFill>
                  <a:srgbClr val="323232"/>
                </a:solidFill>
                <a:latin typeface="Calibri"/>
              </a:defRPr>
            </a:pPr>
            <a:r>
              <a:t>  Sum of all SHAP values + baseline = predicted value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Advantages:</a:t>
            </a:r>
          </a:p>
          <a:p>
            <a:pPr>
              <a:spcAft>
                <a:spcPts val="800"/>
              </a:spcAft>
              <a:defRPr sz="2000">
                <a:solidFill>
                  <a:srgbClr val="323232"/>
                </a:solidFill>
                <a:latin typeface="Calibri"/>
              </a:defRPr>
            </a:pPr>
            <a:r>
              <a:t>  Mathematically grounded (unique solution with desirable properties)</a:t>
            </a:r>
          </a:p>
          <a:p>
            <a:pPr>
              <a:spcAft>
                <a:spcPts val="800"/>
              </a:spcAft>
              <a:defRPr sz="2000">
                <a:solidFill>
                  <a:srgbClr val="323232"/>
                </a:solidFill>
                <a:latin typeface="Calibri"/>
              </a:defRPr>
            </a:pPr>
            <a:r>
              <a:t>  Works for any model (model-agnostic)</a:t>
            </a:r>
          </a:p>
          <a:p>
            <a:pPr>
              <a:spcAft>
                <a:spcPts val="800"/>
              </a:spcAft>
              <a:defRPr sz="2000">
                <a:solidFill>
                  <a:srgbClr val="323232"/>
                </a:solidFill>
                <a:latin typeface="Calibri"/>
              </a:defRPr>
            </a:pPr>
            <a:r>
              <a:t>  Local AND global explanations</a:t>
            </a:r>
          </a:p>
          <a:p>
            <a:pPr>
              <a:spcAft>
                <a:spcPts val="800"/>
              </a:spcAft>
              <a:defRPr sz="2000">
                <a:solidFill>
                  <a:srgbClr val="323232"/>
                </a:solidFill>
                <a:latin typeface="Calibri"/>
              </a:defRPr>
            </a:pPr>
            <a:r>
              <a:t>  Beautiful visualizations (beeswarm, waterfall, force plots)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pip install shap</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Applicability Domain</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A model is only reliable within its training data distribution</a:t>
            </a:r>
          </a:p>
          <a:p>
            <a:pPr>
              <a:spcAft>
                <a:spcPts val="800"/>
              </a:spcAft>
              <a:defRPr sz="2000">
                <a:solidFill>
                  <a:srgbClr val="323232"/>
                </a:solidFill>
                <a:latin typeface="Calibri"/>
              </a:defRPr>
            </a:pPr>
            <a:r>
              <a:t>Applicability Domain (AD): the chemical space where predictions are trustworthy</a:t>
            </a:r>
          </a:p>
          <a:p>
            <a:pPr>
              <a:spcAft>
                <a:spcPts val="800"/>
              </a:spcAft>
              <a:defRPr sz="2000">
                <a:solidFill>
                  <a:srgbClr val="323232"/>
                </a:solidFill>
                <a:latin typeface="Calibri"/>
              </a:defRPr>
            </a:pPr>
          </a:p>
          <a:p>
            <a:pPr>
              <a:spcAft>
                <a:spcPts val="800"/>
              </a:spcAft>
              <a:defRPr sz="2000">
                <a:solidFill>
                  <a:srgbClr val="323232"/>
                </a:solidFill>
                <a:latin typeface="Calibri"/>
              </a:defRPr>
            </a:pPr>
            <a:r>
              <a:t>Methods to define AD:</a:t>
            </a:r>
          </a:p>
          <a:p>
            <a:pPr>
              <a:spcAft>
                <a:spcPts val="800"/>
              </a:spcAft>
              <a:defRPr sz="2000">
                <a:solidFill>
                  <a:srgbClr val="323232"/>
                </a:solidFill>
                <a:latin typeface="Calibri"/>
              </a:defRPr>
            </a:pPr>
            <a:r>
              <a:t>  Distance-based: is the new molecule close to training molecules?</a:t>
            </a:r>
          </a:p>
          <a:p>
            <a:pPr>
              <a:spcAft>
                <a:spcPts val="800"/>
              </a:spcAft>
              <a:defRPr sz="2000">
                <a:solidFill>
                  <a:srgbClr val="323232"/>
                </a:solidFill>
                <a:latin typeface="Calibri"/>
              </a:defRPr>
            </a:pPr>
            <a:r>
              <a:t>  Descriptor range: are all descriptors within training ranges?</a:t>
            </a:r>
          </a:p>
          <a:p>
            <a:pPr>
              <a:spcAft>
                <a:spcPts val="800"/>
              </a:spcAft>
              <a:defRPr sz="2000">
                <a:solidFill>
                  <a:srgbClr val="323232"/>
                </a:solidFill>
                <a:latin typeface="Calibri"/>
              </a:defRPr>
            </a:pPr>
            <a:r>
              <a:t>  Conformal prediction: distribution-free prediction intervals</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Sahigara et al. (2012), Molecules 17:4791-4810</a:t>
            </a:r>
          </a:p>
          <a:p>
            <a:pPr>
              <a:spcAft>
                <a:spcPts val="800"/>
              </a:spcAft>
              <a:defRPr sz="2000">
                <a:solidFill>
                  <a:srgbClr val="323232"/>
                </a:solidFill>
                <a:latin typeface="Calibri"/>
              </a:defRPr>
            </a:pPr>
          </a:p>
          <a:p>
            <a:pPr>
              <a:spcAft>
                <a:spcPts val="800"/>
              </a:spcAft>
              <a:defRPr sz="2000">
                <a:solidFill>
                  <a:srgbClr val="323232"/>
                </a:solidFill>
                <a:latin typeface="Calibri"/>
              </a:defRPr>
            </a:pPr>
            <a:r>
              <a:t>In practice: flag predictions outside AD as low confidence</a:t>
            </a:r>
          </a:p>
          <a:p>
            <a:pPr>
              <a:spcAft>
                <a:spcPts val="800"/>
              </a:spcAft>
              <a:defRPr sz="2000">
                <a:solidFill>
                  <a:srgbClr val="323232"/>
                </a:solidFill>
                <a:latin typeface="Calibri"/>
              </a:defRPr>
            </a:pPr>
            <a:r>
              <a:t>A confident wrong prediction is worse than an honest I don't know</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737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
            <a:ext cx="10972800" cy="731520"/>
          </a:xfrm>
          <a:prstGeom prst="rect">
            <a:avLst/>
          </a:prstGeom>
          <a:noFill/>
        </p:spPr>
        <p:txBody>
          <a:bodyPr wrap="square">
            <a:spAutoFit/>
          </a:bodyPr>
          <a:lstStyle/>
          <a:p>
            <a:pPr algn="l">
              <a:defRPr sz="2800" b="1">
                <a:solidFill>
                  <a:srgbClr val="FFFFFF"/>
                </a:solidFill>
                <a:latin typeface="Calibri"/>
              </a:defRPr>
            </a:pPr>
            <a:r>
              <a:t>Practical: Evaluate and Interpret Your QSAR Model</a:t>
            </a:r>
          </a:p>
        </p:txBody>
      </p:sp>
      <p:sp>
        <p:nvSpPr>
          <p:cNvPr id="4" name="TextBox 3"/>
          <p:cNvSpPr txBox="1"/>
          <p:nvPr/>
        </p:nvSpPr>
        <p:spPr>
          <a:xfrm>
            <a:off x="731520" y="1280160"/>
            <a:ext cx="10515600" cy="5029200"/>
          </a:xfrm>
          <a:prstGeom prst="rect">
            <a:avLst/>
          </a:prstGeom>
          <a:noFill/>
        </p:spPr>
        <p:txBody>
          <a:bodyPr wrap="square">
            <a:spAutoFit/>
          </a:bodyPr>
          <a:lstStyle/>
          <a:p>
            <a:pPr>
              <a:spcAft>
                <a:spcPts val="800"/>
              </a:spcAft>
              <a:defRPr sz="2000">
                <a:solidFill>
                  <a:srgbClr val="323232"/>
                </a:solidFill>
                <a:latin typeface="Calibri"/>
              </a:defRPr>
            </a:pPr>
            <a:r>
              <a:t>Open: week3_evaluation/Week3_Practical.ipynb</a:t>
            </a:r>
          </a:p>
          <a:p>
            <a:pPr>
              <a:spcAft>
                <a:spcPts val="800"/>
              </a:spcAft>
              <a:defRPr sz="2000">
                <a:solidFill>
                  <a:srgbClr val="323232"/>
                </a:solidFill>
                <a:latin typeface="Calibri"/>
              </a:defRPr>
            </a:pPr>
          </a:p>
          <a:p>
            <a:pPr>
              <a:spcAft>
                <a:spcPts val="800"/>
              </a:spcAft>
              <a:defRPr sz="2000">
                <a:solidFill>
                  <a:srgbClr val="323232"/>
                </a:solidFill>
                <a:latin typeface="Calibri"/>
              </a:defRPr>
            </a:pPr>
            <a:r>
              <a:t>Steps:</a:t>
            </a:r>
          </a:p>
          <a:p>
            <a:pPr>
              <a:spcAft>
                <a:spcPts val="800"/>
              </a:spcAft>
              <a:defRPr sz="2000">
                <a:solidFill>
                  <a:srgbClr val="323232"/>
                </a:solidFill>
                <a:latin typeface="Calibri"/>
              </a:defRPr>
            </a:pPr>
            <a:r>
              <a:t>  1. Load your Week 2 solubility model (or re-train)</a:t>
            </a:r>
          </a:p>
          <a:p>
            <a:pPr>
              <a:spcAft>
                <a:spcPts val="800"/>
              </a:spcAft>
              <a:defRPr sz="2000">
                <a:solidFill>
                  <a:srgbClr val="323232"/>
                </a:solidFill>
                <a:latin typeface="Calibri"/>
              </a:defRPr>
            </a:pPr>
            <a:r>
              <a:t>  2. Implement scaffold splitting (Bemis-Murcko)</a:t>
            </a:r>
          </a:p>
          <a:p>
            <a:pPr>
              <a:spcAft>
                <a:spcPts val="800"/>
              </a:spcAft>
              <a:defRPr sz="2000">
                <a:solidFill>
                  <a:srgbClr val="323232"/>
                </a:solidFill>
                <a:latin typeface="Calibri"/>
              </a:defRPr>
            </a:pPr>
            <a:r>
              <a:t>  3. Compare: random split vs. scaffold split performance</a:t>
            </a:r>
          </a:p>
          <a:p>
            <a:pPr>
              <a:spcAft>
                <a:spcPts val="800"/>
              </a:spcAft>
              <a:defRPr sz="2000">
                <a:solidFill>
                  <a:srgbClr val="323232"/>
                </a:solidFill>
                <a:latin typeface="Calibri"/>
              </a:defRPr>
            </a:pPr>
            <a:r>
              <a:t>  4. Compute and plot ROC curve, precision-recall curve</a:t>
            </a:r>
          </a:p>
          <a:p>
            <a:pPr>
              <a:spcAft>
                <a:spcPts val="800"/>
              </a:spcAft>
              <a:defRPr sz="2000">
                <a:solidFill>
                  <a:srgbClr val="323232"/>
                </a:solidFill>
                <a:latin typeface="Calibri"/>
              </a:defRPr>
            </a:pPr>
            <a:r>
              <a:t>  5. Calculate SHAP values for the Random Forest model</a:t>
            </a:r>
          </a:p>
          <a:p>
            <a:pPr>
              <a:spcAft>
                <a:spcPts val="800"/>
              </a:spcAft>
              <a:defRPr sz="2000">
                <a:solidFill>
                  <a:srgbClr val="323232"/>
                </a:solidFill>
                <a:latin typeface="Calibri"/>
              </a:defRPr>
            </a:pPr>
            <a:r>
              <a:t>  6. Create SHAP beeswarm plot: which features matter most?</a:t>
            </a:r>
          </a:p>
          <a:p>
            <a:pPr>
              <a:spcAft>
                <a:spcPts val="800"/>
              </a:spcAft>
              <a:defRPr sz="2000">
                <a:solidFill>
                  <a:srgbClr val="323232"/>
                </a:solidFill>
                <a:latin typeface="Calibri"/>
              </a:defRPr>
            </a:pPr>
            <a:r>
              <a:t>  7. Identify molecular substructures driving predictions</a:t>
            </a:r>
          </a:p>
          <a:p>
            <a:pPr>
              <a:spcAft>
                <a:spcPts val="800"/>
              </a:spcAft>
              <a:defRPr sz="2000">
                <a:solidFill>
                  <a:srgbClr val="323232"/>
                </a:solidFill>
                <a:latin typeface="Calibri"/>
              </a:defRPr>
            </a:pPr>
            <a:r>
              <a:t>  8. Define applicability domain using Tanimoto distance</a:t>
            </a:r>
          </a:p>
          <a:p>
            <a:pPr>
              <a:spcAft>
                <a:spcPts val="800"/>
              </a:spcAft>
              <a:defRPr sz="2000">
                <a:solidFill>
                  <a:srgbClr val="323232"/>
                </a:solidFill>
                <a:latin typeface="Calibri"/>
              </a:defRPr>
            </a:pPr>
          </a:p>
          <a:p>
            <a:pPr>
              <a:spcAft>
                <a:spcPts val="800"/>
              </a:spcAft>
              <a:defRPr sz="2000">
                <a:solidFill>
                  <a:srgbClr val="323232"/>
                </a:solidFill>
                <a:latin typeface="Calibri"/>
              </a:defRPr>
            </a:pPr>
            <a:r>
              <a:t>Time: ~60 minutes | Work in pairs</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3E50"/>
        </a:solidFill>
        <a:effectLst/>
      </p:bgPr>
    </p:bg>
    <p:spTree>
      <p:nvGrpSpPr>
        <p:cNvPr id="1" name=""/>
        <p:cNvGrpSpPr/>
        <p:nvPr/>
      </p:nvGrpSpPr>
      <p:grpSpPr/>
      <p:sp>
        <p:nvSpPr>
          <p:cNvPr id="2" name="TextBox 1"/>
          <p:cNvSpPr txBox="1"/>
          <p:nvPr/>
        </p:nvSpPr>
        <p:spPr>
          <a:xfrm>
            <a:off x="914400" y="457200"/>
            <a:ext cx="10058400" cy="548640"/>
          </a:xfrm>
          <a:prstGeom prst="rect">
            <a:avLst/>
          </a:prstGeom>
          <a:noFill/>
        </p:spPr>
        <p:txBody>
          <a:bodyPr wrap="square">
            <a:spAutoFit/>
          </a:bodyPr>
          <a:lstStyle/>
          <a:p>
            <a:pPr algn="l">
              <a:defRPr sz="1800" b="1">
                <a:solidFill>
                  <a:srgbClr val="1F77B4"/>
                </a:solidFill>
                <a:latin typeface="Calibri"/>
              </a:defRPr>
            </a:pPr>
            <a:r>
              <a:t>DISCUSSION QUESTION</a:t>
            </a:r>
          </a:p>
        </p:txBody>
      </p:sp>
      <p:sp>
        <p:nvSpPr>
          <p:cNvPr id="3" name="TextBox 2"/>
          <p:cNvSpPr txBox="1"/>
          <p:nvPr/>
        </p:nvSpPr>
        <p:spPr>
          <a:xfrm>
            <a:off x="914400" y="1371600"/>
            <a:ext cx="10058400" cy="1828800"/>
          </a:xfrm>
          <a:prstGeom prst="rect">
            <a:avLst/>
          </a:prstGeom>
          <a:noFill/>
        </p:spPr>
        <p:txBody>
          <a:bodyPr wrap="square">
            <a:spAutoFit/>
          </a:bodyPr>
          <a:lstStyle/>
          <a:p>
            <a:pPr algn="ctr">
              <a:defRPr sz="3000" b="1">
                <a:solidFill>
                  <a:srgbClr val="FFFFFF"/>
                </a:solidFill>
                <a:latin typeface="Calibri"/>
              </a:defRPr>
            </a:pPr>
            <a:r>
              <a:t>A model achieves AUC-ROC of 0.95 on the test set. Would you trust it to guide a 0M drug discovery campaign? What else would you want to know?</a:t>
            </a:r>
          </a:p>
        </p:txBody>
      </p:sp>
      <p:sp>
        <p:nvSpPr>
          <p:cNvPr id="4" name="TextBox 3"/>
          <p:cNvSpPr txBox="1"/>
          <p:nvPr/>
        </p:nvSpPr>
        <p:spPr>
          <a:xfrm>
            <a:off x="1371600" y="3657600"/>
            <a:ext cx="9144000" cy="2743200"/>
          </a:xfrm>
          <a:prstGeom prst="rect">
            <a:avLst/>
          </a:prstGeom>
          <a:noFill/>
        </p:spPr>
        <p:txBody>
          <a:bodyPr wrap="square">
            <a:spAutoFit/>
          </a:bodyPr>
          <a:lstStyle/>
          <a:p>
            <a:pPr>
              <a:spcAft>
                <a:spcPts val="800"/>
              </a:spcAft>
              <a:defRPr sz="1800">
                <a:solidFill>
                  <a:srgbClr val="F0F0F0"/>
                </a:solidFill>
                <a:latin typeface="Calibri"/>
              </a:defRPr>
            </a:pPr>
            <a:r>
              <a:t>Think about: what kind of split was used? How imbalanced is the data?</a:t>
            </a:r>
          </a:p>
          <a:p>
            <a:pPr>
              <a:spcAft>
                <a:spcPts val="800"/>
              </a:spcAft>
              <a:defRPr sz="1800">
                <a:solidFill>
                  <a:srgbClr val="F0F0F0"/>
                </a:solidFill>
                <a:latin typeface="Calibri"/>
              </a:defRPr>
            </a:pPr>
            <a:r>
              <a:t>Consider: what is the applicability domain?</a:t>
            </a:r>
          </a:p>
          <a:p>
            <a:pPr>
              <a:spcAft>
                <a:spcPts val="800"/>
              </a:spcAft>
              <a:defRPr sz="1800">
                <a:solidFill>
                  <a:srgbClr val="F0F0F0"/>
                </a:solidFill>
                <a:latin typeface="Calibri"/>
              </a:defRPr>
            </a:pPr>
            <a:r>
              <a:t>Ask: has the model been validated prospectively?</a:t>
            </a:r>
          </a:p>
        </p:txBody>
      </p:sp>
      <p:sp>
        <p:nvSpPr>
          <p:cNvPr id="5" name="TextBox 4"/>
          <p:cNvSpPr txBox="1"/>
          <p:nvPr/>
        </p:nvSpPr>
        <p:spPr>
          <a:xfrm>
            <a:off x="11247120" y="6400800"/>
            <a:ext cx="731520" cy="365760"/>
          </a:xfrm>
          <a:prstGeom prst="rect">
            <a:avLst/>
          </a:prstGeom>
          <a:noFill/>
        </p:spPr>
        <p:txBody>
          <a:bodyPr wrap="square">
            <a:spAutoFit/>
          </a:bodyPr>
          <a:lstStyle/>
          <a:p>
            <a:pPr algn="r">
              <a:defRPr sz="1000" b="0">
                <a:solidFill>
                  <a:srgbClr val="969696"/>
                </a:solidFill>
                <a:latin typeface="Calibri"/>
              </a:defRPr>
            </a:pPr>
            <a: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