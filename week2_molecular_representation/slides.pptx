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back! Start by asking: who finished the Week 1 practical? What did you find interesting? Today is a big day: we go from exploring molecules to building our first predictive model. By the end of today, every student will have trained a machine learning model that predicts molecular properties. Remember from Week 1, the pipeline is signal to features to model to prediction. Today we focus on features.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recap and agenda, 2 minutes. Emphasize the logical flow: we need to represent molecules (SMILES to fingerprints to features), then we need a framework for prediction (QSAR), and finally we need ML tools (RF, XGBoost). Today's practical uses the Delaney aqueous solubility dataset, a classic benchmark in cheminformatics.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to the SMILES section. SMILES looks like random text, but there is a very logical grammar behind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5-6 minutes here. This is important foundational knowledge. Work through examples on the board: start with simple molecules and build up. Draw ethanol (CCO), then acetic acid (CC(=O)O), then benzene (c1ccccc1). Key point about canonical SMILES: OCC and CCO are both valid SMILES for ethanol, but the canonical form is CCO. RDKit Chem.MolToSmiles() always produces the canonical form.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Interactive slide, 3-4 minutes. Reveal answers one by one.</a:t>
            </a:r>
          </a:p>
          <a:p/>
          <a:p>
            <a:r>
              <a:t>=== NEUROSCIENCE DRUG SMILES WALKTHROUGH ===</a:t>
            </a:r>
          </a:p>
          <a:p/>
          <a:p>
            <a:r>
              <a:t>1. SEROTONIN: NCCc1c[nH]c2ccc(O)cc12</a:t>
            </a:r>
          </a:p>
          <a:p>
            <a:r>
              <a:t>   - N = amine group, CC = ethyl chain, then an indole ring ([nH] = NH in ring) with a hydroxyl (O) at position 5.</a:t>
            </a:r>
          </a:p>
          <a:p>
            <a:r>
              <a:t>   - This is 5-hydroxytryptamine (5-HT), the neurotransmitter involved in mood, sleep, appetite.</a:t>
            </a:r>
          </a:p>
          <a:p>
            <a:r>
              <a:t>   - Drug connection: SSRIs (Prozac, Zoloft) block serotonin reuptake. Triptans (sumatriptan) activate 5-HT1B/1D receptors for migraine.</a:t>
            </a:r>
          </a:p>
          <a:p/>
          <a:p>
            <a:r>
              <a:t>2. DOPAMINE: NCCc1ccc(O)c(O)c1</a:t>
            </a:r>
          </a:p>
          <a:p>
            <a:r>
              <a:t>   - N = amine, CC = ethyl chain, then a catechol ring (benzene with two adjacent OH groups).</a:t>
            </a:r>
          </a:p>
          <a:p>
            <a:r>
              <a:t>   - Key neurotransmitter for reward, movement, motivation.</a:t>
            </a:r>
          </a:p>
          <a:p>
            <a:r>
              <a:t>   - Drug connection: L-DOPA for Parkinson's, antipsychotics (block D2 receptors), methylphenidate/Ritalin (blocks DAT).</a:t>
            </a:r>
          </a:p>
          <a:p/>
          <a:p>
            <a:r>
              <a:t>3. GABA: NCCCC(=O)O</a:t>
            </a:r>
          </a:p>
          <a:p>
            <a:r>
              <a:t>   - Very simple: amine-4 carbons-carboxyl group. Gamma-aminobutyric acid.</a:t>
            </a:r>
          </a:p>
          <a:p>
            <a:r>
              <a:t>   - The main inhibitory neurotransmitter. GABA-A receptor is in the same superfamily as GluCl (Dr. Serbe-Kamp's research!).</a:t>
            </a:r>
          </a:p>
          <a:p>
            <a:r>
              <a:t>   - Drug connection: benzodiazepines, barbiturates, general anesthetics all modulate GABA-A.</a:t>
            </a:r>
          </a:p>
          <a:p/>
          <a:p>
            <a:r>
              <a:t>4. ASPIRIN: CC(=O)Oc1ccccc1C(=O)O</a:t>
            </a:r>
          </a:p>
          <a:p>
            <a:r>
              <a:t>   - Acetyl group + salicylic acid. COX-1/COX-2 inhibitor.</a:t>
            </a:r>
          </a:p>
          <a:p/>
          <a:p>
            <a:r>
              <a:t>5. CAFFEINE: Cn1c(=O)c2c(ncn2C)n(C)c1=O</a:t>
            </a:r>
          </a:p>
          <a:p>
            <a:r>
              <a:t>   - Xanthine derivative. Three N-methyl groups on a purine ring.</a:t>
            </a:r>
          </a:p>
          <a:p>
            <a:r>
              <a:t>   - Adenosine A1/A2A receptor antagonist. Students can test caffeine effects with the SpikerBot!</a:t>
            </a:r>
          </a:p>
          <a:p/>
          <a:p>
            <a:r>
              <a:t>Ask students: notice how simple GABA is compared to serotonin? Yet both are critical neurotransmitters. The complexity of a molecule does not predict its biological importance.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2-3 minutes on limitations. The key limitation for ML is that SMILES is fragile: a single character change can completely change the molecule. SELFIES (Self-Referencing Embedded Strings) is particularly interesting for generative models because every possible string decodes to a valid molecule. We will use SELFIES in Week 5 for generative AI.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SMILES represents molecules as text. But for ML, we need fixed-length numerical vectors. Enter fingerprints.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3-4 minutes on the concept. The barcode analogy works well. The key difference between types: MACCS keys use human-defined patterns, while Morgan/ECFP automatically discovers patterns based on atom neighborhoods. Rogers and Hahn 2010 is the foundational paper for Extended Connectivity Fingerprints. ECFP4 (radius 2, 2048 bits) is the most common variant.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4-5 minutes here with a diagram on the board. Draw a simple molecule, pick one atom, show its radius-1 neighbors, then radius-2. Each iteration captures more context. The hashing step maps variable-length information into fixed-size identifiers. ECFP4 (radius=2, 2048 bits) is the default starting point for most ML projects.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2-3 minutes. The Tanimoto coefficient (also called Jaccard index) is the standard similarity metric. The 0.85 threshold is from the Similar Property Principle (Johnson and Maggiora 1990). But this is a heuristic, there are many exceptions called activity cliffs. We will discuss activity cliffs in Week 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to the modeling section. We now know how to represent molecules. The next question is: what do we predict?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3-4 minutes on descriptors.</a:t>
            </a:r>
          </a:p>
          <a:p/>
          <a:p>
            <a:r>
              <a:t>=== CNS DRUG PROPERTIES ===</a:t>
            </a:r>
          </a:p>
          <a:p>
            <a:r>
              <a:t>For CNS drugs, the blood-brain barrier (BBB) adds extra property constraints beyond Lipinski's Ro5:</a:t>
            </a:r>
          </a:p>
          <a:p>
            <a:r>
              <a:t>- MW &lt; 450 Da (smaller molecules cross BBB better)</a:t>
            </a:r>
          </a:p>
          <a:p>
            <a:r>
              <a:t>- LogP between 1 and 3 (need to be lipophilic enough to cross lipid membranes, but not too lipophilic)</a:t>
            </a:r>
          </a:p>
          <a:p>
            <a:r>
              <a:t>- HBD &lt; 3 (fewer hydrogen bonds = easier membrane crossing)</a:t>
            </a:r>
          </a:p>
          <a:p>
            <a:r>
              <a:t>- TPSA &lt; 90 Å² (lower polar surface area = better BBB penetration)</a:t>
            </a:r>
          </a:p>
          <a:p>
            <a:r>
              <a:t>- Few rotatable bonds (rigid molecules cross better)</a:t>
            </a:r>
          </a:p>
          <a:p/>
          <a:p>
            <a:r>
              <a:t>Reference: Pardridge, W.M. (2005). The blood-brain barrier: bottleneck in brain drug development. NeuroRx 2:3-14.</a:t>
            </a:r>
          </a:p>
          <a:p/>
          <a:p>
            <a:r>
              <a:t>Interesting comparison:</a:t>
            </a:r>
          </a:p>
          <a:p>
            <a:r>
              <a:t>- Serotonin itself has MW=176.2, LogP=0.2, TPSA=66.5 -&gt; it does NOT cross the BBB well from outside. That's why we give L-tryptophan (precursor) or SSRIs (which cross BBB) rather than serotonin itself.</a:t>
            </a:r>
          </a:p>
          <a:p>
            <a:r>
              <a:t>- Dopamine (MW=153.2, LogP=-1.0) also cannot cross the BBB. That's why Parkinson's patients take L-DOPA (MW=197, LogP=-2.7), which DOES cross the BBB and is converted to dopamine inside the brain by DOPA decarboxylase.</a:t>
            </a:r>
          </a:p>
          <a:p/>
          <a:p>
            <a:r>
              <a:t>This is a perfect ML task: predict BBB permeability from molecular descriptors! Models for BBB penetration are widely used in CNS drug discovery.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2-3 minutes. The paper has over 14,000 citations, truly foundational. However, many successful drugs violate Ro5 (e.g., cyclosporine, taxol). Beyond Lipinski: Veber's rules (2002) add rotatable bonds &lt;= 10 and TPSA &lt;= 140. In the practical, we will filter our dataset using Lipinski's rules.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to ML methods. We have features and targets. Now we need a model.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2-3 minutes on XGBoost. The Chen and Guestrin 2016 paper won the Best Paper award at KDD. XGBoost dominated Kaggle competitions for years. For tabular data (which molecular features are), XGBoost is still king. Sheridan 2016 (from Merck) showed that gradient boosting often outperforms RF for QSAR tasks. Key point: always try both RF and XGBoost as baselines before jumping to deep learning.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 minutes explaining the practical. The Delaney dataset is one of the most used benchmarks in cheminformatics ML. Solubility prediction is important because ~40% of drug candidates have solubility issues. Expected results: RF should achieve RMSE ~0.6-0.8 logS units, R-squared ~0.85-0.90. XGBoost should be slightly better.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5-minute discussion designed to foreshadow Week 3. The answer is nuanced: USUALLY yes (the Similar Property Principle), but NOT always. Activity cliffs are pairs of molecules that are very similar structurally but have very different activity. Example: changing a single methyl group to a chlorine can change IC50 by 1000x.</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recap, 2 minutes. Emphasize that the combination of fingerprints + RF/XGBoost is a production-ready approach used in real pharmaceutical companies. It is not exotic AI, it is proven, reliable, and interpretable.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548640"/>
            <a:ext cx="2743200" cy="548640"/>
          </a:xfrm>
          <a:prstGeom prst="rect">
            <a:avLst/>
          </a:prstGeom>
          <a:noFill/>
        </p:spPr>
        <p:txBody>
          <a:bodyPr wrap="square">
            <a:spAutoFit/>
          </a:bodyPr>
          <a:lstStyle/>
          <a:p>
            <a:pPr algn="l">
              <a:defRPr sz="1600" b="1">
                <a:solidFill>
                  <a:srgbClr val="1F77B4"/>
                </a:solidFill>
                <a:latin typeface="Calibri"/>
              </a:defRPr>
            </a:pPr>
            <a:r>
              <a:t>WEEK 2</a:t>
            </a:r>
          </a:p>
        </p:txBody>
      </p:sp>
      <p:sp>
        <p:nvSpPr>
          <p:cNvPr id="3" name="TextBox 2"/>
          <p:cNvSpPr txBox="1"/>
          <p:nvPr/>
        </p:nvSpPr>
        <p:spPr>
          <a:xfrm>
            <a:off x="731520" y="1645920"/>
            <a:ext cx="10058400" cy="1828800"/>
          </a:xfrm>
          <a:prstGeom prst="rect">
            <a:avLst/>
          </a:prstGeom>
          <a:noFill/>
        </p:spPr>
        <p:txBody>
          <a:bodyPr wrap="square">
            <a:spAutoFit/>
          </a:bodyPr>
          <a:lstStyle/>
          <a:p>
            <a:pPr algn="l">
              <a:defRPr sz="4400" b="1">
                <a:solidFill>
                  <a:srgbClr val="FFFFFF"/>
                </a:solidFill>
                <a:latin typeface="Calibri"/>
              </a:defRPr>
            </a:pPr>
            <a:r>
              <a:t>Molecular Representation &amp; Baseline ML</a:t>
            </a:r>
          </a:p>
        </p:txBody>
      </p:sp>
      <p:sp>
        <p:nvSpPr>
          <p:cNvPr id="4" name="TextBox 3"/>
          <p:cNvSpPr txBox="1"/>
          <p:nvPr/>
        </p:nvSpPr>
        <p:spPr>
          <a:xfrm>
            <a:off x="731520" y="3657600"/>
            <a:ext cx="10058400" cy="914400"/>
          </a:xfrm>
          <a:prstGeom prst="rect">
            <a:avLst/>
          </a:prstGeom>
          <a:noFill/>
        </p:spPr>
        <p:txBody>
          <a:bodyPr wrap="square">
            <a:spAutoFit/>
          </a:bodyPr>
          <a:lstStyle/>
          <a:p>
            <a:pPr algn="l">
              <a:defRPr sz="2200" b="0">
                <a:solidFill>
                  <a:srgbClr val="F0F0F0"/>
                </a:solidFill>
                <a:latin typeface="Calibri"/>
              </a:defRPr>
            </a:pPr>
            <a:r>
              <a:t>Turning molecules into numbers and teaching machines to predict</a:t>
            </a:r>
          </a:p>
        </p:txBody>
      </p:sp>
      <p:sp>
        <p:nvSpPr>
          <p:cNvPr id="5" name="TextBox 4"/>
          <p:cNvSpPr txBox="1"/>
          <p:nvPr/>
        </p:nvSpPr>
        <p:spPr>
          <a:xfrm>
            <a:off x="731520" y="5669280"/>
            <a:ext cx="4572000" cy="457200"/>
          </a:xfrm>
          <a:prstGeom prst="rect">
            <a:avLst/>
          </a:prstGeom>
          <a:noFill/>
        </p:spPr>
        <p:txBody>
          <a:bodyPr wrap="square">
            <a:spAutoFit/>
          </a:bodyPr>
          <a:lstStyle/>
          <a:p>
            <a:pPr algn="l">
              <a:defRPr sz="1400" b="0">
                <a:solidFill>
                  <a:srgbClr val="1F77B4"/>
                </a:solidFill>
                <a:latin typeface="Calibri"/>
              </a:defRPr>
            </a:pPr>
            <a:r>
              <a:t>AI for Drug Discovery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Recap &amp; Today's Agenda</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Last week we learned:</a:t>
            </a:r>
          </a:p>
          <a:p>
            <a:pPr>
              <a:spcAft>
                <a:spcPts val="800"/>
              </a:spcAft>
              <a:defRPr sz="2000">
                <a:solidFill>
                  <a:srgbClr val="323232"/>
                </a:solidFill>
                <a:latin typeface="Calibri"/>
              </a:defRPr>
            </a:pPr>
            <a:r>
              <a:t>  The drug discovery pipeline and where AI fits</a:t>
            </a:r>
          </a:p>
          <a:p>
            <a:pPr>
              <a:spcAft>
                <a:spcPts val="800"/>
              </a:spcAft>
              <a:defRPr sz="2000">
                <a:solidFill>
                  <a:srgbClr val="323232"/>
                </a:solidFill>
                <a:latin typeface="Calibri"/>
              </a:defRPr>
            </a:pPr>
            <a:r>
              <a:t>  SMILES notation basics</a:t>
            </a:r>
          </a:p>
          <a:p>
            <a:pPr>
              <a:spcAft>
                <a:spcPts val="800"/>
              </a:spcAft>
              <a:defRPr sz="2000">
                <a:solidFill>
                  <a:srgbClr val="323232"/>
                </a:solidFill>
                <a:latin typeface="Calibri"/>
              </a:defRPr>
            </a:pPr>
            <a:r>
              <a:t>  RDKit for molecular visualization</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Today's agenda:</a:t>
            </a:r>
          </a:p>
          <a:p>
            <a:pPr>
              <a:spcAft>
                <a:spcPts val="800"/>
              </a:spcAft>
              <a:defRPr sz="2000">
                <a:solidFill>
                  <a:srgbClr val="323232"/>
                </a:solidFill>
                <a:latin typeface="Calibri"/>
              </a:defRPr>
            </a:pPr>
            <a:r>
              <a:t>  1. SMILES deep dive - syntax, limitations, alternatives</a:t>
            </a:r>
          </a:p>
          <a:p>
            <a:pPr>
              <a:spcAft>
                <a:spcPts val="800"/>
              </a:spcAft>
              <a:defRPr sz="2000">
                <a:solidFill>
                  <a:srgbClr val="323232"/>
                </a:solidFill>
                <a:latin typeface="Calibri"/>
              </a:defRPr>
            </a:pPr>
            <a:r>
              <a:t>  2. Molecular fingerprints - ECFP / Morgan</a:t>
            </a:r>
          </a:p>
          <a:p>
            <a:pPr>
              <a:spcAft>
                <a:spcPts val="800"/>
              </a:spcAft>
              <a:defRPr sz="2000">
                <a:solidFill>
                  <a:srgbClr val="323232"/>
                </a:solidFill>
                <a:latin typeface="Calibri"/>
              </a:defRPr>
            </a:pPr>
            <a:r>
              <a:t>  3. Feature engineering for molecules</a:t>
            </a:r>
          </a:p>
          <a:p>
            <a:pPr>
              <a:spcAft>
                <a:spcPts val="800"/>
              </a:spcAft>
              <a:defRPr sz="2000">
                <a:solidFill>
                  <a:srgbClr val="323232"/>
                </a:solidFill>
                <a:latin typeface="Calibri"/>
              </a:defRPr>
            </a:pPr>
            <a:r>
              <a:t>  4. QSAR: the core concept</a:t>
            </a:r>
          </a:p>
          <a:p>
            <a:pPr>
              <a:spcAft>
                <a:spcPts val="800"/>
              </a:spcAft>
              <a:defRPr sz="2000">
                <a:solidFill>
                  <a:srgbClr val="323232"/>
                </a:solidFill>
                <a:latin typeface="Calibri"/>
              </a:defRPr>
            </a:pPr>
            <a:r>
              <a:t>  5. Train Random Forest &amp; XGBoost models</a:t>
            </a:r>
          </a:p>
          <a:p>
            <a:pPr>
              <a:spcAft>
                <a:spcPts val="800"/>
              </a:spcAft>
              <a:defRPr sz="2000">
                <a:solidFill>
                  <a:srgbClr val="323232"/>
                </a:solidFill>
                <a:latin typeface="Calibri"/>
              </a:defRPr>
            </a:pPr>
            <a:r>
              <a:t>  6. Practical: predict aqueous solubility</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SMILES: Deep Dive</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Weininger (1988), J. Chem. Inf. Comput. Sci. 28:31-36</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SMILES Syntax Rules</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Atoms: C, N, O, S, P, F, Cl, Br, I (organic subset, implicit H)</a:t>
            </a:r>
          </a:p>
          <a:p>
            <a:pPr>
              <a:spcAft>
                <a:spcPts val="800"/>
              </a:spcAft>
              <a:defRPr sz="2000">
                <a:solidFill>
                  <a:srgbClr val="323232"/>
                </a:solidFill>
                <a:latin typeface="Calibri"/>
              </a:defRPr>
            </a:pPr>
            <a:r>
              <a:t>Single bond: implicit (CC = ethane)</a:t>
            </a:r>
          </a:p>
          <a:p>
            <a:pPr>
              <a:spcAft>
                <a:spcPts val="800"/>
              </a:spcAft>
              <a:defRPr sz="2000">
                <a:solidFill>
                  <a:srgbClr val="323232"/>
                </a:solidFill>
                <a:latin typeface="Calibri"/>
              </a:defRPr>
            </a:pPr>
            <a:r>
              <a:t>Double bond: = (C=O = formaldehyde)</a:t>
            </a:r>
          </a:p>
          <a:p>
            <a:pPr>
              <a:spcAft>
                <a:spcPts val="800"/>
              </a:spcAft>
              <a:defRPr sz="2000">
                <a:solidFill>
                  <a:srgbClr val="323232"/>
                </a:solidFill>
                <a:latin typeface="Calibri"/>
              </a:defRPr>
            </a:pPr>
            <a:r>
              <a:t>Triple bond: # (C#N = hydrogen cyanide)</a:t>
            </a:r>
          </a:p>
          <a:p>
            <a:pPr>
              <a:spcAft>
                <a:spcPts val="800"/>
              </a:spcAft>
              <a:defRPr sz="2000">
                <a:solidFill>
                  <a:srgbClr val="323232"/>
                </a:solidFill>
                <a:latin typeface="Calibri"/>
              </a:defRPr>
            </a:pPr>
            <a:r>
              <a:t>Aromatic atoms: lowercase (c1ccccc1 = benzene)</a:t>
            </a:r>
          </a:p>
          <a:p>
            <a:pPr>
              <a:spcAft>
                <a:spcPts val="800"/>
              </a:spcAft>
              <a:defRPr sz="2000">
                <a:solidFill>
                  <a:srgbClr val="323232"/>
                </a:solidFill>
                <a:latin typeface="Calibri"/>
              </a:defRPr>
            </a:pPr>
            <a:r>
              <a:t>Branches: parentheses - CC(=O)O = acetic acid</a:t>
            </a:r>
          </a:p>
          <a:p>
            <a:pPr>
              <a:spcAft>
                <a:spcPts val="800"/>
              </a:spcAft>
              <a:defRPr sz="2000">
                <a:solidFill>
                  <a:srgbClr val="323232"/>
                </a:solidFill>
                <a:latin typeface="Calibri"/>
              </a:defRPr>
            </a:pPr>
            <a:r>
              <a:t>Rings: matching digits - C1CCCCC1 = cyclohexane</a:t>
            </a:r>
          </a:p>
          <a:p>
            <a:pPr>
              <a:spcAft>
                <a:spcPts val="800"/>
              </a:spcAft>
              <a:defRPr sz="2000">
                <a:solidFill>
                  <a:srgbClr val="323232"/>
                </a:solidFill>
                <a:latin typeface="Calibri"/>
              </a:defRPr>
            </a:pPr>
            <a:r>
              <a:t>Charges: [NH4+], [O-]</a:t>
            </a:r>
          </a:p>
          <a:p>
            <a:pPr>
              <a:spcAft>
                <a:spcPts val="800"/>
              </a:spcAft>
              <a:defRPr sz="2000">
                <a:solidFill>
                  <a:srgbClr val="323232"/>
                </a:solidFill>
                <a:latin typeface="Calibri"/>
              </a:defRPr>
            </a:pPr>
            <a:r>
              <a:t>Stereochemistry: / \ for E/Z, @ @@ for R/S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Canonical SMILES: unique representation generated by RDKit/OpenBabel</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SMILES Practice: Can You Read These?</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1. NCCc1c[nH]c2ccc(O)cc12  -&gt;  ?  (hint: neurotransmitter)</a:t>
            </a:r>
          </a:p>
          <a:p>
            <a:pPr>
              <a:spcAft>
                <a:spcPts val="800"/>
              </a:spcAft>
              <a:defRPr sz="2000">
                <a:solidFill>
                  <a:srgbClr val="323232"/>
                </a:solidFill>
                <a:latin typeface="Calibri"/>
              </a:defRPr>
            </a:pPr>
            <a:r>
              <a:t>2. NCCc1ccc(O)c(O)c1  -&gt;  ?  (hint: reward pathway)</a:t>
            </a:r>
          </a:p>
          <a:p>
            <a:pPr>
              <a:spcAft>
                <a:spcPts val="800"/>
              </a:spcAft>
              <a:defRPr sz="2000">
                <a:solidFill>
                  <a:srgbClr val="323232"/>
                </a:solidFill>
                <a:latin typeface="Calibri"/>
              </a:defRPr>
            </a:pPr>
            <a:r>
              <a:t>3. NCCCC(=O)O  -&gt;  ?  (hint: main inhibitory NT in the brain)</a:t>
            </a:r>
          </a:p>
          <a:p>
            <a:pPr>
              <a:spcAft>
                <a:spcPts val="800"/>
              </a:spcAft>
              <a:defRPr sz="2000">
                <a:solidFill>
                  <a:srgbClr val="323232"/>
                </a:solidFill>
                <a:latin typeface="Calibri"/>
              </a:defRPr>
            </a:pPr>
            <a:r>
              <a:t>4. CC(=O)Oc1ccccc1C(=O)O  -&gt;  ?  (hint: common painkiller)</a:t>
            </a:r>
          </a:p>
          <a:p>
            <a:pPr>
              <a:spcAft>
                <a:spcPts val="800"/>
              </a:spcAft>
              <a:defRPr sz="2000">
                <a:solidFill>
                  <a:srgbClr val="323232"/>
                </a:solidFill>
                <a:latin typeface="Calibri"/>
              </a:defRPr>
            </a:pPr>
            <a:r>
              <a:t>5. Cn1c(=O)c2c(ncn2C)n(C)c1=O  -&gt;  ?  (hint: in your coffee)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Answers: 1) Serotonin  2) Dopamine  3) GABA</a:t>
            </a:r>
          </a:p>
          <a:p>
            <a:pPr>
              <a:spcAft>
                <a:spcPts val="800"/>
              </a:spcAft>
              <a:defRPr sz="2000">
                <a:solidFill>
                  <a:srgbClr val="323232"/>
                </a:solidFill>
                <a:latin typeface="Calibri"/>
              </a:defRPr>
            </a:pPr>
            <a:r>
              <a:t>4) Aspirin  5) Caffeine (adenosine receptor antagonist)</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Beyond SMILES: Limitations and Alternatives</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SMILES limitations:</a:t>
            </a:r>
          </a:p>
          <a:p>
            <a:pPr>
              <a:spcAft>
                <a:spcPts val="800"/>
              </a:spcAft>
              <a:defRPr sz="2000">
                <a:solidFill>
                  <a:srgbClr val="323232"/>
                </a:solidFill>
                <a:latin typeface="Calibri"/>
              </a:defRPr>
            </a:pPr>
            <a:r>
              <a:t>  Not unique without canonicalization</a:t>
            </a:r>
          </a:p>
          <a:p>
            <a:pPr>
              <a:spcAft>
                <a:spcPts val="800"/>
              </a:spcAft>
              <a:defRPr sz="2000">
                <a:solidFill>
                  <a:srgbClr val="323232"/>
                </a:solidFill>
                <a:latin typeface="Calibri"/>
              </a:defRPr>
            </a:pPr>
            <a:r>
              <a:t>  Syntax errors are easy to make</a:t>
            </a:r>
          </a:p>
          <a:p>
            <a:pPr>
              <a:spcAft>
                <a:spcPts val="800"/>
              </a:spcAft>
              <a:defRPr sz="2000">
                <a:solidFill>
                  <a:srgbClr val="323232"/>
                </a:solidFill>
                <a:latin typeface="Calibri"/>
              </a:defRPr>
            </a:pPr>
            <a:r>
              <a:t>  No built-in 3D information</a:t>
            </a:r>
          </a:p>
          <a:p>
            <a:pPr>
              <a:spcAft>
                <a:spcPts val="800"/>
              </a:spcAft>
              <a:defRPr sz="2000">
                <a:solidFill>
                  <a:srgbClr val="323232"/>
                </a:solidFill>
                <a:latin typeface="Calibri"/>
              </a:defRPr>
            </a:pPr>
            <a:r>
              <a:t>  Small edits can cause large structural changes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Alternatives:</a:t>
            </a:r>
          </a:p>
          <a:p>
            <a:pPr>
              <a:spcAft>
                <a:spcPts val="800"/>
              </a:spcAft>
              <a:defRPr sz="2000">
                <a:solidFill>
                  <a:srgbClr val="323232"/>
                </a:solidFill>
                <a:latin typeface="Calibri"/>
              </a:defRPr>
            </a:pPr>
            <a:r>
              <a:t>  InChI - IUPAC International Chemical Identifier (Heller et al. 2015)</a:t>
            </a:r>
          </a:p>
          <a:p>
            <a:pPr>
              <a:spcAft>
                <a:spcPts val="800"/>
              </a:spcAft>
              <a:defRPr sz="2000">
                <a:solidFill>
                  <a:srgbClr val="323232"/>
                </a:solidFill>
                <a:latin typeface="Calibri"/>
              </a:defRPr>
            </a:pPr>
            <a:r>
              <a:t>  SELFIES - 100% valid molecular strings (Krenn et al. 2020)</a:t>
            </a:r>
          </a:p>
          <a:p>
            <a:pPr>
              <a:spcAft>
                <a:spcPts val="800"/>
              </a:spcAft>
              <a:defRPr sz="2000">
                <a:solidFill>
                  <a:srgbClr val="323232"/>
                </a:solidFill>
                <a:latin typeface="Calibri"/>
              </a:defRPr>
            </a:pPr>
            <a:r>
              <a:t>  DeepSMILES - easier for neural networks (O'Boyle &amp; Dalke 2018)</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Molecular Fingerprints</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From molecular structure to numerical vectors</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Molecular Fingerprints: The Concept</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A fingerprint converts a molecule into a fixed-length bit vector</a:t>
            </a:r>
          </a:p>
          <a:p>
            <a:pPr>
              <a:spcAft>
                <a:spcPts val="800"/>
              </a:spcAft>
              <a:defRPr sz="2000">
                <a:solidFill>
                  <a:srgbClr val="323232"/>
                </a:solidFill>
                <a:latin typeface="Calibri"/>
              </a:defRPr>
            </a:pPr>
            <a:r>
              <a:t>Each bit indicates presence/absence of a molecular substructure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Analogy: like a barcode for molecules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Types of fingerprints:</a:t>
            </a:r>
          </a:p>
          <a:p>
            <a:pPr>
              <a:spcAft>
                <a:spcPts val="800"/>
              </a:spcAft>
              <a:defRPr sz="2000">
                <a:solidFill>
                  <a:srgbClr val="323232"/>
                </a:solidFill>
                <a:latin typeface="Calibri"/>
              </a:defRPr>
            </a:pPr>
            <a:r>
              <a:t>  Structural keys (MACCS, 166 bits) - predefined patterns</a:t>
            </a:r>
          </a:p>
          <a:p>
            <a:pPr>
              <a:spcAft>
                <a:spcPts val="800"/>
              </a:spcAft>
              <a:defRPr sz="2000">
                <a:solidFill>
                  <a:srgbClr val="323232"/>
                </a:solidFill>
                <a:latin typeface="Calibri"/>
              </a:defRPr>
            </a:pPr>
            <a:r>
              <a:t>  Topological (RDKit FP) - enumerate paths through molecular graph</a:t>
            </a:r>
          </a:p>
          <a:p>
            <a:pPr>
              <a:spcAft>
                <a:spcPts val="800"/>
              </a:spcAft>
              <a:defRPr sz="2000">
                <a:solidFill>
                  <a:srgbClr val="323232"/>
                </a:solidFill>
                <a:latin typeface="Calibri"/>
              </a:defRPr>
            </a:pPr>
            <a:r>
              <a:t>  Circular (Morgan/ECFP) - local atom environments at increasing radius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Morgan fingerprints are the most widely used in modern drug discovery</a:t>
            </a:r>
          </a:p>
          <a:p>
            <a:pPr>
              <a:spcAft>
                <a:spcPts val="800"/>
              </a:spcAft>
              <a:defRPr sz="2000">
                <a:solidFill>
                  <a:srgbClr val="323232"/>
                </a:solidFill>
                <a:latin typeface="Calibri"/>
              </a:defRPr>
            </a:pPr>
            <a:r>
              <a:t>Reference: Rogers &amp; Hahn (2010), J. Chem. Inf. Model. 50:742-754</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Morgan / ECFP Fingerprints: How They Work</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Algorithm (for each atom):</a:t>
            </a:r>
          </a:p>
          <a:p>
            <a:pPr>
              <a:spcAft>
                <a:spcPts val="800"/>
              </a:spcAft>
              <a:defRPr sz="2000">
                <a:solidFill>
                  <a:srgbClr val="323232"/>
                </a:solidFill>
                <a:latin typeface="Calibri"/>
              </a:defRPr>
            </a:pPr>
            <a:r>
              <a:t>  1. Start: initial identifier = atom type + properties</a:t>
            </a:r>
          </a:p>
          <a:p>
            <a:pPr>
              <a:spcAft>
                <a:spcPts val="800"/>
              </a:spcAft>
              <a:defRPr sz="2000">
                <a:solidFill>
                  <a:srgbClr val="323232"/>
                </a:solidFill>
                <a:latin typeface="Calibri"/>
              </a:defRPr>
            </a:pPr>
            <a:r>
              <a:t>  2. Iteration 1: collect identifiers from radius-1 neighbors</a:t>
            </a:r>
          </a:p>
          <a:p>
            <a:pPr>
              <a:spcAft>
                <a:spcPts val="800"/>
              </a:spcAft>
              <a:defRPr sz="2000">
                <a:solidFill>
                  <a:srgbClr val="323232"/>
                </a:solidFill>
                <a:latin typeface="Calibri"/>
              </a:defRPr>
            </a:pPr>
            <a:r>
              <a:t>  3. Hash the combined information -&gt; new identifier</a:t>
            </a:r>
          </a:p>
          <a:p>
            <a:pPr>
              <a:spcAft>
                <a:spcPts val="800"/>
              </a:spcAft>
              <a:defRPr sz="2000">
                <a:solidFill>
                  <a:srgbClr val="323232"/>
                </a:solidFill>
                <a:latin typeface="Calibri"/>
              </a:defRPr>
            </a:pPr>
            <a:r>
              <a:t>  4. Iteration 2: expand to radius-2 neighbors, hash again</a:t>
            </a:r>
          </a:p>
          <a:p>
            <a:pPr>
              <a:spcAft>
                <a:spcPts val="800"/>
              </a:spcAft>
              <a:defRPr sz="2000">
                <a:solidFill>
                  <a:srgbClr val="323232"/>
                </a:solidFill>
                <a:latin typeface="Calibri"/>
              </a:defRPr>
            </a:pPr>
            <a:r>
              <a:t>  5. Map all identifiers to a fixed-length bit vector (1024 or 2048 bits)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ECFP4 = radius 2 | ECFP6 = radius 3</a:t>
            </a:r>
          </a:p>
          <a:p>
            <a:pPr>
              <a:spcAft>
                <a:spcPts val="800"/>
              </a:spcAft>
              <a:defRPr sz="2000">
                <a:solidFill>
                  <a:srgbClr val="323232"/>
                </a:solidFill>
                <a:latin typeface="Calibri"/>
              </a:defRPr>
            </a:pPr>
            <a:r>
              <a:t>The circular name: each atom sees a circular neighborhood</a:t>
            </a:r>
          </a:p>
          <a:p>
            <a:pPr>
              <a:spcAft>
                <a:spcPts val="800"/>
              </a:spcAft>
              <a:defRPr sz="2000">
                <a:solidFill>
                  <a:srgbClr val="323232"/>
                </a:solidFill>
                <a:latin typeface="Calibri"/>
              </a:defRPr>
            </a:pPr>
          </a:p>
          <a:p>
            <a:pPr>
              <a:spcAft>
                <a:spcPts val="800"/>
              </a:spcAft>
              <a:defRPr sz="2000">
                <a:solidFill>
                  <a:srgbClr val="323232"/>
                </a:solidFill>
                <a:latin typeface="Calibri"/>
              </a:defRPr>
            </a:pPr>
            <a:r>
              <a:t>In RDKit: AllChem.GetMorganFingerprintAsBitVect(mol, radius=2, nBits=2048)</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Molecular Similarity: Tanimoto Coefficient</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Given two fingerprints A and B (bit vectors):</a:t>
            </a:r>
          </a:p>
          <a:p>
            <a:pPr>
              <a:spcAft>
                <a:spcPts val="800"/>
              </a:spcAft>
              <a:defRPr sz="2000">
                <a:solidFill>
                  <a:srgbClr val="323232"/>
                </a:solidFill>
                <a:latin typeface="Calibri"/>
              </a:defRPr>
            </a:pPr>
            <a:r>
              <a:t>  Tanimoto(A, B) = |A intersect B| / |A union B|</a:t>
            </a:r>
          </a:p>
          <a:p>
            <a:pPr>
              <a:spcAft>
                <a:spcPts val="800"/>
              </a:spcAft>
              <a:defRPr sz="2000">
                <a:solidFill>
                  <a:srgbClr val="323232"/>
                </a:solidFill>
                <a:latin typeface="Calibri"/>
              </a:defRPr>
            </a:pPr>
          </a:p>
          <a:p>
            <a:pPr>
              <a:spcAft>
                <a:spcPts val="800"/>
              </a:spcAft>
              <a:defRPr sz="2000">
                <a:solidFill>
                  <a:srgbClr val="323232"/>
                </a:solidFill>
                <a:latin typeface="Calibri"/>
              </a:defRPr>
            </a:pPr>
            <a:r>
              <a:t>Range: 0 (completely different) to 1 (identical)</a:t>
            </a:r>
          </a:p>
          <a:p>
            <a:pPr>
              <a:spcAft>
                <a:spcPts val="800"/>
              </a:spcAft>
              <a:defRPr sz="2000">
                <a:solidFill>
                  <a:srgbClr val="323232"/>
                </a:solidFill>
                <a:latin typeface="Calibri"/>
              </a:defRPr>
            </a:pPr>
            <a:r>
              <a:t>Rule of thumb: Tanimoto &gt; 0.85 -&gt; likely similar activity</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Applications:</a:t>
            </a:r>
          </a:p>
          <a:p>
            <a:pPr>
              <a:spcAft>
                <a:spcPts val="800"/>
              </a:spcAft>
              <a:defRPr sz="2000">
                <a:solidFill>
                  <a:srgbClr val="323232"/>
                </a:solidFill>
                <a:latin typeface="Calibri"/>
              </a:defRPr>
            </a:pPr>
            <a:r>
              <a:t>  Virtual screening: find compounds similar to a known active</a:t>
            </a:r>
          </a:p>
          <a:p>
            <a:pPr>
              <a:spcAft>
                <a:spcPts val="800"/>
              </a:spcAft>
              <a:defRPr sz="2000">
                <a:solidFill>
                  <a:srgbClr val="323232"/>
                </a:solidFill>
                <a:latin typeface="Calibri"/>
              </a:defRPr>
            </a:pPr>
            <a:r>
              <a:t>  Diversity analysis: how different are compounds in a library?</a:t>
            </a:r>
          </a:p>
          <a:p>
            <a:pPr>
              <a:spcAft>
                <a:spcPts val="800"/>
              </a:spcAft>
              <a:defRPr sz="2000">
                <a:solidFill>
                  <a:srgbClr val="323232"/>
                </a:solidFill>
                <a:latin typeface="Calibri"/>
              </a:defRPr>
            </a:pPr>
            <a:r>
              <a:t>  Clustering: group similar molecules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In RDKit: DataStructs.TanimotoSimilarity(fp1, fp2)</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Feature Engineering &amp; QSAR</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From molecular features to property prediction</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Feature Engineering for Molecules</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Beyond fingerprints: physicochemical descriptors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Common molecular descriptors:</a:t>
            </a:r>
          </a:p>
          <a:p>
            <a:pPr>
              <a:spcAft>
                <a:spcPts val="800"/>
              </a:spcAft>
              <a:defRPr sz="2000">
                <a:solidFill>
                  <a:srgbClr val="323232"/>
                </a:solidFill>
                <a:latin typeface="Calibri"/>
              </a:defRPr>
            </a:pPr>
            <a:r>
              <a:t>  Molecular Weight (MW)  |  LogP - lipophilicity (BBB penetration!)</a:t>
            </a:r>
          </a:p>
          <a:p>
            <a:pPr>
              <a:spcAft>
                <a:spcPts val="800"/>
              </a:spcAft>
              <a:defRPr sz="2000">
                <a:solidFill>
                  <a:srgbClr val="323232"/>
                </a:solidFill>
                <a:latin typeface="Calibri"/>
              </a:defRPr>
            </a:pPr>
            <a:r>
              <a:t>  H-bond donors (HBD) &amp; acceptors (HBA)  |  TPSA (polar surface area)</a:t>
            </a:r>
          </a:p>
          <a:p>
            <a:pPr>
              <a:spcAft>
                <a:spcPts val="800"/>
              </a:spcAft>
              <a:defRPr sz="2000">
                <a:solidFill>
                  <a:srgbClr val="323232"/>
                </a:solidFill>
                <a:latin typeface="Calibri"/>
              </a:defRPr>
            </a:pPr>
            <a:r>
              <a:t>  Rotatable bonds (flexibility)  |  Aromatic rings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For CNS drugs: crossing the blood-brain barrier is critical!</a:t>
            </a:r>
          </a:p>
          <a:p>
            <a:pPr>
              <a:spcAft>
                <a:spcPts val="800"/>
              </a:spcAft>
              <a:defRPr sz="2000">
                <a:solidFill>
                  <a:srgbClr val="323232"/>
                </a:solidFill>
                <a:latin typeface="Calibri"/>
              </a:defRPr>
            </a:pPr>
            <a:r>
              <a:t>  Lipinski + BBB rules: MW &lt; 450, LogP 1-3, HBD &lt; 3, TPSA &lt; 90</a:t>
            </a:r>
          </a:p>
          <a:p>
            <a:pPr>
              <a:spcAft>
                <a:spcPts val="800"/>
              </a:spcAft>
              <a:defRPr sz="2000">
                <a:solidFill>
                  <a:srgbClr val="323232"/>
                </a:solidFill>
                <a:latin typeface="Calibri"/>
              </a:defRPr>
            </a:pPr>
            <a:r>
              <a:t>  Pardridge (2005), NeuroRx 2:3-14</a:t>
            </a:r>
          </a:p>
          <a:p>
            <a:pPr>
              <a:spcAft>
                <a:spcPts val="800"/>
              </a:spcAft>
              <a:defRPr sz="2000">
                <a:solidFill>
                  <a:srgbClr val="323232"/>
                </a:solidFill>
                <a:latin typeface="Calibri"/>
              </a:defRPr>
            </a:pPr>
          </a:p>
          <a:p>
            <a:pPr>
              <a:spcAft>
                <a:spcPts val="800"/>
              </a:spcAft>
              <a:defRPr sz="2000">
                <a:solidFill>
                  <a:srgbClr val="323232"/>
                </a:solidFill>
                <a:latin typeface="Calibri"/>
              </a:defRPr>
            </a:pPr>
            <a:r>
              <a:t>RDKit: 200+ descriptors  |  Mordred: &gt;1800 descriptors</a:t>
            </a:r>
          </a:p>
          <a:p>
            <a:pPr>
              <a:spcAft>
                <a:spcPts val="800"/>
              </a:spcAft>
              <a:defRPr sz="2000">
                <a:solidFill>
                  <a:srgbClr val="323232"/>
                </a:solidFill>
                <a:latin typeface="Calibri"/>
              </a:defRPr>
            </a:pPr>
            <a:r>
              <a:t>Neuroscience example: serotonin (MW=176, LogP=0.2) vs. dopamine (MW=153, LogP=-1.0)</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Lipinski's Rule of Five</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Christopher Lipinski (Pfizer, 1997) - most cited paper in medicinal chemistry</a:t>
            </a:r>
          </a:p>
          <a:p>
            <a:pPr>
              <a:spcAft>
                <a:spcPts val="800"/>
              </a:spcAft>
              <a:defRPr sz="2000">
                <a:solidFill>
                  <a:srgbClr val="323232"/>
                </a:solidFill>
                <a:latin typeface="Calibri"/>
              </a:defRPr>
            </a:pPr>
            <a:r>
              <a:t>Lipinski et al. (1997), Advanced Drug Delivery Reviews 23:3-25</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 compound is likely orally bioavailable if:</a:t>
            </a:r>
          </a:p>
          <a:p>
            <a:pPr>
              <a:spcAft>
                <a:spcPts val="800"/>
              </a:spcAft>
              <a:defRPr sz="2000">
                <a:solidFill>
                  <a:srgbClr val="323232"/>
                </a:solidFill>
                <a:latin typeface="Calibri"/>
              </a:defRPr>
            </a:pPr>
            <a:r>
              <a:t>  Molecular Weight &lt;= 500 Da</a:t>
            </a:r>
          </a:p>
          <a:p>
            <a:pPr>
              <a:spcAft>
                <a:spcPts val="800"/>
              </a:spcAft>
              <a:defRPr sz="2000">
                <a:solidFill>
                  <a:srgbClr val="323232"/>
                </a:solidFill>
                <a:latin typeface="Calibri"/>
              </a:defRPr>
            </a:pPr>
            <a:r>
              <a:t>  LogP &lt;= 5</a:t>
            </a:r>
          </a:p>
          <a:p>
            <a:pPr>
              <a:spcAft>
                <a:spcPts val="800"/>
              </a:spcAft>
              <a:defRPr sz="2000">
                <a:solidFill>
                  <a:srgbClr val="323232"/>
                </a:solidFill>
                <a:latin typeface="Calibri"/>
              </a:defRPr>
            </a:pPr>
            <a:r>
              <a:t>  H-bond donors &lt;= 5</a:t>
            </a:r>
          </a:p>
          <a:p>
            <a:pPr>
              <a:spcAft>
                <a:spcPts val="800"/>
              </a:spcAft>
              <a:defRPr sz="2000">
                <a:solidFill>
                  <a:srgbClr val="323232"/>
                </a:solidFill>
                <a:latin typeface="Calibri"/>
              </a:defRPr>
            </a:pPr>
            <a:r>
              <a:t>  H-bond acceptors &lt;= 10</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All multiples of 5 - hence Rule of Five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Limitations: doesn't apply to natural products, peptides</a:t>
            </a:r>
          </a:p>
          <a:p>
            <a:pPr>
              <a:spcAft>
                <a:spcPts val="800"/>
              </a:spcAft>
              <a:defRPr sz="2000">
                <a:solidFill>
                  <a:srgbClr val="323232"/>
                </a:solidFill>
                <a:latin typeface="Calibri"/>
              </a:defRPr>
            </a:pPr>
            <a:r>
              <a:t>~80% of marketed oral drugs satisfy all four rules</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Machine Learning for QSAR</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Random Forest and XGBoost for molecular property prediction</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XGBoost: Gradient Boosted Trees</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Sequential ensemble: each tree corrects errors of the previous ones</a:t>
            </a:r>
          </a:p>
          <a:p>
            <a:pPr>
              <a:spcAft>
                <a:spcPts val="800"/>
              </a:spcAft>
              <a:defRPr sz="2000">
                <a:solidFill>
                  <a:srgbClr val="323232"/>
                </a:solidFill>
                <a:latin typeface="Calibri"/>
              </a:defRPr>
            </a:pPr>
            <a:r>
              <a:t>Chen &amp; Guestrin (2016), KDD - 'XGBoost: A Scalable Tree Boosting System'</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Advantages over Random Forest:</a:t>
            </a:r>
          </a:p>
          <a:p>
            <a:pPr>
              <a:spcAft>
                <a:spcPts val="800"/>
              </a:spcAft>
              <a:defRPr sz="2000">
                <a:solidFill>
                  <a:srgbClr val="323232"/>
                </a:solidFill>
                <a:latin typeface="Calibri"/>
              </a:defRPr>
            </a:pPr>
            <a:r>
              <a:t>  Often higher accuracy (learns from mistakes)</a:t>
            </a:r>
          </a:p>
          <a:p>
            <a:pPr>
              <a:spcAft>
                <a:spcPts val="800"/>
              </a:spcAft>
              <a:defRPr sz="2000">
                <a:solidFill>
                  <a:srgbClr val="323232"/>
                </a:solidFill>
                <a:latin typeface="Calibri"/>
              </a:defRPr>
            </a:pPr>
            <a:r>
              <a:t>  Regularization built-in (prevents overfitting)</a:t>
            </a:r>
          </a:p>
          <a:p>
            <a:pPr>
              <a:spcAft>
                <a:spcPts val="800"/>
              </a:spcAft>
              <a:defRPr sz="2000">
                <a:solidFill>
                  <a:srgbClr val="323232"/>
                </a:solidFill>
                <a:latin typeface="Calibri"/>
              </a:defRPr>
            </a:pPr>
            <a:r>
              <a:t>  Handles missing values natively</a:t>
            </a:r>
          </a:p>
          <a:p>
            <a:pPr>
              <a:spcAft>
                <a:spcPts val="800"/>
              </a:spcAft>
              <a:defRPr sz="2000">
                <a:solidFill>
                  <a:srgbClr val="323232"/>
                </a:solidFill>
                <a:latin typeface="Calibri"/>
              </a:defRPr>
            </a:pPr>
            <a:r>
              <a:t>  Extremely fast implementation</a:t>
            </a:r>
          </a:p>
          <a:p>
            <a:pPr>
              <a:spcAft>
                <a:spcPts val="800"/>
              </a:spcAft>
              <a:defRPr sz="2000">
                <a:solidFill>
                  <a:srgbClr val="323232"/>
                </a:solidFill>
                <a:latin typeface="Calibri"/>
              </a:defRPr>
            </a:pPr>
          </a:p>
          <a:p>
            <a:pPr>
              <a:spcAft>
                <a:spcPts val="800"/>
              </a:spcAft>
              <a:defRPr sz="2000">
                <a:solidFill>
                  <a:srgbClr val="323232"/>
                </a:solidFill>
                <a:latin typeface="Calibri"/>
              </a:defRPr>
            </a:pPr>
            <a:r>
              <a:t>Common in Kaggle competitions and industrial QSAR</a:t>
            </a:r>
          </a:p>
          <a:p>
            <a:pPr>
              <a:spcAft>
                <a:spcPts val="800"/>
              </a:spcAft>
              <a:defRPr sz="2000">
                <a:solidFill>
                  <a:srgbClr val="323232"/>
                </a:solidFill>
                <a:latin typeface="Calibri"/>
              </a:defRPr>
            </a:pPr>
            <a:r>
              <a:t>Sheridan (2016), J. Chem. Inf. Model. 56:2353-2360</a:t>
            </a:r>
          </a:p>
          <a:p>
            <a:pPr>
              <a:spcAft>
                <a:spcPts val="800"/>
              </a:spcAft>
              <a:defRPr sz="2000">
                <a:solidFill>
                  <a:srgbClr val="323232"/>
                </a:solidFill>
                <a:latin typeface="Calibri"/>
              </a:defRPr>
            </a:pPr>
          </a:p>
          <a:p>
            <a:pPr>
              <a:spcAft>
                <a:spcPts val="800"/>
              </a:spcAft>
              <a:defRPr sz="2000">
                <a:solidFill>
                  <a:srgbClr val="323232"/>
                </a:solidFill>
                <a:latin typeface="Calibri"/>
              </a:defRPr>
            </a:pPr>
            <a:r>
              <a:t>pip install xgboost</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Practical: Predict Aqueous Solubility</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Open: week2_molecular_representation/Week2_Practical.ipynb</a:t>
            </a:r>
          </a:p>
          <a:p>
            <a:pPr>
              <a:spcAft>
                <a:spcPts val="800"/>
              </a:spcAft>
              <a:defRPr sz="2000">
                <a:solidFill>
                  <a:srgbClr val="323232"/>
                </a:solidFill>
                <a:latin typeface="Calibri"/>
              </a:defRPr>
            </a:pPr>
          </a:p>
          <a:p>
            <a:pPr>
              <a:spcAft>
                <a:spcPts val="800"/>
              </a:spcAft>
              <a:defRPr sz="2000">
                <a:solidFill>
                  <a:srgbClr val="323232"/>
                </a:solidFill>
                <a:latin typeface="Calibri"/>
              </a:defRPr>
            </a:pPr>
            <a:r>
              <a:t>Dataset: Delaney solubility dataset (Delaney 2004, JCICS 44:1000-1005)</a:t>
            </a:r>
          </a:p>
          <a:p>
            <a:pPr>
              <a:spcAft>
                <a:spcPts val="800"/>
              </a:spcAft>
              <a:defRPr sz="2000">
                <a:solidFill>
                  <a:srgbClr val="323232"/>
                </a:solidFill>
                <a:latin typeface="Calibri"/>
              </a:defRPr>
            </a:pPr>
            <a:r>
              <a:t>  ~1,128 molecules with measured aqueous solubility (logS)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Steps:</a:t>
            </a:r>
          </a:p>
          <a:p>
            <a:pPr>
              <a:spcAft>
                <a:spcPts val="800"/>
              </a:spcAft>
              <a:defRPr sz="2000">
                <a:solidFill>
                  <a:srgbClr val="323232"/>
                </a:solidFill>
                <a:latin typeface="Calibri"/>
              </a:defRPr>
            </a:pPr>
            <a:r>
              <a:t>  1. Load dataset, parse SMILES with RDKit</a:t>
            </a:r>
          </a:p>
          <a:p>
            <a:pPr>
              <a:spcAft>
                <a:spcPts val="800"/>
              </a:spcAft>
              <a:defRPr sz="2000">
                <a:solidFill>
                  <a:srgbClr val="323232"/>
                </a:solidFill>
                <a:latin typeface="Calibri"/>
              </a:defRPr>
            </a:pPr>
            <a:r>
              <a:t>  2. Generate Morgan fingerprints (ECFP4, 2048 bits)</a:t>
            </a:r>
          </a:p>
          <a:p>
            <a:pPr>
              <a:spcAft>
                <a:spcPts val="800"/>
              </a:spcAft>
              <a:defRPr sz="2000">
                <a:solidFill>
                  <a:srgbClr val="323232"/>
                </a:solidFill>
                <a:latin typeface="Calibri"/>
              </a:defRPr>
            </a:pPr>
            <a:r>
              <a:t>  3. Calculate physicochemical descriptors</a:t>
            </a:r>
          </a:p>
          <a:p>
            <a:pPr>
              <a:spcAft>
                <a:spcPts val="800"/>
              </a:spcAft>
              <a:defRPr sz="2000">
                <a:solidFill>
                  <a:srgbClr val="323232"/>
                </a:solidFill>
                <a:latin typeface="Calibri"/>
              </a:defRPr>
            </a:pPr>
            <a:r>
              <a:t>  4. Train/test split (80/20)</a:t>
            </a:r>
          </a:p>
          <a:p>
            <a:pPr>
              <a:spcAft>
                <a:spcPts val="800"/>
              </a:spcAft>
              <a:defRPr sz="2000">
                <a:solidFill>
                  <a:srgbClr val="323232"/>
                </a:solidFill>
                <a:latin typeface="Calibri"/>
              </a:defRPr>
            </a:pPr>
            <a:r>
              <a:t>  5. Train Random Forest regressor</a:t>
            </a:r>
          </a:p>
          <a:p>
            <a:pPr>
              <a:spcAft>
                <a:spcPts val="800"/>
              </a:spcAft>
              <a:defRPr sz="2000">
                <a:solidFill>
                  <a:srgbClr val="323232"/>
                </a:solidFill>
                <a:latin typeface="Calibri"/>
              </a:defRPr>
            </a:pPr>
            <a:r>
              <a:t>  6. Train XGBoost regressor</a:t>
            </a:r>
          </a:p>
          <a:p>
            <a:pPr>
              <a:spcAft>
                <a:spcPts val="800"/>
              </a:spcAft>
              <a:defRPr sz="2000">
                <a:solidFill>
                  <a:srgbClr val="323232"/>
                </a:solidFill>
                <a:latin typeface="Calibri"/>
              </a:defRPr>
            </a:pPr>
            <a:r>
              <a:t>  7. Compare performance (RMSE, R-squared)</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C3E50"/>
        </a:solidFill>
        <a:effectLst/>
      </p:bgPr>
    </p:bg>
    <p:spTree>
      <p:nvGrpSpPr>
        <p:cNvPr id="1" name=""/>
        <p:cNvGrpSpPr/>
        <p:nvPr/>
      </p:nvGrpSpPr>
      <p:grpSpPr/>
      <p:sp>
        <p:nvSpPr>
          <p:cNvPr id="2" name="TextBox 1"/>
          <p:cNvSpPr txBox="1"/>
          <p:nvPr/>
        </p:nvSpPr>
        <p:spPr>
          <a:xfrm>
            <a:off x="914400" y="457200"/>
            <a:ext cx="10058400" cy="548640"/>
          </a:xfrm>
          <a:prstGeom prst="rect">
            <a:avLst/>
          </a:prstGeom>
          <a:noFill/>
        </p:spPr>
        <p:txBody>
          <a:bodyPr wrap="square">
            <a:spAutoFit/>
          </a:bodyPr>
          <a:lstStyle/>
          <a:p>
            <a:pPr algn="l">
              <a:defRPr sz="1800" b="1">
                <a:solidFill>
                  <a:srgbClr val="1F77B4"/>
                </a:solidFill>
                <a:latin typeface="Calibri"/>
              </a:defRPr>
            </a:pPr>
            <a:r>
              <a:t>DISCUSSION QUESTION</a:t>
            </a:r>
          </a:p>
        </p:txBody>
      </p:sp>
      <p:sp>
        <p:nvSpPr>
          <p:cNvPr id="3" name="TextBox 2"/>
          <p:cNvSpPr txBox="1"/>
          <p:nvPr/>
        </p:nvSpPr>
        <p:spPr>
          <a:xfrm>
            <a:off x="914400" y="1371600"/>
            <a:ext cx="10058400" cy="1828800"/>
          </a:xfrm>
          <a:prstGeom prst="rect">
            <a:avLst/>
          </a:prstGeom>
          <a:noFill/>
        </p:spPr>
        <p:txBody>
          <a:bodyPr wrap="square">
            <a:spAutoFit/>
          </a:bodyPr>
          <a:lstStyle/>
          <a:p>
            <a:pPr algn="ctr">
              <a:defRPr sz="3000" b="1">
                <a:solidFill>
                  <a:srgbClr val="FFFFFF"/>
                </a:solidFill>
                <a:latin typeface="Calibri"/>
              </a:defRPr>
            </a:pPr>
            <a:r>
              <a:t>Two molecules with 85% Tanimoto similarity - would you expect similar bioactivity? Why or why not?</a:t>
            </a:r>
          </a:p>
        </p:txBody>
      </p:sp>
      <p:sp>
        <p:nvSpPr>
          <p:cNvPr id="4" name="TextBox 3"/>
          <p:cNvSpPr txBox="1"/>
          <p:nvPr/>
        </p:nvSpPr>
        <p:spPr>
          <a:xfrm>
            <a:off x="1371600" y="3657600"/>
            <a:ext cx="9144000" cy="2743200"/>
          </a:xfrm>
          <a:prstGeom prst="rect">
            <a:avLst/>
          </a:prstGeom>
          <a:noFill/>
        </p:spPr>
        <p:txBody>
          <a:bodyPr wrap="square">
            <a:spAutoFit/>
          </a:bodyPr>
          <a:lstStyle/>
          <a:p>
            <a:pPr>
              <a:spcAft>
                <a:spcPts val="800"/>
              </a:spcAft>
              <a:defRPr sz="1800">
                <a:solidFill>
                  <a:srgbClr val="F0F0F0"/>
                </a:solidFill>
                <a:latin typeface="Calibri"/>
              </a:defRPr>
            </a:pPr>
            <a:r>
              <a:t>Hint: think about the Similar Property Principle</a:t>
            </a:r>
          </a:p>
          <a:p>
            <a:pPr>
              <a:spcAft>
                <a:spcPts val="800"/>
              </a:spcAft>
              <a:defRPr sz="1800">
                <a:solidFill>
                  <a:srgbClr val="F0F0F0"/>
                </a:solidFill>
                <a:latin typeface="Calibri"/>
              </a:defRPr>
            </a:pPr>
            <a:r>
              <a:t>Counter-hint: search activity cliffs - we will cover this in Week 3</a:t>
            </a:r>
          </a:p>
          <a:p>
            <a:pPr>
              <a:spcAft>
                <a:spcPts val="800"/>
              </a:spcAft>
              <a:defRPr sz="1800">
                <a:solidFill>
                  <a:srgbClr val="F0F0F0"/>
                </a:solidFill>
                <a:latin typeface="Calibri"/>
              </a:defRPr>
            </a:pPr>
            <a:r>
              <a:t>Consider: what does Tanimoto similarity actually measure?</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914400" y="457200"/>
            <a:ext cx="10058400" cy="731520"/>
          </a:xfrm>
          <a:prstGeom prst="rect">
            <a:avLst/>
          </a:prstGeom>
          <a:noFill/>
        </p:spPr>
        <p:txBody>
          <a:bodyPr wrap="square">
            <a:spAutoFit/>
          </a:bodyPr>
          <a:lstStyle/>
          <a:p>
            <a:pPr algn="ctr">
              <a:defRPr sz="2800" b="1">
                <a:solidFill>
                  <a:srgbClr val="FFFFFF"/>
                </a:solidFill>
                <a:latin typeface="Calibri"/>
              </a:defRPr>
            </a:pPr>
            <a:r>
              <a:t>KEY TAKEAWAYS - WEEK 2</a:t>
            </a:r>
          </a:p>
        </p:txBody>
      </p:sp>
      <p:sp>
        <p:nvSpPr>
          <p:cNvPr id="3" name="TextBox 2"/>
          <p:cNvSpPr txBox="1"/>
          <p:nvPr/>
        </p:nvSpPr>
        <p:spPr>
          <a:xfrm>
            <a:off x="1371600" y="1645920"/>
            <a:ext cx="9144000" cy="4572000"/>
          </a:xfrm>
          <a:prstGeom prst="rect">
            <a:avLst/>
          </a:prstGeom>
          <a:noFill/>
        </p:spPr>
        <p:txBody>
          <a:bodyPr wrap="square">
            <a:spAutoFit/>
          </a:bodyPr>
          <a:lstStyle/>
          <a:p>
            <a:pPr>
              <a:spcAft>
                <a:spcPts val="800"/>
              </a:spcAft>
              <a:defRPr sz="2200">
                <a:solidFill>
                  <a:srgbClr val="FFFFFF"/>
                </a:solidFill>
                <a:latin typeface="Calibri"/>
              </a:defRPr>
            </a:pPr>
            <a:r>
              <a:t>SMILES is the standard text representation for molecules</a:t>
            </a:r>
          </a:p>
          <a:p>
            <a:pPr>
              <a:spcAft>
                <a:spcPts val="800"/>
              </a:spcAft>
              <a:defRPr sz="2200">
                <a:solidFill>
                  <a:srgbClr val="FFFFFF"/>
                </a:solidFill>
                <a:latin typeface="Calibri"/>
              </a:defRPr>
            </a:pPr>
            <a:r>
              <a:t>Morgan/ECFP fingerprints convert molecules to fixed-length bit vectors</a:t>
            </a:r>
          </a:p>
          <a:p>
            <a:pPr>
              <a:spcAft>
                <a:spcPts val="800"/>
              </a:spcAft>
              <a:defRPr sz="2200">
                <a:solidFill>
                  <a:srgbClr val="FFFFFF"/>
                </a:solidFill>
                <a:latin typeface="Calibri"/>
              </a:defRPr>
            </a:pPr>
            <a:r>
              <a:t>Tanimoto similarity measures molecular resemblance (0 to 1)</a:t>
            </a:r>
          </a:p>
          <a:p>
            <a:pPr>
              <a:spcAft>
                <a:spcPts val="800"/>
              </a:spcAft>
              <a:defRPr sz="2200">
                <a:solidFill>
                  <a:srgbClr val="FFFFFF"/>
                </a:solidFill>
                <a:latin typeface="Calibri"/>
              </a:defRPr>
            </a:pPr>
            <a:r>
              <a:t>Physicochemical descriptors capture drug-relevant properties</a:t>
            </a:r>
          </a:p>
          <a:p>
            <a:pPr>
              <a:spcAft>
                <a:spcPts val="800"/>
              </a:spcAft>
              <a:defRPr sz="2200">
                <a:solidFill>
                  <a:srgbClr val="FFFFFF"/>
                </a:solidFill>
                <a:latin typeface="Calibri"/>
              </a:defRPr>
            </a:pPr>
            <a:r>
              <a:t>Lipinski's Rule of Five: simple drug-likeness filter</a:t>
            </a:r>
          </a:p>
          <a:p>
            <a:pPr>
              <a:spcAft>
                <a:spcPts val="800"/>
              </a:spcAft>
              <a:defRPr sz="2200">
                <a:solidFill>
                  <a:srgbClr val="FFFFFF"/>
                </a:solidFill>
                <a:latin typeface="Calibri"/>
              </a:defRPr>
            </a:pPr>
            <a:r>
              <a:t>QSAR: predicting activity from molecular structure (since 1964!)</a:t>
            </a:r>
          </a:p>
          <a:p>
            <a:pPr>
              <a:spcAft>
                <a:spcPts val="800"/>
              </a:spcAft>
              <a:defRPr sz="2200">
                <a:solidFill>
                  <a:srgbClr val="FFFFFF"/>
                </a:solidFill>
                <a:latin typeface="Calibri"/>
              </a:defRPr>
            </a:pPr>
            <a:r>
              <a:t>Random Forest and XGBoost: strong baselines for molecular ML</a:t>
            </a:r>
          </a:p>
          <a:p>
            <a:pPr>
              <a:spcAft>
                <a:spcPts val="800"/>
              </a:spcAft>
              <a:defRPr sz="2200">
                <a:solidFill>
                  <a:srgbClr val="FFFFFF"/>
                </a:solidFill>
                <a:latin typeface="Calibri"/>
              </a:defRPr>
            </a:pPr>
            <a:r>
              <a:t>Next week: How do we know if our models are actually good?</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