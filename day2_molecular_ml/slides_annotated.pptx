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ANNOTATED VERSION — COMPREHENSIVE PRESENTER NOTES</a:t>
            </a:r>
          </a:p>
          <a:p/>
          <a:p>
            <a:r>
              <a:t>=== WHAT THIS DECK IS ===</a:t>
            </a:r>
          </a:p>
          <a:p>
            <a:r>
              <a:t>This is the SAME content as Day 2, but with exhaustive notes explaining every concept in plain language. If you are not familiar with a term on any slide, look at these notes for a complete explanation. You do not need to have prior knowledge of chemistry, pharmacology, or machine learning to deliver this lecture — all the key concepts are explained here.</a:t>
            </a:r>
          </a:p>
          <a:p/>
          <a:p>
            <a:r>
              <a:t>=== DAY 2 OVERVIEW ===</a:t>
            </a:r>
          </a:p>
          <a:p>
            <a:r>
              <a:t>Day 2 is the most technically dense day of the course. By the end, students will have:</a:t>
            </a:r>
          </a:p>
          <a:p>
            <a:r>
              <a:t>1. Represented molecules as numbers (SMILES → fingerprints → descriptors)</a:t>
            </a:r>
          </a:p>
          <a:p>
            <a:r>
              <a:t>2. Trained a QSAR model (a machine learning model that predicts drug activity from molecular structure)</a:t>
            </a:r>
          </a:p>
          <a:p>
            <a:r>
              <a:t>3. Evaluated the model correctly (NOT with random splits, but with scaffold splits)</a:t>
            </a:r>
          </a:p>
          <a:p>
            <a:r>
              <a:t>4. Explained the model's predictions using SHAP values</a:t>
            </a:r>
          </a:p>
          <a:p/>
          <a:p>
            <a:r>
              <a:t>The day is split into morning (Units 1-4, ~180 min) and afternoon (Units 5-8, ~180 min) with two 15-minute breaks.</a:t>
            </a:r>
          </a:p>
          <a:p/>
          <a:p>
            <a:r>
              <a:t>=== HOW TO USE THESE NOTES ===</a:t>
            </a:r>
          </a:p>
          <a:p>
            <a:r>
              <a:t>Before each slide, read the notes. They explain:</a:t>
            </a:r>
          </a:p>
          <a:p>
            <a:r>
              <a:t>- What every acronym means</a:t>
            </a:r>
          </a:p>
          <a:p>
            <a:r>
              <a:t>- Why the concept matters</a:t>
            </a:r>
          </a:p>
          <a:p>
            <a:r>
              <a:t>- What to say to the students</a:t>
            </a:r>
          </a:p>
          <a:p>
            <a:r>
              <a:t>- Common questions and misconceptions</a:t>
            </a:r>
          </a:p>
          <a:p>
            <a:r>
              <a:t>- The biology/chemistry context</a:t>
            </a:r>
          </a:p>
          <a:p/>
          <a:p>
            <a:r>
              <a:t>After delivering the lecture once, you will be able to improvise. Until then, these notes are your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MORNING AGENDA — EXPLAINING EACH ITEM ===</a:t>
            </a:r>
          </a:p>
          <a:p/>
          <a:p>
            <a:r>
              <a:t>1. SMILES DEEP DIVE</a:t>
            </a:r>
          </a:p>
          <a:p>
            <a:r>
              <a:t>SMILES = Simplified Molecular Input Line Entry System. This is the text format used to represent molecules as strings. Example: ethanol = 'CCO'. Aspirin = 'CC(=O)Oc1ccccc1C(=O)O'. The deep dive covers the grammar rules (how to read and write SMILES). This matters because ALL molecular ML starts with SMILES as the input.</a:t>
            </a:r>
          </a:p>
          <a:p/>
          <a:p>
            <a:r>
              <a:t>2. MOLECULAR FINGERPRINTS</a:t>
            </a:r>
          </a:p>
          <a:p>
            <a:r>
              <a:t>A fingerprint converts a molecule into a fixed-length binary vector (a sequence of 0s and 1s). Each bit represents whether a specific chemical substructure is present or absent. Morgan/ECFP fingerprints are the most widely used — they are computed by looking at each atom and its local neighborhood in the molecular graph. Tanimoto similarity is a measure of how similar two fingerprints are (like Jaccard similarity for sets: 0 = completely different, 1 = identical).</a:t>
            </a:r>
          </a:p>
          <a:p/>
          <a:p>
            <a:r>
              <a:t>3. FEATURE ENGINEERING</a:t>
            </a:r>
          </a:p>
          <a:p>
            <a:r>
              <a:t>In addition to fingerprints, we compute 'descriptors' — quantitative properties of a molecule like: molecular weight (MW), how fat-soluble it is (LogP), how many hydrogen bond donors/acceptors it has (HBD/HBA), how much surface area is polar (TPSA). These are used in Lipinski's Rule of Five (a set of rules that predict whether a drug can be taken as a pill) and BBB rules (which predict if a drug can cross the blood-brain barrier to reach the brain).</a:t>
            </a:r>
          </a:p>
          <a:p/>
          <a:p>
            <a:r>
              <a:t>4. QSAR — QUANTITATIVE STRUCTURE-ACTIVITY RELATIONSHIPS</a:t>
            </a:r>
          </a:p>
          <a:p>
            <a:r>
              <a:t>This is the main topic. QSAR = using ML to predict a biological activity (like 'how strongly does this molecule inhibit this protein') from molecular structure. Workflow: get molecular features (fingerprints + descriptors) → train RF/XGBoost → evaluate → predict for new molecules.</a:t>
            </a:r>
          </a:p>
          <a:p/>
          <a:p>
            <a:r>
              <a:t>5. ML BASELINES: RANDOM FOREST &amp; XGBOOST</a:t>
            </a:r>
          </a:p>
          <a:p>
            <a:r>
              <a:t>Two powerful, non-deep-learning ML algorithms that work very well for QSAR:</a:t>
            </a:r>
          </a:p>
          <a:p>
            <a:r>
              <a:t>- Random Forest: build many independent decision trees, average their predictions</a:t>
            </a:r>
          </a:p>
          <a:p>
            <a:r>
              <a:t>- XGBoost: build trees sequentially, each correcting the previous tree's errors</a:t>
            </a:r>
          </a:p>
          <a:p>
            <a:r>
              <a:t>Both are excellent starting points before considering more complex models.</a:t>
            </a:r>
          </a:p>
          <a:p/>
          <a:p>
            <a:r>
              <a:t>6. PRACTICAL 1</a:t>
            </a:r>
          </a:p>
          <a:p>
            <a:r>
              <a:t>Students build their own QSAR model using Python, RDKit, and scikit-learn. The dataset is Delaney solubility (1,128 molecules with measured aqueous solubility values). Goal: predict log(solubility) from molecular structure.</a:t>
            </a:r>
          </a:p>
          <a:p/>
          <a:p>
            <a:r>
              <a:t>CNS DRUG FOCUS: blood-brain barrier (BBB) penetration and neuroscience drug targets come up repeatedly as examples throughout the morning. This is relevant because many students' projects will involve CNS drugs.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SMILES DEEP DIVE — WHAT THIS SECTION IS ===</a:t>
            </a:r>
          </a:p>
          <a:p/>
          <a:p>
            <a:r>
              <a:t>SMILES (Simplified Molecular Input Line Entry System) was invented by David Weininger at Daylight Chemical Information Systems in 1988. The problem he solved: how do you put a chemical structure into a computer?</a:t>
            </a:r>
          </a:p>
          <a:p/>
          <a:p>
            <a:r>
              <a:t>Before SMILES, there were complicated graph-based formats (MDL Molfile) that were hard to type and not human-readable. Weininger realized: if you do a depth-first traversal of the molecular graph and write down each atom and bond, you get a compact, human-readable string.</a:t>
            </a:r>
          </a:p>
          <a:p/>
          <a:p>
            <a:r>
              <a:t>Why teach SMILES as the first topic?</a:t>
            </a:r>
          </a:p>
          <a:p>
            <a:r>
              <a:t>Because EVERY molecular ML pipeline starts with SMILES. The molecule enters the model as a SMILES string, and from that string, all other representations are computed (fingerprints, graphs, 3D coordinates). If students don't understand SMILES, they can't understand the rest.</a:t>
            </a:r>
          </a:p>
          <a:p/>
          <a:p>
            <a:r>
              <a:t>TIMING: You should get through this section (slides 4-5) in about 15 minutes total. Use the whiteboard or a drawing on screen to supplement the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SMILES SYNTAX — FULL EXPLANATION ===</a:t>
            </a:r>
          </a:p>
          <a:p/>
          <a:p>
            <a:r>
              <a:t>ATOMS:</a:t>
            </a:r>
          </a:p>
          <a:p>
            <a:r>
              <a:t>Each atom is written as its elemental symbol. For the 'organic subset' (C, N, O, S, P, F, Cl, Br, I), hydrogens are IMPLICIT — you don't write them. The number of hydrogens is inferred by the standard valence rules:</a:t>
            </a:r>
          </a:p>
          <a:p>
            <a:r>
              <a:t>- Carbon (C): valence 4. If written as 'C' with 1 bond, it has 3 implicit H. With 4 bonds, it has 0 implicit H.</a:t>
            </a:r>
          </a:p>
          <a:p>
            <a:r>
              <a:t>- Nitrogen (N): valence 3 normally. 'N' with no bonds = NH3 (three implicit H).</a:t>
            </a:r>
          </a:p>
          <a:p>
            <a:r>
              <a:t>- Oxygen (O): valence 2. 'O' with no bonds = H2O (two implicit H).</a:t>
            </a:r>
          </a:p>
          <a:p>
            <a:r>
              <a:t>Atoms outside the organic subset (like metal ions) must be written in brackets with explicit hydrogens: [Fe++], [NH4+].</a:t>
            </a:r>
          </a:p>
          <a:p/>
          <a:p>
            <a:r>
              <a:t>BONDS:</a:t>
            </a:r>
          </a:p>
          <a:p>
            <a:r>
              <a:t>- Single bond: write nothing between atoms (CC = ethane: two carbons each connected to the other and implicit H)</a:t>
            </a:r>
          </a:p>
          <a:p>
            <a:r>
              <a:t>- Double bond: use '=' sign (C=C is ethylene, C=O is formaldehyde/carbonyl)</a:t>
            </a:r>
          </a:p>
          <a:p>
            <a:r>
              <a:t>- Triple bond: use '#' (C#N is hydrogen cyanide, C#C is acetylene)</a:t>
            </a:r>
          </a:p>
          <a:p>
            <a:r>
              <a:t>- Aromatic bond: use ':' or lowercase letters (c:c or cc in aromatic ring)</a:t>
            </a:r>
          </a:p>
          <a:p/>
          <a:p>
            <a:r>
              <a:t>BRANCHING:</a:t>
            </a:r>
          </a:p>
          <a:p>
            <a:r>
              <a:t>When the chain branches, put the branch in parentheses.</a:t>
            </a:r>
          </a:p>
          <a:p>
            <a:r>
              <a:t>CC(=O)O = acetic acid (vinegar):</a:t>
            </a:r>
          </a:p>
          <a:p>
            <a:r>
              <a:t>- First C = methyl</a:t>
            </a:r>
          </a:p>
          <a:p>
            <a:r>
              <a:t>- Second C connects to: =O (double bond oxygen, the carbonyl) AND O (hydroxyl, from the parenthesis and the continuing chain)</a:t>
            </a:r>
          </a:p>
          <a:p>
            <a:r>
              <a:t>- Full structure: CH3-C(=O)-OH = CH3COOH = acetic acid</a:t>
            </a:r>
          </a:p>
          <a:p/>
          <a:p>
            <a:r>
              <a:t>RINGS:</a:t>
            </a:r>
          </a:p>
          <a:p>
            <a:r>
              <a:t>To represent a ring, you start at one atom, give it a number (the 'ring closure digit'), traverse the ring, and when you return to close it, write the same number again.</a:t>
            </a:r>
          </a:p>
          <a:p>
            <a:r>
              <a:t>C1CCCCC1 = cyclohexane: start at carbon (labeled '1'), traverse 5 more carbons, close back to '1'. The ring is formed.</a:t>
            </a:r>
          </a:p>
          <a:p>
            <a:r>
              <a:t>c1ccccc1 = benzene: same but lowercase (aromatic). The Kekulé structure would alternate single and double bonds, but SMILES shorthand uses lowercase.</a:t>
            </a:r>
          </a:p>
          <a:p/>
          <a:p>
            <a:r>
              <a:t>CANONICAL SMILES:</a:t>
            </a:r>
          </a:p>
          <a:p>
            <a:r>
              <a:t>Multiple SMILES strings can represent the same molecule (you can traverse the graph starting from any atom). CCO and OCC and C(C)O all represent ethanol. Canonical SMILES is the unique, standardized form — always the same for a given molecule. RDKit: Chem.MolToSmiles(mol).</a:t>
            </a:r>
          </a:p>
          <a:p/>
          <a:p>
            <a:r>
              <a:t>ALTERNATIVES:</a:t>
            </a:r>
          </a:p>
          <a:p>
            <a:r>
              <a:t>- SELFIES (Self-Referencing Embedded Strings, Krenn et al. 2020): a newer encoding where every possible SELFIES string decodes to a valid molecule (SMILES can produce invalid strings). Better for generative ML models.</a:t>
            </a:r>
          </a:p>
          <a:p>
            <a:r>
              <a:t>- InChI (International Chemical Identifier): IUPAC standard, hierarchical. More information than SMILES but not as human-readable.</a:t>
            </a:r>
          </a:p>
          <a:p>
            <a:r>
              <a:t>- DeepSMILES: modified SMILES designed for character-based neural networks (avoids some issues with branch parentheses and ring closure digits).</a:t>
            </a:r>
          </a:p>
          <a:p/>
          <a:p>
            <a:r>
              <a:t>DRAW ON THE BOARD: Draw benzene (a hexagon) and show how c1ccccc1 traverses it. Draw aspirin and show how the SMILES represents each part. This visual always helps.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SMILES PRACTICE — DETAILED EXPLANATIONS ===</a:t>
            </a:r>
          </a:p>
          <a:p/>
          <a:p>
            <a:r>
              <a:t>This is an interactive slide. Give students 2 minutes to try to decode the SMILES, then reveal one by one.</a:t>
            </a:r>
          </a:p>
          <a:p/>
          <a:p>
            <a:r>
              <a:t>1. SEROTONIN: NCCc1c[nH]c2ccc(O)cc12</a:t>
            </a:r>
          </a:p>
          <a:p>
            <a:r>
              <a:t>Let's parse this:</a:t>
            </a:r>
          </a:p>
          <a:p>
            <a:r>
              <a:t>- NCC: an ethylamine chain (NH2 - CH2 - CH2)</a:t>
            </a:r>
          </a:p>
          <a:p>
            <a:r>
              <a:t>- c1c[nH]c2ccc(O)cc12: an indole ring system. The '1' and '2' are ring closure labels. The [nH] is an aromatic nitrogen with one hydrogen.</a:t>
            </a:r>
          </a:p>
          <a:p>
            <a:r>
              <a:t>- Full structure: 5-hydroxytryptamine (5-HT). The 'N' side chain is the amine, the 'OH' at the ccc(O) part is the 5-hydroxy group.</a:t>
            </a:r>
          </a:p>
          <a:p>
            <a:r>
              <a:t>- PHARMACOLOGY: Serotonin is a neurotransmitter synthesized from tryptophan. Its receptors include: 5-HT1A (targeted by buspirone for anxiety), 5-HT2A (targeted by atypical antipsychotics, LSD), 5-HT3 (ion channel, targeted by ondansetron for nausea), SERT (serotonin reuptake transporter, targeted by SSRIs like fluoxetine/Prozac).</a:t>
            </a:r>
          </a:p>
          <a:p>
            <a:r>
              <a:t>- DOES NOT CROSS BBB: Serotonin is hydrophilic (LogP ~ 0.2) and does not cross the BBB well. SSRIs work by blocking reuptake of serotonin IN the brain (they cross the BBB because they're more lipophilic).</a:t>
            </a:r>
          </a:p>
          <a:p/>
          <a:p>
            <a:r>
              <a:t>2. DOPAMINE: NCCc1ccc(O)c(O)c1</a:t>
            </a:r>
          </a:p>
          <a:p>
            <a:r>
              <a:t>- NCC: ethylamine (same as serotonin's side chain!)</a:t>
            </a:r>
          </a:p>
          <a:p>
            <a:r>
              <a:t>- c1ccc(O)c(O)c1: catechol ring (a benzene ring with two adjacent OH groups)</a:t>
            </a:r>
          </a:p>
          <a:p>
            <a:r>
              <a:t>- Full structure: 3,4-dihydroxyphenethylamine. The catechol + ethylamine structure.</a:t>
            </a:r>
          </a:p>
          <a:p>
            <a:r>
              <a:t>- PHARMACOLOGY: Dopamine = motivation, reward, motor control. Parkinson's disease = loss of dopaminergic neurons in the substantia nigra. Treatment: L-DOPA (which crosses BBB, is converted to dopamine by DOPA decarboxylase). Antipsychotics (haloperidol, clozapine) block D2 receptors.</a:t>
            </a:r>
          </a:p>
          <a:p>
            <a:r>
              <a:t>- DOES NOT CROSS BBB: dopamine doesn't cross BBB (too hydrophilic, no BBB transporter). L-DOPA does (uses the large neutral amino acid transporter).</a:t>
            </a:r>
          </a:p>
          <a:p/>
          <a:p>
            <a:r>
              <a:t>3. GABA: NCCCC(=O)O</a:t>
            </a:r>
          </a:p>
          <a:p>
            <a:r>
              <a:t>- N: amine group (NH2)</a:t>
            </a:r>
          </a:p>
          <a:p>
            <a:r>
              <a:t>- CCC: three carbons</a:t>
            </a:r>
          </a:p>
          <a:p>
            <a:r>
              <a:t>- C(=O)O: carboxylic acid (COOH)</a:t>
            </a:r>
          </a:p>
          <a:p>
            <a:r>
              <a:t>- Full structure: gamma-aminobutyric acid. The main INHIBITORY neurotransmitter.</a:t>
            </a:r>
          </a:p>
          <a:p>
            <a:r>
              <a:t>- PHARMACOLOGY: GABA-A (Cl- channel, ionotropic) and GABA-B (GPCR, metabotropic). Diazepam (Valium) potentiates GABA-A. Alcohol activates GABA-A. Gabapentin (for epilepsy, pain) modulates GABA metabolism. GABA-A is in the Cys-loop receptor superfamily, same as GluCl.</a:t>
            </a:r>
          </a:p>
          <a:p/>
          <a:p>
            <a:r>
              <a:t>4. ASPIRIN: CC(=O)Oc1ccccc1C(=O)O</a:t>
            </a:r>
          </a:p>
          <a:p>
            <a:r>
              <a:t>- CC(=O)O: acetyl ester (the acetyl group connected via oxygen)</a:t>
            </a:r>
          </a:p>
          <a:p>
            <a:r>
              <a:t>- c1ccccc1: benzene ring</a:t>
            </a:r>
          </a:p>
          <a:p>
            <a:r>
              <a:t>- C(=O)O: carboxylic acid</a:t>
            </a:r>
          </a:p>
          <a:p>
            <a:r>
              <a:t>- Full structure: acetylsalicylic acid</a:t>
            </a:r>
          </a:p>
          <a:p>
            <a:r>
              <a:t>- PHARMACOLOGY: COX-1/COX-2 inhibitor. Blocks prostaglandin synthesis → reduces inflammation, pain, fever. Low dose: prevents platelet aggregation → prevents heart attacks/strokes.</a:t>
            </a:r>
          </a:p>
          <a:p/>
          <a:p>
            <a:r>
              <a:t>5. CAFFEINE: Cn1c(=O)c2c(ncn2C)n(C)c1=O</a:t>
            </a:r>
          </a:p>
          <a:p>
            <a:r>
              <a:t>- Complex purine ring system (xanthine scaffold with 3 methyl groups)</a:t>
            </a:r>
          </a:p>
          <a:p>
            <a:r>
              <a:t>- Adenosine A1/A2A receptor ANTAGONIST. Adenosine normally makes you sleepy. Caffeine blocks adenosine → you feel alert.</a:t>
            </a:r>
          </a:p>
          <a:p>
            <a:r>
              <a:t>- LogP = -0.07 (quite water-soluble), MW = 194 Da. Very efficiently crosses the BBB!</a:t>
            </a:r>
          </a:p>
          <a:p/>
          <a:p>
            <a:r>
              <a:t>KEY TEACHING POINT: Ask students to notice how GABA (NCCCC(=O)O) is much simpler than serotonin or caffeine. But GABA is the main inhibitory neurotransmitter in the brain — biological importance doesn't correlate with molecular complexity.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MOLECULAR FINGERPRINTS — WHAT THIS SECTION IS ===</a:t>
            </a:r>
          </a:p>
          <a:p/>
          <a:p>
            <a:r>
              <a:t>WHY DO WE NEED FINGERPRINTS?</a:t>
            </a:r>
          </a:p>
          <a:p>
            <a:r>
              <a:t>SMILES is text. Machine learning algorithms need numbers (floating point vectors or binary vectors). Fingerprints convert the molecular STRUCTURE into a fixed-length vector of 0s and 1s. This is the representation used for virtually all classical ML methods (Random Forest, XGBoost, SVM) in drug discovery.</a:t>
            </a:r>
          </a:p>
          <a:p/>
          <a:p>
            <a:r>
              <a:t>WHY NOT JUST USE THE SMILES STRING DIRECTLY?</a:t>
            </a:r>
          </a:p>
          <a:p>
            <a:r>
              <a:t>You could train a recurrent neural network or Transformer on SMILES strings (some models do this). But for classical ML (Random Forest, XGBoost), you need a fixed-length input vector. Fingerprints provide this. Also, fingerprints are rotation/translation invariant — the same molecule always gets the same fingerprint regardless of how you draw it.</a:t>
            </a:r>
          </a:p>
          <a:p/>
          <a:p>
            <a:r>
              <a:t>WHY NOT JUST USE DESCRIPTORS?</a:t>
            </a:r>
          </a:p>
          <a:p>
            <a:r>
              <a:t>Descriptors (MW, LogP, etc.) lose structural information — you can't recover the molecule from its descriptors. Fingerprints preserve more structural information. In practice, combining fingerprints + descriptors is the best classical approach.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MOLECULAR FINGERPRINTS — FULL EXPLANATION ===</a:t>
            </a:r>
          </a:p>
          <a:p/>
          <a:p>
            <a:r>
              <a:t>THE CONCEPT:</a:t>
            </a:r>
          </a:p>
          <a:p>
            <a:r>
              <a:t>A fingerprint is a binary vector (a list of 0s and 1s). Imagine a 2048-element list. Each position in the list represents a specific chemical substructure. If the molecule CONTAINS that substructure, the bit is 1. If not, it's 0.</a:t>
            </a:r>
          </a:p>
          <a:p/>
          <a:p>
            <a:r>
              <a:t>ANALOGY: Think of a 'chemical checklist'. Does the molecule have a benzene ring? → bit 47 = 1. Does it have a carboxylic acid? → bit 312 = 1. Does it have a fluorine on an aromatic ring? → bit 891 = 0 (if it doesn't). The full list of 0s and 1s is the 'fingerprint'.</a:t>
            </a:r>
          </a:p>
          <a:p/>
          <a:p>
            <a:r>
              <a:t>TYPE 1 — STRUCTURAL KEYS (MACCS):</a:t>
            </a:r>
          </a:p>
          <a:p>
            <a:r>
              <a:t>Uses 166 predefined substructure questions. Was the dominant fingerprint type in the 1990s. The questions are fixed (e.g., 'does it have a thiocarbonyl?'). Limitation: only 166 bits → limited resolution. A molecule can be complex but the fingerprint only captures the 166 predefined patterns.</a:t>
            </a:r>
          </a:p>
          <a:p/>
          <a:p>
            <a:r>
              <a:t>TYPE 2 — TOPOLOGICAL (RDKit FP):</a:t>
            </a:r>
          </a:p>
          <a:p>
            <a:r>
              <a:t>Enumerate all paths up to a certain length through the molecular graph. Hash each path to a bit position. More flexible than structural keys but still path-based.</a:t>
            </a:r>
          </a:p>
          <a:p/>
          <a:p>
            <a:r>
              <a:t>TYPE 3 — CIRCULAR (Morgan/ECFP) — the standard today:</a:t>
            </a:r>
          </a:p>
          <a:p>
            <a:r>
              <a:t>Instead of paths, look at the LOCAL ENVIRONMENT around each atom. For each atom, collect information about all atoms within radius r (r=2 for ECFP4). Hash the combined information to a bit position.</a:t>
            </a:r>
          </a:p>
          <a:p/>
          <a:p>
            <a:r>
              <a:t>WHY 'CIRCULAR'? If you draw a circle of radius r around each atom and look at all atoms inside that circle, you get a 'circular' neighborhood. Radius 2 = 2 bonds away from the center atom.</a:t>
            </a:r>
          </a:p>
          <a:p/>
          <a:p>
            <a:r>
              <a:t>WHY THIS WORKS WELL:</a:t>
            </a:r>
          </a:p>
          <a:p>
            <a:r>
              <a:t>Biological activity depends on LOCAL chemical environments. A nitrogen next to two aromatic rings in a particular configuration creates a specific 3D shape and electronics that match a receptor pocket. ECFP captures this local pattern.</a:t>
            </a:r>
          </a:p>
          <a:p/>
          <a:p>
            <a:r>
              <a:t>THE CODE (RDKit):</a:t>
            </a:r>
          </a:p>
          <a:p>
            <a:r>
              <a:t>from rdkit import Chem</a:t>
            </a:r>
          </a:p>
          <a:p>
            <a:r>
              <a:t>from rdkit.Chem import AllChem</a:t>
            </a:r>
          </a:p>
          <a:p>
            <a:r>
              <a:t>mol = Chem.MolFromSmiles('CCO')  # Parse SMILES</a:t>
            </a:r>
          </a:p>
          <a:p>
            <a:r>
              <a:t>fp = AllChem.GetMorganFingerprintAsBitVect(mol, radius=2, nBits=2048)</a:t>
            </a:r>
          </a:p>
          <a:p>
            <a:r>
              <a:t>fp_array = list(fp)  # Convert to Python list of 0s and 1s</a:t>
            </a:r>
          </a:p>
          <a:p>
            <a:r>
              <a:t># This 2048-element list is the fingerprint</a:t>
            </a:r>
          </a:p>
          <a:p/>
          <a:p>
            <a:r>
              <a:t>For scikit-learn, you need a numpy array:</a:t>
            </a:r>
          </a:p>
          <a:p>
            <a:r>
              <a:t>import numpy as np</a:t>
            </a:r>
          </a:p>
          <a:p>
            <a:r>
              <a:t>fp_array = np.array(fp)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MORGAN ALGORITHM — STEP BY STEP ===</a:t>
            </a:r>
          </a:p>
          <a:p/>
          <a:p>
            <a:r>
              <a:t>Let me walk through a concrete example. Consider a molecule with 5 atoms: A-B-C-D-E (a simple chain). We'll compute the ECFP4 (radius 2) fingerprint for atom C.</a:t>
            </a:r>
          </a:p>
          <a:p/>
          <a:p>
            <a:r>
              <a:t>STEP 1 — INITIAL IDENTIFIERS:</a:t>
            </a:r>
          </a:p>
          <a:p>
            <a:r>
              <a:t>Each atom gets an initial identifier based on its properties:</a:t>
            </a:r>
          </a:p>
          <a:p>
            <a:r>
              <a:t>- Atomic number (is it C, N, O...?)</a:t>
            </a:r>
          </a:p>
          <a:p>
            <a:r>
              <a:t>- Degree (how many bonds does it have?)</a:t>
            </a:r>
          </a:p>
          <a:p>
            <a:r>
              <a:t>- Number of hydrogens</a:t>
            </a:r>
          </a:p>
          <a:p>
            <a:r>
              <a:t>- Formal charge</a:t>
            </a:r>
          </a:p>
          <a:p>
            <a:r>
              <a:t>- Is it in a ring?</a:t>
            </a:r>
          </a:p>
          <a:p>
            <a:r>
              <a:t>- Is it aromatic?</a:t>
            </a:r>
          </a:p>
          <a:p>
            <a:r>
              <a:t>These are hashed into a single integer (the 'initial identifier').</a:t>
            </a:r>
          </a:p>
          <a:p>
            <a:r>
              <a:t>For atom C (the middle): it has bonds to B and D, so degree 2. Identifier = hash(C_properties).</a:t>
            </a:r>
          </a:p>
          <a:p/>
          <a:p>
            <a:r>
              <a:t>STEP 2 — RADIUS 1 ITERATION:</a:t>
            </a:r>
          </a:p>
          <a:p>
            <a:r>
              <a:t>For atom C: collect the identifiers of A (radius-2 from C), B (radius-1), D (radius-1), E (radius-2).</a:t>
            </a:r>
          </a:p>
          <a:p>
            <a:r>
              <a:t>At radius 1: we see B and D.</a:t>
            </a:r>
          </a:p>
          <a:p>
            <a:r>
              <a:t>New identifier for C at radius 1 = hash(C_r0, B_r0, D_r0) where r0 means the initial identifier.</a:t>
            </a:r>
          </a:p>
          <a:p/>
          <a:p>
            <a:r>
              <a:t>STEP 3 — RADIUS 2 ITERATION:</a:t>
            </a:r>
          </a:p>
          <a:p>
            <a:r>
              <a:t>At radius 2 from C: we also see A and E.</a:t>
            </a:r>
          </a:p>
          <a:p>
            <a:r>
              <a:t>New identifier for C at radius 2 = hash(C_r1, A_r0, B_r1, D_r1, E_r0).</a:t>
            </a:r>
          </a:p>
          <a:p/>
          <a:p>
            <a:r>
              <a:t>STEP 4 — COLLECT ALL IDENTIFIERS:</a:t>
            </a:r>
          </a:p>
          <a:p>
            <a:r>
              <a:t>We do this for EVERY atom in the molecule (A, B, C, D, E), at each radius level (0, 1, 2 for ECFP4). We collect all the integers.</a:t>
            </a:r>
          </a:p>
          <a:p/>
          <a:p>
            <a:r>
              <a:t>STEP 5 — BIT MAPPING:</a:t>
            </a:r>
          </a:p>
          <a:p>
            <a:r>
              <a:t>Each integer is mapped to a bit position: integer mod 2048 (for 2048-bit fingerprint). Set that bit to 1.</a:t>
            </a:r>
          </a:p>
          <a:p/>
          <a:p>
            <a:r>
              <a:t>COLLISIONS: Two different substructures might map to the same bit (hash collision). With 2048 bits, this is rare but happens. Count fingerprints (not bit fingerprints) avoid this but are not fixed-length.</a:t>
            </a:r>
          </a:p>
          <a:p/>
          <a:p>
            <a:r>
              <a:t>WHY ECFP4 &gt; ECFP6 FOR MANY TASKS?</a:t>
            </a:r>
          </a:p>
          <a:p>
            <a:r>
              <a:t>ECFP4 captures local environments (2 bonds). ECFP6 captures larger environments (3 bonds). For activity prediction: activity is often determined by a specific functional group + local context (2-3 bonds). ECFP6 can sometimes over-specify (the fingerprint becomes too specific, two similar molecules look very different).</a:t>
            </a:r>
          </a:p>
          <a:p/>
          <a:p>
            <a:r>
              <a:t>TANIMOTO COEFFICIENT:</a:t>
            </a:r>
          </a:p>
          <a:p>
            <a:r>
              <a:t>Mathematical definition: |A ∩ B| / |A ∪ B| where A and B are the SET of 'on' bits in the two fingerprints.</a:t>
            </a:r>
          </a:p>
          <a:p>
            <a:r>
              <a:t>Example: Fingerprint A has bits {1, 5, 7, 12} on. Fingerprint B has bits {1, 3, 7, 15} on.</a:t>
            </a:r>
          </a:p>
          <a:p>
            <a:r>
              <a:t>A ∩ B (shared): {1, 7} = 2 bits</a:t>
            </a:r>
          </a:p>
          <a:p>
            <a:r>
              <a:t>A ∪ B (combined): {1, 3, 5, 7, 12, 15} = 6 bits</a:t>
            </a:r>
          </a:p>
          <a:p>
            <a:r>
              <a:t>Tanimoto = 2/6 = 0.33</a:t>
            </a:r>
          </a:p>
          <a:p/>
          <a:p>
            <a:r>
              <a:t>SIMILAR PROPERTY PRINCIPLE: molecules with similar structures tend to have similar biological activity. The rule of thumb: Tanimoto &gt; 0.85 → likely in the same chemical series, similar activity. But ACTIVITY CLIFFS exist — this will be discussed in the afternoon.</a:t>
            </a:r>
          </a:p>
          <a:p/>
          <a:p>
            <a:r>
              <a:t>CONNECTION TO DAY 3: The Morgan algorithm is essentially the same as message passing in a Graph Neural Network (GNN). In GNNs, instead of hashing the neighborhood information, you LEARN how to combine it (trainable weights). Same concept, much more powerful.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FEATURE ENGINEERING — FULL EXPLANATION ===</a:t>
            </a:r>
          </a:p>
          <a:p/>
          <a:p>
            <a:r>
              <a:t>WHAT ARE 'PHYSICOCHEMICAL DESCRIPTORS'?</a:t>
            </a:r>
          </a:p>
          <a:p>
            <a:r>
              <a:t>These are numbers computed from molecular structure that describe PHYSICAL and CHEMICAL properties of the molecule. Unlike fingerprints (which are binary), descriptors are continuous numbers.</a:t>
            </a:r>
          </a:p>
          <a:p/>
          <a:p>
            <a:r>
              <a:t>KEY DESCRIPTORS EXPLAINED:</a:t>
            </a:r>
          </a:p>
          <a:p/>
          <a:p>
            <a:r>
              <a:t>MW (Molecular Weight):</a:t>
            </a:r>
          </a:p>
          <a:p>
            <a:r>
              <a:t>The mass of the molecule in Daltons (Da) or g/mol. Ethanol = 46 Da. Aspirin = 180 Da. Herceptin (trastuzumab, a monoclonal antibody) = ~148,000 Da. Small molecule drugs are typically 200-500 Da.</a:t>
            </a:r>
          </a:p>
          <a:p>
            <a:r>
              <a:t>For ML: larger molecules are harder to dose (you'd need a very large pill), harder to absorb, harder to get across cell membranes.</a:t>
            </a:r>
          </a:p>
          <a:p/>
          <a:p>
            <a:r>
              <a:t>LogP (Octanol-Water Partition Coefficient):</a:t>
            </a:r>
          </a:p>
          <a:p>
            <a:r>
              <a:t>If you shake a drug with a mixture of octanol (a fatty liquid) and water, some drug goes to the octanol phase and some to the water phase. P = [octanol] / [water]. LogP = log10(P).</a:t>
            </a:r>
          </a:p>
          <a:p>
            <a:r>
              <a:t>LogP = 0: equally distributed (50/50).</a:t>
            </a:r>
          </a:p>
          <a:p>
            <a:r>
              <a:t>LogP = 3: 1000× more in octanol → lipophilic (fatty/oily).</a:t>
            </a:r>
          </a:p>
          <a:p>
            <a:r>
              <a:t>LogP = -2: 100× more in water → hydrophilic (water-loving).</a:t>
            </a:r>
          </a:p>
          <a:p>
            <a:r>
              <a:t>Matters because: oral absorption requires crossing the lipid bilayer of intestinal cells → needs some lipophilicity. BBB penetration also requires lipophilicity. But too lipophilic → poor aqueous solubility → can't dissolve in stomach contents.</a:t>
            </a:r>
          </a:p>
          <a:p/>
          <a:p>
            <a:r>
              <a:t>HBD (Hydrogen Bond Donors):</a:t>
            </a:r>
          </a:p>
          <a:p>
            <a:r>
              <a:t>Atoms with N-H or O-H bonds that can DONATE a hydrogen bond. Examples: -OH (hydroxyl), -NH2 (amine), -COOH (carboxylic acid). Count of these groups.</a:t>
            </a:r>
          </a:p>
          <a:p>
            <a:r>
              <a:t>Too many HBDs → molecule is 'sticky', can't easily pass through lipid membranes.</a:t>
            </a:r>
          </a:p>
          <a:p/>
          <a:p>
            <a:r>
              <a:t>HBA (Hydrogen Bond Acceptors):</a:t>
            </a:r>
          </a:p>
          <a:p>
            <a:r>
              <a:t>Atoms (typically N and O) that can ACCEPT a hydrogen bond (they have lone electron pairs). Count of N and O atoms.</a:t>
            </a:r>
          </a:p>
          <a:p/>
          <a:p>
            <a:r>
              <a:t>TPSA (Total Polar Surface Area):</a:t>
            </a:r>
          </a:p>
          <a:p>
            <a:r>
              <a:t>The surface area of all polar atoms (N, O, and attached H). Measured in Å² (square angstroms).</a:t>
            </a:r>
          </a:p>
          <a:p>
            <a:r>
              <a:t>TPSA &gt; 140 Å² → likely can't cross cell membranes.</a:t>
            </a:r>
          </a:p>
          <a:p>
            <a:r>
              <a:t>TPSA &lt; 90 Å² → recommended for CNS drugs.</a:t>
            </a:r>
          </a:p>
          <a:p/>
          <a:p>
            <a:r>
              <a:t>LIPINSKI'S RULE OF FIVE (Ro5):</a:t>
            </a:r>
          </a:p>
          <a:p>
            <a:r>
              <a:t>In 1997, Christopher Lipinski at Pfizer analyzed all FDA-approved drugs and identified that those with good oral bioavailability had:</a:t>
            </a:r>
          </a:p>
          <a:p>
            <a:r>
              <a:t>1. MW ≤ 500 (molecular weight)</a:t>
            </a:r>
          </a:p>
          <a:p>
            <a:r>
              <a:t>2. LogP ≤ 5 (lipophilicity)</a:t>
            </a:r>
          </a:p>
          <a:p>
            <a:r>
              <a:t>3. HBD ≤ 5 (hydrogen bond donors)</a:t>
            </a:r>
          </a:p>
          <a:p>
            <a:r>
              <a:t>4. HBA ≤ 10 (hydrogen bond acceptors)</a:t>
            </a:r>
          </a:p>
          <a:p>
            <a:r>
              <a:t>All four numbers are divisible by 5 (hence 'Rule of Five'). Called 'Rule of Five' but it's actually four rules. If 2+ are violated, oral absorption is poor.</a:t>
            </a:r>
          </a:p>
          <a:p/>
          <a:p>
            <a:r>
              <a:t>EXCEPTIONS: biologics (antibodies, proteins) BREAK the Ro5 but are injected, not taken orally. Natural products (antibiotics like ivermectin, erythromycin) often break Ro5 but use active transporters. The Ro5 applies to passive diffusion.</a:t>
            </a:r>
          </a:p>
          <a:p/>
          <a:p>
            <a:r>
              <a:t>RDKIT CODE:</a:t>
            </a:r>
          </a:p>
          <a:p>
            <a:r>
              <a:t>from rdkit.Chem import Descriptors</a:t>
            </a:r>
          </a:p>
          <a:p>
            <a:r>
              <a:t>mw = Descriptors.MolWt(mol)</a:t>
            </a:r>
          </a:p>
          <a:p>
            <a:r>
              <a:t>logp = Descriptors.MolLogP(mol)</a:t>
            </a:r>
          </a:p>
          <a:p>
            <a:r>
              <a:t>hbd = Descriptors.NumHDonors(mol)</a:t>
            </a:r>
          </a:p>
          <a:p>
            <a:r>
              <a:t>hba = Descriptors.NumHAcceptors(mol)</a:t>
            </a:r>
          </a:p>
          <a:p>
            <a:r>
              <a:t>tpsa = Descriptors.TPSA(mol)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QSAR — FULL EXPLANATION ===</a:t>
            </a:r>
          </a:p>
          <a:p/>
          <a:p>
            <a:r>
              <a:t>WHAT IS QSAR?</a:t>
            </a:r>
          </a:p>
          <a:p>
            <a:r>
              <a:t>QSAR = Quantitative Structure-Activity Relationship. The idea: if you know the molecular STRUCTURE of a drug (its atoms, bonds, 3D shape, electronic properties), you can PREDICT its biological ACTIVITY (how strongly it binds to a protein, how toxic it is, how soluble it is).</a:t>
            </a:r>
          </a:p>
          <a:p/>
          <a:p>
            <a:r>
              <a:t>This isn't magic — it's based on physical chemistry: drug binding depends on shape complementarity and chemical interactions (hydrogen bonds, van der Waals, electrostatics) between the drug and its protein target. Both the drug shape/chemistry AND the protein shape/chemistry are determined by molecular structure. Therefore structure → binding → activity.</a:t>
            </a:r>
          </a:p>
          <a:p/>
          <a:p>
            <a:r>
              <a:t>HISTORY:</a:t>
            </a:r>
          </a:p>
          <a:p>
            <a:r>
              <a:t>Corwin Hansch (UC Riverside) formalized QSAR in 1964 using linear regression: biological activity = a × LogP + b × Hammett_sigma + c × electronic_parameter + constant. This was a breakthrough — it showed that simple, measurable physical parameters could predict complex biological effects. The 1964 paper has been cited thousands of times.</a:t>
            </a:r>
          </a:p>
          <a:p/>
          <a:p>
            <a:r>
              <a:t>Modern QSAR uses ML instead of linear equations, but the concept is the same.</a:t>
            </a:r>
          </a:p>
          <a:p/>
          <a:p>
            <a:r>
              <a:t>THE WORKFLOW (step by step):</a:t>
            </a:r>
          </a:p>
          <a:p/>
          <a:p>
            <a:r>
              <a:t>Step 1 — DATA: Get a dataset of (molecule, activity) pairs. ChEMBL (maintained by EMBL-EBI) is the main source: it contains ~2.5 million compounds with experimental IC50/Ki/EC50 measurements against hundreds of protein targets. Download target data, clean duplicates, standardize units.</a:t>
            </a:r>
          </a:p>
          <a:p/>
          <a:p>
            <a:r>
              <a:t>Step 2 — FEATURES: For each molecule, compute:</a:t>
            </a:r>
          </a:p>
          <a:p>
            <a:r>
              <a:t>- Morgan fingerprints (2048-bit binary vector)</a:t>
            </a:r>
          </a:p>
          <a:p>
            <a:r>
              <a:t>- Physicochemical descriptors (MW, LogP, HBD, HBA, TPSA...)</a:t>
            </a:r>
          </a:p>
          <a:p>
            <a:r>
              <a:t>Concatenate into a single feature vector. Shape: (n_molecules, 2048+200) approximately.</a:t>
            </a:r>
          </a:p>
          <a:p/>
          <a:p>
            <a:r>
              <a:t>Step 3 — SPLIT: Divide molecules into training set (80%) and test set (20%). CRITICAL: use scaffold split (see afternoon), not random split!</a:t>
            </a:r>
          </a:p>
          <a:p/>
          <a:p>
            <a:r>
              <a:t>Step 4 — TRAIN: Fit RF or XGBoost on training set.</a:t>
            </a:r>
          </a:p>
          <a:p/>
          <a:p>
            <a:r>
              <a:t>Step 5 — EVALUATE: Compute RMSE, R², etc. on test set. Look at the actual vs. predicted scatter plot.</a:t>
            </a:r>
          </a:p>
          <a:p/>
          <a:p>
            <a:r>
              <a:t>Step 6 — INTERPRET: Use SHAP to understand which features drive predictions. Decode important fingerprint bits to chemical substructures.</a:t>
            </a:r>
          </a:p>
          <a:p/>
          <a:p>
            <a:r>
              <a:t>WHY THIS MATTERS FOR AI DRUG DISCOVERY:</a:t>
            </a:r>
          </a:p>
          <a:p>
            <a:r>
              <a:t>This pipeline is EXACTLY what is used in pharmaceutical companies and biotech today. Companies like Schrödinger, Insilico Medicine, and others built businesses on this pipeline. The practical skills students gain today are directly applicable in industry.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RF AND XGBOOST — FULL EXPLANATION ===</a:t>
            </a:r>
          </a:p>
          <a:p/>
          <a:p>
            <a:r>
              <a:t>WHY ARE WE USING THESE MODELS?</a:t>
            </a:r>
          </a:p>
          <a:p>
            <a:r>
              <a:t>For molecular data (fingerprints + descriptors), Random Forest and XGBoost consistently outperform or match deep learning models on datasets with fewer than ~10,000 molecules. This is because:</a:t>
            </a:r>
          </a:p>
          <a:p>
            <a:r>
              <a:t>1. Molecular datasets are often small (expensive to generate experimentally)</a:t>
            </a:r>
          </a:p>
          <a:p>
            <a:r>
              <a:t>2. Tree models handle high-dimensional sparse data (fingerprints are 2048-bit but usually &lt;5% set) very well</a:t>
            </a:r>
          </a:p>
          <a:p>
            <a:r>
              <a:t>3. They don't need feature scaling (deep learning does)</a:t>
            </a:r>
          </a:p>
          <a:p>
            <a:r>
              <a:t>4. They have excellent out-of-box performance with minimal hyperparameter tuning</a:t>
            </a:r>
          </a:p>
          <a:p/>
          <a:p>
            <a:r>
              <a:t>RANDOM FOREST:</a:t>
            </a:r>
          </a:p>
          <a:p>
            <a:r>
              <a:t>Invented by Leo Breiman (UC Berkeley, 2001). The idea:</a:t>
            </a:r>
          </a:p>
          <a:p>
            <a:r>
              <a:t>1. Create B decision trees (typically 100-500)</a:t>
            </a:r>
          </a:p>
          <a:p>
            <a:r>
              <a:t>2. Each tree is trained on a BOOTSTRAP SAMPLE: sample n molecules WITH replacement from the training set of n molecules. About 63% of unique molecules appear; 37% are 'out-of-bag' (OOB)</a:t>
            </a:r>
          </a:p>
          <a:p>
            <a:r>
              <a:t>3. At each split in the tree, only consider sqrt(n_features) features (feature subsampling). This forces diversity between trees.</a:t>
            </a:r>
          </a:p>
          <a:p>
            <a:r>
              <a:t>4. Final prediction: average of all trees' predictions (regression) or majority vote (classification).</a:t>
            </a:r>
          </a:p>
          <a:p/>
          <a:p>
            <a:r>
              <a:t>WHY IT WORKS: Individual trees overfit, but they overfit to DIFFERENT aspects (due to bootstrap + feature sampling). Averaging cancels out the errors = low-variance ensemble.</a:t>
            </a:r>
          </a:p>
          <a:p/>
          <a:p>
            <a:r>
              <a:t>FEATURE IMPORTANCE: The Gini importance (how much each feature reduces the variance across all trees). Can be a rough guide to which features matter most. But SHAP is more reliable (see afternoon).</a:t>
            </a:r>
          </a:p>
          <a:p/>
          <a:p>
            <a:r>
              <a:t>XGBOOST:</a:t>
            </a:r>
          </a:p>
          <a:p>
            <a:r>
              <a:t>Invented by Tianqi Chen (now at NVIDIA, 2016). XGBoost = eXtreme Gradient BOOSTing. The idea:</a:t>
            </a:r>
          </a:p>
          <a:p>
            <a:r>
              <a:t>1. Start with a simple model (constant prediction = mean of training values)</a:t>
            </a:r>
          </a:p>
          <a:p>
            <a:r>
              <a:t>2. Compute residuals (errors) for each training example</a:t>
            </a:r>
          </a:p>
          <a:p>
            <a:r>
              <a:t>3. Train a NEW decision tree to predict the residuals</a:t>
            </a:r>
          </a:p>
          <a:p>
            <a:r>
              <a:t>4. Add the new tree to the model (weighted by a learning rate η)</a:t>
            </a:r>
          </a:p>
          <a:p>
            <a:r>
              <a:t>5. Compute new residuals. Repeat.</a:t>
            </a:r>
          </a:p>
          <a:p>
            <a:r>
              <a:t>Each tree 'boosts' the previous ones by correcting their errors. Like a committee where each new member fixes what the previous members got wrong.</a:t>
            </a:r>
          </a:p>
          <a:p/>
          <a:p>
            <a:r>
              <a:t>WHY XGBOOST IS OFTEN BETTER:</a:t>
            </a:r>
          </a:p>
          <a:p>
            <a:r>
              <a:t>- Sequential learning can capture patterns that random forests miss</a:t>
            </a:r>
          </a:p>
          <a:p>
            <a:r>
              <a:t>- Built-in L1 and L2 regularization prevents overfitting</a:t>
            </a:r>
          </a:p>
          <a:p>
            <a:r>
              <a:t>- Handles missing values automatically (decides at each split which branch to take)</a:t>
            </a:r>
          </a:p>
          <a:p>
            <a:r>
              <a:t>- Won many Kaggle competitions for tabular data</a:t>
            </a:r>
          </a:p>
          <a:p/>
          <a:p>
            <a:r>
              <a:t>WHICH TO USE?</a:t>
            </a:r>
          </a:p>
          <a:p>
            <a:r>
              <a:t>- Start with RF (easy, robust, fewer hyperparameters)</a:t>
            </a:r>
          </a:p>
          <a:p>
            <a:r>
              <a:t>- Try XGBoost to potentially get better performance</a:t>
            </a:r>
          </a:p>
          <a:p>
            <a:r>
              <a:t>- In practice: try both, choose the one with better validation performance</a:t>
            </a:r>
          </a:p>
          <a:p>
            <a:r>
              <a:t>- In the practical today: we compare both on the same dataset</a:t>
            </a:r>
          </a:p>
          <a:p/>
          <a:p>
            <a:r>
              <a:t>SCIKIT-LEARN CODE:</a:t>
            </a:r>
          </a:p>
          <a:p>
            <a:r>
              <a:t>from sklearn.ensemble import RandomForestRegressor</a:t>
            </a:r>
          </a:p>
          <a:p>
            <a:r>
              <a:t>rf = RandomForestRegressor(n_estimators=100, random_state=42)</a:t>
            </a:r>
          </a:p>
          <a:p>
            <a:r>
              <a:t>rf.fit(X_train, y_train)</a:t>
            </a:r>
          </a:p>
          <a:p>
            <a:r>
              <a:t>y_pred = rf.predict(X_test)</a:t>
            </a:r>
          </a:p>
          <a:p/>
          <a:p>
            <a:r>
              <a:t>from xgboost import XGBRegressor</a:t>
            </a:r>
          </a:p>
          <a:p>
            <a:r>
              <a:t>xgb = XGBRegressor(n_estimators=100, learning_rate=0.1, random_state=42)</a:t>
            </a:r>
          </a:p>
          <a:p>
            <a:r>
              <a:t>xgb.fit(X_train, y_train)</a:t>
            </a:r>
          </a:p>
          <a:p>
            <a:r>
              <a:t>y_pred = xgb.predict(X_test)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15-MINUTE BREAK. Students should stretch, grab coffee, and mentally prepare for Practical 1. The practical uses the concepts from the last 90 minutes (SMILES parsing, Morgan fingerprints, descriptors, RF, XGBoost). Remind students before the break: after the break, open the notebook Day2_Practical_QSAR.ipynb.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PRACTICAL 1 — WHAT STUDENTS ARE DOING AND WHY ===</a:t>
            </a:r>
          </a:p>
          <a:p/>
          <a:p>
            <a:r>
              <a:t>THE DATASET — DELANEY SOLUBILITY:</a:t>
            </a:r>
          </a:p>
          <a:p>
            <a:r>
              <a:t>John Delaney (AstraZeneca) published a dataset in 2004 with 1,128 small organic molecules and their experimentally measured aqueous solubility (log S, units: log mol/L). This is a classic benchmark for QSAR.</a:t>
            </a:r>
          </a:p>
          <a:p/>
          <a:p>
            <a:r>
              <a:t>WHY SOLUBILITY? Aqueous solubility is one of the most important drug properties. About 40% of drug candidates fail because they are insoluble in water — they can't dissolve in the stomach and get absorbed. Predicting solubility from molecular structure (before synthesis!) would save enormous resources.</a:t>
            </a:r>
          </a:p>
          <a:p/>
          <a:p>
            <a:r>
              <a:t>logS VALUES: typically range from -11 (almost insoluble) to +1 (very soluble). logS = -6 means 10^-6 mol/L ≈ 0.001 mg/mL (very insoluble). logS = 0 means 1 mol/L (very soluble, like sugar).</a:t>
            </a:r>
          </a:p>
          <a:p/>
          <a:p>
            <a:r>
              <a:t>WHAT STUDENTS DO:</a:t>
            </a:r>
          </a:p>
          <a:p>
            <a:r>
              <a:t>1. LOAD DATA: read the CSV file, look at the SMILES and logS columns</a:t>
            </a:r>
          </a:p>
          <a:p>
            <a:r>
              <a:t>2. PARSE SMILES: for each SMILES string, use RDKit to create a molecule object: mol = Chem.MolFromSmiles(smiles). If the SMILES is invalid, this returns None — need to handle errors.</a:t>
            </a:r>
          </a:p>
          <a:p>
            <a:r>
              <a:t>3. FINGERPRINTS: for each mol, compute Morgan fingerprints: fp = AllChem.GetMorganFingerprintAsBitVect(mol, 2, 2048). Convert to numpy: np.array(fp).</a:t>
            </a:r>
          </a:p>
          <a:p>
            <a:r>
              <a:t>4. DESCRIPTORS: compute MW, LogP, HBD, HBA, TPSA for each molecule using RDKit Descriptors module. Stack these 5 numbers alongside the 2048-bit fingerprint. Final feature vector: 2053 dimensions per molecule.</a:t>
            </a:r>
          </a:p>
          <a:p>
            <a:r>
              <a:t>5. SPLIT: use sklearn.model_selection.train_test_split with test_size=0.2, random_state=42</a:t>
            </a:r>
          </a:p>
          <a:p>
            <a:r>
              <a:t>6. TRAIN RF: RandomForestRegressor(n_estimators=100, random_state=42).fit(X_train, y_train)</a:t>
            </a:r>
          </a:p>
          <a:p>
            <a:r>
              <a:t>7. TRAIN XGBOOST: XGBRegressor(n_estimators=100, learning_rate=0.1).fit(X_train, y_train)</a:t>
            </a:r>
          </a:p>
          <a:p>
            <a:r>
              <a:t>8. EVALUATE: compute RMSE and R² using sklearn.metrics.mean_squared_error and r2_score</a:t>
            </a:r>
          </a:p>
          <a:p/>
          <a:p>
            <a:r>
              <a:t>EXPECTED RESULTS:</a:t>
            </a:r>
          </a:p>
          <a:p>
            <a:r>
              <a:t>RF: RMSE ~0.6-0.8 logS, R² ~0.85-0.90</a:t>
            </a:r>
          </a:p>
          <a:p>
            <a:r>
              <a:t>XGBoost: RMSE ~0.5-0.7 logS, R² ~0.87-0.92</a:t>
            </a:r>
          </a:p>
          <a:p>
            <a:r>
              <a:t>These look great! BUT (afternoon spoiler) the random split inflates performance because similar molecules end up in both train and test. With scaffold split, performance drops. This 'aha moment' is the key learning of the afternoon.</a:t>
            </a:r>
          </a:p>
          <a:p/>
          <a:p>
            <a:r>
              <a:t>COMMON STUDENT ERRORS TO WATCH FOR:</a:t>
            </a:r>
          </a:p>
          <a:p>
            <a:r>
              <a:t>- Forgetting to handle None values from invalid SMILES</a:t>
            </a:r>
          </a:p>
          <a:p>
            <a:r>
              <a:t>- Using the wrong feature matrix shape (need 2D array, not list)</a:t>
            </a:r>
          </a:p>
          <a:p>
            <a:r>
              <a:t>- Confusing RMSE with MSE (RMSE = sqrt(MSE))</a:t>
            </a:r>
          </a:p>
          <a:p>
            <a:r>
              <a:t>- Getting confused about what R² means (0 = baseline mean prediction, 1 = perfect, negative = worse than mean)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1 SESSION (~50 minutes). Walk around the room. Help students who are stuck. Common issues: import errors (make sure rdkit, sklearn, xgboost are installed), SMILES parsing errors (remind them to check for None), shape errors in numpy arrays. The goal: every student gets RF and XGBoost trained with RMSE and R² computed by the end.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AFTERNOON AGENDA — WHAT WE'RE DOING AND WHY ===</a:t>
            </a:r>
          </a:p>
          <a:p/>
          <a:p>
            <a:r>
              <a:t>The afternoon is about RIGOUR. The morning built a model that LOOKS good (R² ~0.9). The afternoon reveals that the model might not be as good as it looks — and teaches the correct way to evaluate.</a:t>
            </a:r>
          </a:p>
          <a:p/>
          <a:p>
            <a:r>
              <a:t>WHY IS EVALUATION SO IMPORTANT?</a:t>
            </a:r>
          </a:p>
          <a:p>
            <a:r>
              <a:t>In pharmaceutical drug discovery, a model that falsely appears to work well can guide expensive decisions. If your model says 'compound X is active against Target Y', and you spend $100,000 synthesizing and testing it, only to find it doesn't work — that's a very expensive false positive. If the model was trained and tested with data leakage (contaminated by scaffold similarity), all those AUC-ROC 0.95 results were illusory.</a:t>
            </a:r>
          </a:p>
          <a:p/>
          <a:p>
            <a:r>
              <a:t>THE CORE PROBLEM:</a:t>
            </a:r>
          </a:p>
          <a:p>
            <a:r>
              <a:t>Standard ML practice: randomly split data 80/20, train on 80%, test on 20%. Works great for image recognition (a test image of a cat is genuinely unseen). But for molecules: if molecule A and molecule B are structurally similar (same scaffold), and A is in the training set, then B in the test set is not really 'unseen' — the model has seen its scaffold. The test is easier than it would be for a truly novel molecule.</a:t>
            </a:r>
          </a:p>
          <a:p/>
          <a:p>
            <a:r>
              <a:t>HOW TO FIX IT:</a:t>
            </a:r>
          </a:p>
          <a:p>
            <a:r>
              <a:t>Scaffold split: cluster molecules by their core ring system (scaffold). Put all molecules with the same scaffold in the SAME split (either all train or all test). This ensures the test set contains genuinely novel scaffolds.</a:t>
            </a:r>
          </a:p>
          <a:p/>
          <a:p>
            <a:r>
              <a:t>SHAP:</a:t>
            </a:r>
          </a:p>
          <a:p>
            <a:r>
              <a:t>After proper evaluation, we want to understand WHAT the model learned. SHAP (SHapley Additive exPlanations) is the standard tool for this. It answers: for this specific molecule's prediction, which features contributed the most (and in which direction)?</a:t>
            </a:r>
          </a:p>
          <a:p/>
          <a:p>
            <a:r>
              <a:t>THE 'AHA MOMENT' for students: compare their morning performance (random split, R² ~0.90) with their afternoon performance (scaffold split, R² ~0.75-0.80). That difference — 0.10-0.15 R² points — represents the 'scaffold memorization' the model was doing. The scaffold split reveals the true performance on novel chemical series.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HALL OF SHAME — EXPLAINING EACH EXAMPLE ===</a:t>
            </a:r>
          </a:p>
          <a:p/>
          <a:p>
            <a:r>
              <a:t>These are real failure modes from the drug discovery literature. Understanding them is CRITICAL for doing AI drug discovery properly.</a:t>
            </a:r>
          </a:p>
          <a:p/>
          <a:p>
            <a:r>
              <a:t>EXAMPLE 1 — hERG MODEL:</a:t>
            </a:r>
          </a:p>
          <a:p>
            <a:r>
              <a:t>hERG (pronounced 'h-ERG') = human Ether-à-go-go Related Gene. It encodes the Kv11.1 potassium channel in cardiac cells. If a drug blocks this channel, it can cause a life-threatening cardiac arrhythmia called 'Long QT syndrome' (QT = a measurement on an EKG/ECG that represents how long it takes the heart to electrically reset after each beat). Many promising drug candidates were withdrawn from clinical trials or market because they unexpectedly blocked hERG (terfenadine = Seldane, cisapride = Propulsid, etc.).</a:t>
            </a:r>
          </a:p>
          <a:p/>
          <a:p>
            <a:r>
              <a:t>The hERG QSAR model: trained on all available hERG data with RANDOM split → 95% accuracy. But hERG binders are dominated by certain chemical scaffolds (basic nitrogen + aromatic ring). If those scaffolds are in both train and test, the model learns 'does it have this scaffold?' (not 'does it bind hERG?'). On scaffolds not seen in training: 60%. NOT MUCH BETTER THAN RANDOM!</a:t>
            </a:r>
          </a:p>
          <a:p/>
          <a:p>
            <a:r>
              <a:t>EXAMPLE 2 — DUPLICATE COMPOUNDS:</a:t>
            </a:r>
          </a:p>
          <a:p>
            <a:r>
              <a:t>Some databases have duplicate entries (the same molecule measured multiple times, or structurally similar molecules). If you don't remove duplicates before splitting, you literally have the same molecule in train and test. Published AUC 0.97 → remove duplicates → 0.72. The published result was meaningless.</a:t>
            </a:r>
          </a:p>
          <a:p/>
          <a:p>
            <a:r>
              <a:t>EXAMPLE 3 — GENERAL SCAFFOLD SPLIT VS. RANDOM:</a:t>
            </a:r>
          </a:p>
          <a:p>
            <a:r>
              <a:t>This is the most common issue. AUC drops from 0.92 to 0.75 when properly evaluated. Citation: Wallach &amp; Heifets (2018) showed this in a systematic study of multiple drug discovery benchmarks. Almost all published benchmarks at that time were overestimating performance.</a:t>
            </a:r>
          </a:p>
          <a:p/>
          <a:p>
            <a:r>
              <a:t>EXAMPLE 4 — GABA-A MODEL (neurologically relevant):</a:t>
            </a:r>
          </a:p>
          <a:p>
            <a:r>
              <a:t>GABA-A is the main inhibitory receptor in the brain. It's targeted by: benzodiazepines (diazepam/Valium → anxiety, sleep), barbiturates (old sedatives), Z-drugs (zolpidem/Ambien → insomnia), neurosteroids (naturally occurring anesthetics), alcohol.</a:t>
            </a:r>
          </a:p>
          <a:p/>
          <a:p>
            <a:r>
              <a:t>Most GABA-A binding data is from benzodiazepines (they were extensively studied in the 1970s-1990s). A QSAR model trained on this data learns to recognize the 1,4-benzodiazepine scaffold. It predicts that anything with a 1,4-benzodiazepine skeleton will bind GABA-A. TRUE for all the training data, but MISLEADING for novel chemotypes (neurosteroids, Z-drugs, THIP, etc.). On scaffold split: near-random performance for non-benzodiazepine chemotypes.</a:t>
            </a:r>
          </a:p>
          <a:p/>
          <a:p>
            <a:r>
              <a:t>THE LESSON:</a:t>
            </a:r>
          </a:p>
          <a:p>
            <a:r>
              <a:t>Every step between 'I have a great AUC' and 'I should trust this model in drug discovery' requires rigorous validation. In the afternoon practical, students will directly OBSERVE this performance drop with scaffold splits.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SCAFFOLD BIAS AND PROPER SPLITTING — FULL EXPLANATION ===</a:t>
            </a:r>
          </a:p>
          <a:p/>
          <a:p>
            <a:r>
              <a:t>WHAT IS A SCAFFOLD?</a:t>
            </a:r>
          </a:p>
          <a:p>
            <a:r>
              <a:t>In medicinal chemistry, a 'scaffold' is the core structural framework of a drug molecule — typically the ring system (cycles) plus the atoms connecting them, with side chains removed.</a:t>
            </a:r>
          </a:p>
          <a:p/>
          <a:p>
            <a:r>
              <a:t>The Bemis-Murcko framework (Bemis &amp; Murcko 1996, J. Med. Chem. 39:2887-2893): strip off all side chains (substituents), keep the ring systems and the linker atoms connecting them. The result is the 'scaffold'.</a:t>
            </a:r>
          </a:p>
          <a:p/>
          <a:p>
            <a:r>
              <a:t>Example: Aspirin (benzene ring + two side chains), ibuprofen (different side chains but a similar propionic acid + aryl scaffold), naproxen (naphthalene ring + propionic acid). These three have different scaffolds. Aspirin's scaffold = benzene. Ibuprofen's scaffold = isobutylbenzene. If aspirin is in train and ibuprofen is in test, they share some structural similarity but are 'scaffold different'.</a:t>
            </a:r>
          </a:p>
          <a:p/>
          <a:p>
            <a:r>
              <a:t>THE PROBLEM WITH RANDOM SPLITS:</a:t>
            </a:r>
          </a:p>
          <a:p>
            <a:r>
              <a:t>Drug discovery datasets often contain chemical series — groups of related compounds where medicinal chemists systematically varied substituents on a core scaffold (e.g., series of 50 compounds all with the same quinazoline core but different R groups). If you randomly split, many of these series will have molecules in BOTH train and test. The model learns to recognize the scaffold → predicts test set well → but this performance doesn't generalize to novel scaffolds.</a:t>
            </a:r>
          </a:p>
          <a:p/>
          <a:p>
            <a:r>
              <a:t>SCAFFOLD SPLIT IMPLEMENTATION:</a:t>
            </a:r>
          </a:p>
          <a:p>
            <a:r>
              <a:t>1. For each molecule, compute the Bemis-Murcko scaffold using RDKit: from rdkit.Chem.Scaffolds import MurckoScaffold; scaffold = MurckoScaffold.GetScaffoldForMol(mol)</a:t>
            </a:r>
          </a:p>
          <a:p>
            <a:r>
              <a:t>2. Group molecules by scaffold</a:t>
            </a:r>
          </a:p>
          <a:p>
            <a:r>
              <a:t>3. Put each scaffold entirely into train OR test (never split)</a:t>
            </a:r>
          </a:p>
          <a:p>
            <a:r>
              <a:t>4. Fill to 80/20 split approximately (start with largest scaffold groups in train, fill test until ~20% is reached)</a:t>
            </a:r>
          </a:p>
          <a:p/>
          <a:p>
            <a:r>
              <a:t>TEMPORAL SPLIT:</a:t>
            </a:r>
          </a:p>
          <a:p>
            <a:r>
              <a:t>Instead of structural split, split by TIME. Train on all data before date X, test on all data after date X. This mimics the real use case: you train the model in year Y, use it to predict in year Y+1 (on molecules that don't exist yet).</a:t>
            </a:r>
          </a:p>
          <a:p/>
          <a:p>
            <a:r>
              <a:t>ACTIVITY CLIFFS:</a:t>
            </a:r>
          </a:p>
          <a:p>
            <a:r>
              <a:t>The term for when structurally VERY similar molecules have VERY different activities. Example: compound A (benzene ring + NH2 group) has IC50 = 1 nM (very potent). Compound B (same benzene ring + NHMe group, just added one methyl) has IC50 = 1 μM (1000× weaker).</a:t>
            </a:r>
          </a:p>
          <a:p/>
          <a:p>
            <a:r>
              <a:t>Activity cliffs arise because: a single functional group (like NH2 vs. NMe) can make a completely different hydrogen bond. NH2 can donate TWO hydrogen bonds (two N-H bonds). NMe can donate ZERO (no N-H bond). If the receptor requires an N-H hydrogen bond for binding, adding the methyl destroys activity.</a:t>
            </a:r>
          </a:p>
          <a:p/>
          <a:p>
            <a:r>
              <a:t>WHY ACTIVITY CLIFFS ARE HARD FOR ML:</a:t>
            </a:r>
          </a:p>
          <a:p>
            <a:r>
              <a:t>Fingerprints make these two compounds look similar (Tanimoto ~0.9). But their activities differ by 1000×. The model can't explain this from fingerprints alone — it would need the 3D structure of the binding pocket (molecular docking, Day 3) to understand why the methyl group is so destructive.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EVALUATION METRICS — FULL EXPLANATION ===</a:t>
            </a:r>
          </a:p>
          <a:p/>
          <a:p>
            <a:r>
              <a:t>REGRESSION METRICS:</a:t>
            </a:r>
          </a:p>
          <a:p/>
          <a:p>
            <a:r>
              <a:t>RMSE (Root Mean Squared Error):</a:t>
            </a:r>
          </a:p>
          <a:p>
            <a:r>
              <a:t>RMSE = sqrt(mean((y_true - y_pred)²))</a:t>
            </a:r>
          </a:p>
          <a:p>
            <a:r>
              <a:t>For solubility prediction: if RMSE = 0.7 logS, it means the average prediction error is 0.7 log units. Since each log unit = 10× in solubility, RMSE = 0.7 means the model's average prediction is off by ~5× (10^0.7 ≈ 5).</a:t>
            </a:r>
          </a:p>
          <a:p>
            <a:r>
              <a:t>Why square first, then root? Squaring penalizes large errors more than small ones (2² = 4, 4² = 16). A model with many small errors is better than one with a few catastrophic errors. Root brings it back to the original units (logS).</a:t>
            </a:r>
          </a:p>
          <a:p/>
          <a:p>
            <a:r>
              <a:t>R² (R-squared, Coefficient of Determination):</a:t>
            </a:r>
          </a:p>
          <a:p>
            <a:r>
              <a:t>R² = 1 - (SS_res / SS_tot)</a:t>
            </a:r>
          </a:p>
          <a:p>
            <a:r>
              <a:t>where SS_res = sum of squared residuals = sum((y_true - y_pred)²)</a:t>
            </a:r>
          </a:p>
          <a:p>
            <a:r>
              <a:t>SS_tot = total sum of squares = sum((y_true - mean(y_true))²)</a:t>
            </a:r>
          </a:p>
          <a:p>
            <a:r>
              <a:t>Interpretation:</a:t>
            </a:r>
          </a:p>
          <a:p>
            <a:r>
              <a:t>R² = 1.0: perfect predictions (all residuals = 0)</a:t>
            </a:r>
          </a:p>
          <a:p>
            <a:r>
              <a:t>R² = 0: model no better than always predicting the mean value</a:t>
            </a:r>
          </a:p>
          <a:p>
            <a:r>
              <a:t>R² &lt; 0: model WORSE than always predicting the mean!</a:t>
            </a:r>
          </a:p>
          <a:p>
            <a:r>
              <a:t>Typically for good QSAR models: R² &gt; 0.7 is acceptable, R² &gt; 0.85 is good.</a:t>
            </a:r>
          </a:p>
          <a:p/>
          <a:p>
            <a:r>
              <a:t>MAE (Mean Absolute Error):</a:t>
            </a:r>
          </a:p>
          <a:p>
            <a:r>
              <a:t>MAE = mean(|y_true - y_pred|)</a:t>
            </a:r>
          </a:p>
          <a:p>
            <a:r>
              <a:t>Simpler interpretation than RMSE (average absolute error). More robust to outliers (extreme errors are not squared, so they have less influence). Useful if you have noisy experimental data.</a:t>
            </a:r>
          </a:p>
          <a:p/>
          <a:p>
            <a:r>
              <a:t>CLASSIFICATION METRICS:</a:t>
            </a:r>
          </a:p>
          <a:p/>
          <a:p>
            <a:r>
              <a:t>AUC-ROC (Area Under the Receiver Operating Characteristic Curve):</a:t>
            </a:r>
          </a:p>
          <a:p>
            <a:r>
              <a:t>The ROC curve plots True Positive Rate (TPR = sensitivity) vs. False Positive Rate (FPR = 1 - specificity) at different decision thresholds.</a:t>
            </a:r>
          </a:p>
          <a:p>
            <a:r>
              <a:t>AUC = 0.5: random classifier (ROC curve = diagonal)</a:t>
            </a:r>
          </a:p>
          <a:p>
            <a:r>
              <a:t>AUC = 1.0: perfect classifier</a:t>
            </a:r>
          </a:p>
          <a:p>
            <a:r>
              <a:t>AUC = 0.8: good classifier (80% chance that a randomly chosen positive example will be scored higher than a randomly chosen negative)</a:t>
            </a:r>
          </a:p>
          <a:p/>
          <a:p>
            <a:r>
              <a:t>PROBLEM: AUC-ROC is insensitive to class imbalance. If 99% of compounds are inactive and 1% are active, a model that always predicts 'inactive' achieves ROC-AUC ≈ 0.5 (not great) but PR-AUC ≈ 0.01 (reveals it's useless). Drug discovery data is almost always imbalanced (many more inactive compounds than active ones).</a:t>
            </a:r>
          </a:p>
          <a:p/>
          <a:p>
            <a:r>
              <a:t>PRECISION-RECALL AUC (PR-AUC):</a:t>
            </a:r>
          </a:p>
          <a:p>
            <a:r>
              <a:t>Precision = true positives / (true positives + false positives) = of the things I predicted positive, how many were actually positive?</a:t>
            </a:r>
          </a:p>
          <a:p>
            <a:r>
              <a:t>Recall = true positives / (true positives + false negatives) = of all the actual positives, how many did I find?</a:t>
            </a:r>
          </a:p>
          <a:p>
            <a:r>
              <a:t>PR-AUC = area under the Precision-Recall curve. For perfectly balanced data: random classifier = 0.5. For imbalanced data with 5% positives: random classifier ≈ 0.05. Much more informative for drug discovery.</a:t>
            </a:r>
          </a:p>
          <a:p/>
          <a:p>
            <a:r>
              <a:t>PRACTICAL RECOMMENDATION:</a:t>
            </a:r>
          </a:p>
          <a:p>
            <a:r>
              <a:t>For QSAR regression: report RMSE, R², and MAE together.</a:t>
            </a:r>
          </a:p>
          <a:p>
            <a:r>
              <a:t>For activity classification: report PR-AUC and ROC-AUC both.</a:t>
            </a:r>
          </a:p>
          <a:p>
            <a:r>
              <a:t>For comparison across datasets with different imbalance ratios: use balanced accuracy or Matthew's Correlation Coefficient (MCC).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After evaluating performance quantitatively (RMSE, R², AUC), we want to understand WHY the model makes specific predictions. This is the SHAP section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WHY EXPLAINABILITY MATTERS — FULL EXPLANATION ===</a:t>
            </a:r>
          </a:p>
          <a:p/>
          <a:p>
            <a:r>
              <a:t>The core tension in modern AI: deep learning models are extremely powerful but hard to interpret ('black boxes'). In drug discovery, a black box is a liability, not an asset.</a:t>
            </a:r>
          </a:p>
          <a:p/>
          <a:p>
            <a:r>
              <a:t>REGULATORY (FDA):</a:t>
            </a:r>
          </a:p>
          <a:p>
            <a:r>
              <a:t>The FDA is increasingly paying attention to AI-driven drug discovery. They have published guidance on 'Good Machine Learning Practice' for medical devices (including AI tools in drug development). The key expectation: you must be able to explain WHY the model makes a prediction, especially for safety-critical decisions (predicting toxicity, predicting which patients respond).</a:t>
            </a:r>
          </a:p>
          <a:p/>
          <a:p>
            <a:r>
              <a:t>SCIENTIFIC CREDIBILITY:</a:t>
            </a:r>
          </a:p>
          <a:p>
            <a:r>
              <a:t>A medicinal chemist with 30 years of experience will not trust a model that says 'synthesize compound X — I predict it's active but I can't explain why.' They will ask: 'What structural features drive that prediction?' If you can say 'the model predicts this compound is active because of the hydroxyl group at position 4 (SHAP value +1.5) and the fluorine at position 2 (SHAP +0.8), while the large alkyl chain is hurting it (-0.4)', then the chemist can engage. They might say 'yes, that makes sense — I've seen that hydroxyl group be important in this receptor family.' Or they might say 'that fluorine shouldn't matter — there's no electrophilic site in the receptor pocket. I suspect the model is wrong.' Either way, the interpretation drives a scientific discussion.</a:t>
            </a:r>
          </a:p>
          <a:p/>
          <a:p>
            <a:r>
              <a:t>SAFETY:</a:t>
            </a:r>
          </a:p>
          <a:p>
            <a:r>
              <a:t>If a model predicts 'non-toxic' for a compound, but can't explain why, you're making a safety decision on faith. If the model can say 'predicted non-toxic because: low LogP (-0.3), no nitro groups (-1.0), no reactive Michael acceptors (-0.5)', you can check: 'Are these the right reasons?' If the model is making the right prediction for the wrong reasons, it will fail on new chemical types.</a:t>
            </a:r>
          </a:p>
          <a:p/>
          <a:p>
            <a:r>
              <a:t>DISCOVERY (new science):</a:t>
            </a:r>
          </a:p>
          <a:p>
            <a:r>
              <a:t>When SHAP says 'for this antiviral drug series, the fluorine at position 3 is consistently the most important feature', you've discovered a chemical design rule. Maybe no one knew this before. This is AI contributing to medicinal chemistry knowledge, not just prediction.</a:t>
            </a:r>
          </a:p>
          <a:p/>
          <a:p>
            <a:r>
              <a:t>GLOBAL VS. LOCAL EXPLANATIONS:</a:t>
            </a:r>
          </a:p>
          <a:p>
            <a:r>
              <a:t>Global: 'What are the most important features across all predictions?' → SHAP beeswarm plot (1000 points, each molecule, each dot colored by feature value, showing distribution of SHAP values).</a:t>
            </a:r>
          </a:p>
          <a:p>
            <a:r>
              <a:t>Local: 'Why did the model predict IC50 = 5 nM for THIS specific molecule?' → SHAP waterfall plot (single prediction, showing positive and negative contributions of each feature).</a:t>
            </a:r>
          </a:p>
          <a:p/>
          <a:p>
            <a:r>
              <a:t>EU AI ACT:</a:t>
            </a:r>
          </a:p>
          <a:p>
            <a:r>
              <a:t>The European Union's AI Act (2023) classifies medical AI as 'high risk'. High-risk AI systems require: transparency (documentation of training data, model design, performance), explainability (ability to understand why decisions are made), robustness (performance on diverse inputs), and human oversight (humans can override). This will affect all AI drug discovery tools used in Europe.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SHAP — FULL EXPLANATION FROM GAME THEORY TO MOLECULAR ML ===</a:t>
            </a:r>
          </a:p>
          <a:p/>
          <a:p>
            <a:r>
              <a:t>GAME THEORY BACKGROUND:</a:t>
            </a:r>
          </a:p>
          <a:p>
            <a:r>
              <a:t>Lloyd Shapley (Princeton, 1953) asked: 'If several players cooperate to earn a reward, how should we distribute the reward fairly?' His answer: each player's fair share = their AVERAGE MARGINAL CONTRIBUTION across all possible orderings of players joining the coalition.</a:t>
            </a:r>
          </a:p>
          <a:p/>
          <a:p>
            <a:r>
              <a:t>EXAMPLE: Three players A, B, C earn rewards based on who is in the coalition:</a:t>
            </a:r>
          </a:p>
          <a:p>
            <a:r>
              <a:t>{A}=3, {B}=2, {C}=4, {A,B}=7, {A,C}=8, {B,C}=6, {A,B,C}=12</a:t>
            </a:r>
          </a:p>
          <a:p>
            <a:r>
              <a:t>Shapley value for A: average of A's marginal contribution in all 6 orderings (3! = 6 permutations of A,B,C joining the coalition): in some orderings A joins first (marginal contribution = 3), in others A joins after B (marginal = 7-2=5), etc. The exact Shapley values are fair and unique (they are the ONLY values satisfying efficiency, symmetry, dummy player, and additivity axioms).</a:t>
            </a:r>
          </a:p>
          <a:p/>
          <a:p>
            <a:r>
              <a:t>APPLYING TO ML:</a:t>
            </a:r>
          </a:p>
          <a:p>
            <a:r>
              <a:t>Players = features. Payout = prediction. SHAP value for feature i = the average marginal contribution of feature i to the prediction across all possible subsets of features.</a:t>
            </a:r>
          </a:p>
          <a:p/>
          <a:p>
            <a:r>
              <a:t>FORMULA: SHAP_i = sum over all subsets S not containing i of [|S|! × (|F|-|S|-1)! / |F|!] × [f(S∪{i}) - f(S)]</a:t>
            </a:r>
          </a:p>
          <a:p>
            <a:r>
              <a:t>Where F is the set of all features and f(S) is the model's prediction when only features in S are present.</a:t>
            </a:r>
          </a:p>
          <a:p/>
          <a:p>
            <a:r>
              <a:t>WHY THIS IS EXPENSIVE: There are 2^n subsets (n = number of features). For 2048-bit fingerprints, this is astronomical. TreeSHAP (Lundberg et al. 2020) computes exact Shapley values for tree-based models (RF, XGBoost) in O(T × L²) time where T = number of trees and L = max number of leaves. Fast and exact!</a:t>
            </a:r>
          </a:p>
          <a:p/>
          <a:p>
            <a:r>
              <a:t>HOW TO READ SHAP VALUES:</a:t>
            </a:r>
          </a:p>
          <a:p>
            <a:r>
              <a:t>For a molecule predicted to have pIC50 = 7.8:</a:t>
            </a:r>
          </a:p>
          <a:p>
            <a:r>
              <a:t>- Baseline (mean prediction for all training molecules) = 6.5</a:t>
            </a:r>
          </a:p>
          <a:p>
            <a:r>
              <a:t>- SHAP value for 'aromatic amine group' = +1.0 (pushes prediction up by 1.0)</a:t>
            </a:r>
          </a:p>
          <a:p>
            <a:r>
              <a:t>- SHAP value for 'high molecular weight' = -0.3 (pushes it down)</a:t>
            </a:r>
          </a:p>
          <a:p>
            <a:r>
              <a:t>- SHAP value for 'fluorine on ring' = +0.6</a:t>
            </a:r>
          </a:p>
          <a:p>
            <a:r>
              <a:t>- Sum: 6.5 + 1.0 - 0.3 + 0.6 + ... = 7.8 (predicted value)</a:t>
            </a:r>
          </a:p>
          <a:p/>
          <a:p>
            <a:r>
              <a:t>DECODING FINGERPRINT BITS:</a:t>
            </a:r>
          </a:p>
          <a:p>
            <a:r>
              <a:t>If bit 847 has the highest SHAP value, you want to know what molecular feature it represents. In RDKit:</a:t>
            </a:r>
          </a:p>
          <a:p>
            <a:r>
              <a:t>from rdkit.Chem import AllChem</a:t>
            </a:r>
          </a:p>
          <a:p>
            <a:r>
              <a:t>bitInfo = {}</a:t>
            </a:r>
          </a:p>
          <a:p>
            <a:r>
              <a:t>fp = AllChem.GetMorganFingerprintAsBitVect(mol, radius=2, nBits=2048, bitInfo=bitInfo)</a:t>
            </a:r>
          </a:p>
          <a:p>
            <a:r>
              <a:t># bitInfo[847] gives you the (atom_index, radius) pair</a:t>
            </a:r>
          </a:p>
          <a:p>
            <a:r>
              <a:t># Draw.DrawMorganBit(mol, bit=847, bitInfo=bitInfo) shows the substructure</a:t>
            </a:r>
          </a:p>
          <a:p>
            <a:r>
              <a:t>This is how you go from 'bit 847 matters' to 'the pyridine ring at position X matters'.</a:t>
            </a:r>
          </a:p>
          <a:p/>
          <a:p>
            <a:r>
              <a:t>VISUALIZATIONS:</a:t>
            </a:r>
          </a:p>
          <a:p>
            <a:r>
              <a:t>- Beeswarm plot: shows SHAP values for all molecules and all features. Each dot = one molecule. X-axis = SHAP value. Color = feature value (red=high, blue=low). Most informative global view.</a:t>
            </a:r>
          </a:p>
          <a:p>
            <a:r>
              <a:t>- Waterfall plot: for one specific molecule. Shows exactly which features pushed the prediction up/down from the baseline to the final value.</a:t>
            </a:r>
          </a:p>
          <a:p>
            <a:r>
              <a:t>- Force plot: like waterfall but horizontal. Good for presentations.</a:t>
            </a:r>
          </a:p>
          <a:p/>
          <a:p>
            <a:r>
              <a:t>CODE:</a:t>
            </a:r>
          </a:p>
          <a:p>
            <a:r>
              <a:t>import shap</a:t>
            </a:r>
          </a:p>
          <a:p>
            <a:r>
              <a:t>explainer = shap.TreeExplainer(rf_model)</a:t>
            </a:r>
          </a:p>
          <a:p>
            <a:r>
              <a:t>shap_values = explainer.shap_values(X_test)</a:t>
            </a:r>
          </a:p>
          <a:p>
            <a:r>
              <a:t>shap.summary_plot(shap_values, X_test)  # beeswarm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APPLICABILITY DOMAIN — FULL EXPLANATION ===</a:t>
            </a:r>
          </a:p>
          <a:p/>
          <a:p>
            <a:r>
              <a:t>WHAT IS THE APPLICABILITY DOMAIN?</a:t>
            </a:r>
          </a:p>
          <a:p>
            <a:r>
              <a:t>Every ML model has a 'comfort zone' — the region of chemical space where it has training data and can make reliable predictions. Outside this zone (the 'applicability domain'), predictions become unreliable.</a:t>
            </a:r>
          </a:p>
          <a:p/>
          <a:p>
            <a:r>
              <a:t>ANALOGY: A QSAR model trained on kinase inhibitors (cancer drugs that block protein kinases) should NOT be used to predict activity of GPCRs. The model has no training data in that chemical space. Similarly, a model trained on compounds with MW 200-400 Da should not be applied to a 900 Da macrocycle without flagging it as 'out of domain'.</a:t>
            </a:r>
          </a:p>
          <a:p/>
          <a:p>
            <a:r>
              <a:t>METHODS:</a:t>
            </a:r>
          </a:p>
          <a:p/>
          <a:p>
            <a:r>
              <a:t>1. Distance-based:</a:t>
            </a:r>
          </a:p>
          <a:p>
            <a:r>
              <a:t>For each new compound, compute its similarity to the nearest training compound(s) using Tanimoto similarity on fingerprints. If max_Tanimoto &lt; threshold (e.g., 0.3), the compound is too dissimilar from anything in training → flag as outside AD.</a:t>
            </a:r>
          </a:p>
          <a:p/>
          <a:p>
            <a:r>
              <a:t>2. Descriptor range check:</a:t>
            </a:r>
          </a:p>
          <a:p>
            <a:r>
              <a:t>For each physicochemical descriptor, check if the new compound's value is within [min_train, max_train]. If LogP = 8 but training data had LogP 0-5, the compound is outside the training distribution for this descriptor.</a:t>
            </a:r>
          </a:p>
          <a:p/>
          <a:p>
            <a:r>
              <a:t>3. Leverage h statistic:</a:t>
            </a:r>
          </a:p>
          <a:p>
            <a:r>
              <a:t>From linear regression statistics. h_i = x_i^T (X^T X)^{-1} x_i. High h = influential point, far from the center of the training data. Williams plot: SHAP residual vs. h_i. Points with high h AND high residual = problem predictions.</a:t>
            </a:r>
          </a:p>
          <a:p/>
          <a:p>
            <a:r>
              <a:t>4. Conformal prediction:</a:t>
            </a:r>
          </a:p>
          <a:p>
            <a:r>
              <a:t>A rigorous statistical framework. Gives prediction INTERVALS with guaranteed coverage: 'I predict pIC50 = 7.5 ± 1.2, and I guarantee that 95% of the time, the true value is within this interval.' Based on p-values from comparing the new point to calibration set points. Does not require strong statistical assumptions.</a:t>
            </a:r>
          </a:p>
          <a:p/>
          <a:p>
            <a:r>
              <a:t>PRACTICAL IMPLEMENTATION:</a:t>
            </a:r>
          </a:p>
          <a:p>
            <a:r>
              <a:t>from sklearn.neighbors import NearestNeighbors</a:t>
            </a:r>
          </a:p>
          <a:p>
            <a:r>
              <a:t>nn = NearestNeighbors(n_neighbors=5, metric='jaccard')  # Tanimoto = 1 - Jaccard</a:t>
            </a:r>
          </a:p>
          <a:p>
            <a:r>
              <a:t>nn.fit(X_train_fps)</a:t>
            </a:r>
          </a:p>
          <a:p>
            <a:r>
              <a:t>distances, _ = nn.kneighbors(X_test_fps)</a:t>
            </a:r>
          </a:p>
          <a:p>
            <a:r>
              <a:t>ad_flag = distances.mean(axis=1) &gt; 0.7  # True = outside AD</a:t>
            </a:r>
          </a:p>
          <a:p/>
          <a:p>
            <a:r>
              <a:t>THE KEY PRINCIPLE:</a:t>
            </a:r>
          </a:p>
          <a:p>
            <a:r>
              <a:t>A model that SAYS 'I don't know' is MORE VALUABLE than a model that confidently gives wrong answers. In pharmaceutical development, a false positive prediction (we predicted active, it's actually inactive) costs millions. Flagging uncertain predictions as 'low confidence' prevents these costly mistakes.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15-MINUTE BREAK of Day 2. Students should have their morning model trained (from Practical 1). The afternoon practical (Practical 2) will: (1) implement scaffold split, (2) re-evaluate the morning model with this proper split, and (3) compute SHAP values. Remind: open Day2_Practical_Evaluation.ipynb after the break.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PRACTICAL 2 — WHAT STUDENTS DO AND WHAT TO EXPECT ===</a:t>
            </a:r>
          </a:p>
          <a:p/>
          <a:p>
            <a:r>
              <a:t>SETUP: Students should have their morning model (RF + XGBoost) ready from Practical 1. If someone didn't finish, they can quickly re-train in the first 5 minutes.</a:t>
            </a:r>
          </a:p>
          <a:p/>
          <a:p>
            <a:r>
              <a:t>STEP 2 — SCAFFOLD SPLIT:</a:t>
            </a:r>
          </a:p>
          <a:p>
            <a:r>
              <a:t>from rdkit.Chem.Scaffolds import MurckoScaffold</a:t>
            </a:r>
          </a:p>
          <a:p>
            <a:r>
              <a:t>def get_scaffold(smiles):</a:t>
            </a:r>
          </a:p>
          <a:p>
            <a:r>
              <a:t>    mol = Chem.MolFromSmiles(smiles)</a:t>
            </a:r>
          </a:p>
          <a:p>
            <a:r>
              <a:t>    scaffold = MurckoScaffold.MurckoScaffoldSmiles(mol=mol, includeChirality=False)</a:t>
            </a:r>
          </a:p>
          <a:p>
            <a:r>
              <a:t>    return scaffold</a:t>
            </a:r>
          </a:p>
          <a:p/>
          <a:p>
            <a:r>
              <a:t>Group molecules by scaffold. Sort scaffold groups by size (largest first). Put largest scaffolds in train until 80% filled. Rest in test.</a:t>
            </a:r>
          </a:p>
          <a:p/>
          <a:p>
            <a:r>
              <a:t>STEP 3 — THE AHA MOMENT:</a:t>
            </a:r>
          </a:p>
          <a:p>
            <a:r>
              <a:t>Students will see their R² drop from ~0.85-0.90 (random split) to ~0.70-0.80 (scaffold split). This is the KEY LEARNING. The model was memorizing scaffold patterns, not learning fundamental structure-activity relationships. On novel scaffolds, performance is worse.</a:t>
            </a:r>
          </a:p>
          <a:p/>
          <a:p>
            <a:r>
              <a:t>Make sure to discuss this observation with the class after the practical. Ask: 'Why did your R² drop?' 'What does this mean for using your model to predict a truly new molecule?'</a:t>
            </a:r>
          </a:p>
          <a:p/>
          <a:p>
            <a:r>
              <a:t>STEP 5-7 — SHAP:</a:t>
            </a:r>
          </a:p>
          <a:p>
            <a:r>
              <a:t>import shap</a:t>
            </a:r>
          </a:p>
          <a:p>
            <a:r>
              <a:t>explainer = shap.TreeExplainer(rf_model)</a:t>
            </a:r>
          </a:p>
          <a:p>
            <a:r>
              <a:t>shap_values = explainer.shap_values(X_test)  # shape: (n_test, n_features)</a:t>
            </a:r>
          </a:p>
          <a:p/>
          <a:p>
            <a:r>
              <a:t>COMMON FINDINGS:</a:t>
            </a:r>
          </a:p>
          <a:p>
            <a:r>
              <a:t>- The most important features are often LogP, molecular weight, and a few specific fingerprint bits</a:t>
            </a:r>
          </a:p>
          <a:p>
            <a:r>
              <a:t>- LogP and MW show negative SHAP for high values (more lipophilic/heavier molecules tend to be LESS soluble)</a:t>
            </a:r>
          </a:p>
          <a:p>
            <a:r>
              <a:t>- Some fingerprint bits corresponding to aromatic rings or specific functional groups consistently show positive SHAP</a:t>
            </a:r>
          </a:p>
          <a:p>
            <a:r>
              <a:t>- The SHAP beeswarm plot makes chemical sense: high LogP → high SHAP magnitude for LogP feature → molecules that are very lipophilic are predicted to be less soluble (correct!)</a:t>
            </a:r>
          </a:p>
          <a:p/>
          <a:p>
            <a:r>
              <a:t>STEP 8 — APPLICABILITY DOMAIN:</a:t>
            </a:r>
          </a:p>
          <a:p>
            <a:r>
              <a:t>Simple implementation: for each test molecule, find its nearest training neighbor (Tanimoto similarity). Flag molecules where similarity &lt; 0.3 as 'outside AD'.</a:t>
            </a:r>
          </a:p>
          <a:p/>
          <a:p>
            <a:r>
              <a:t>EXPECTED OUTCOMES:</a:t>
            </a:r>
          </a:p>
          <a:p>
            <a:r>
              <a:t>By the end of Practical 2, students should have:</a:t>
            </a:r>
          </a:p>
          <a:p>
            <a:r>
              <a:t>1. A properly evaluated QSAR model (scaffold split R² ~0.75-0.80)</a:t>
            </a:r>
          </a:p>
          <a:p>
            <a:r>
              <a:t>2. A SHAP beeswarm plot showing feature importances</a:t>
            </a:r>
          </a:p>
          <a:p>
            <a:r>
              <a:t>3. Identified the most important molecular features (LogP, MW, some fingerprint bits)</a:t>
            </a:r>
          </a:p>
          <a:p>
            <a:r>
              <a:t>4. An applicability domain flag for each test molecule</a:t>
            </a:r>
          </a:p>
          <a:p/>
          <a:p>
            <a:r>
              <a:t>THINGS TO HELP WITH:</a:t>
            </a:r>
          </a:p>
          <a:p>
            <a:r>
              <a:t>- shap.TreeExplainer with RF: use rf_model.estimators_ if there are issues with the ensemble. Or use shap.Explainer (newer API)</a:t>
            </a:r>
          </a:p>
          <a:p>
            <a:r>
              <a:t>- SHAP plots can be slow for large datasets: subsample to 200-500 test molecules</a:t>
            </a:r>
          </a:p>
          <a:p>
            <a:r>
              <a:t>- Fingerprint bit decoding: see the bitInfo dictionary from GetMorganFingerprintAsBitVect()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2 SESSION (~50 minutes). Walk around and help. The scaffold split implementation is the trickiest part — help students who get stuck on the MurckoScaffold API. The SHAP beeswarm plot is the most visually rewarding part — it's always a crowd-pleaser when you can see that LogP and MW are the most important features and they make chemical sense.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DISCUSSION QUESTIONS — GUIDE FOR DISCUSSION ===</a:t>
            </a:r>
          </a:p>
          <a:p/>
          <a:p>
            <a:r>
              <a:t>The answer to the main question is: NO, not without more information.</a:t>
            </a:r>
          </a:p>
          <a:p/>
          <a:p>
            <a:r>
              <a:t>WALK THROUGH EACH QUESTION:</a:t>
            </a:r>
          </a:p>
          <a:p/>
          <a:p>
            <a:r>
              <a:t>Q: What kind of split was used?</a:t>
            </a:r>
          </a:p>
          <a:p>
            <a:r>
              <a:t>Good answer: scaffold split, ideally temporal split. Random split overfits. The student who just did Practical 2 saw their R² drop when they used scaffold split. The same applies to AUC-ROC. A published AUC 0.95 with random split might be 0.75 with scaffold split.</a:t>
            </a:r>
          </a:p>
          <a:p/>
          <a:p>
            <a:r>
              <a:t>Q: How imbalanced is the dataset?</a:t>
            </a:r>
          </a:p>
          <a:p>
            <a:r>
              <a:t>Drug discovery datasets are typically very imbalanced: 1-5% active, 95-99% inactive. In this case, AUC-ROC is misleading because it weights false positives and false negatives equally, ignoring class imbalance. PR-AUC is much more informative. A model with AUC-ROC 0.95 on a 1% positive rate dataset might have PR-AUC 0.15 (terrible — most of its 'active' predictions are false positives).</a:t>
            </a:r>
          </a:p>
          <a:p/>
          <a:p>
            <a:r>
              <a:t>Q: Prospective validation?</a:t>
            </a:r>
          </a:p>
          <a:p>
            <a:r>
              <a:t>Has the model been used in practice to predict TRULY NEW molecules (synthesized AFTER the model was built)? Not just retrospective validation on historical data. This is the ultimate test. If the model successfully guided synthesis of 5 novel actives that were predicted before synthesis, that's strong evidence. If it's only been evaluated on historical data: much weaker evidence.</a:t>
            </a:r>
          </a:p>
          <a:p/>
          <a:p>
            <a:r>
              <a:t>Q: Applicability domain?</a:t>
            </a:r>
          </a:p>
          <a:p>
            <a:r>
              <a:t>If the model is asked to predict for a molecule very different from its training set, the prediction is unreliable. Did anyone check whether the test set molecules are in the AD? Many published benchmarks don't report AD analysis.</a:t>
            </a:r>
          </a:p>
          <a:p/>
          <a:p>
            <a:r>
              <a:t>CLOSING THOUGHT:</a:t>
            </a:r>
          </a:p>
          <a:p>
            <a:r>
              <a:t>The answer 'I would not trust a $100M decision to this model without more validation' is NOT pessimism about AI. It's scientific rigor. Models that are properly validated — with scaffold splits, checked AD, prospective validation — ARE trustworthy and ARE used to guide real drug campaigns (Insilico Medicine, Schrödinger, Recursion Pharmaceuticals all do this). The key is: validate properly before making expensive decisions.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TAKEAWAYS — EMPHASIZE THESE ===</a:t>
            </a:r>
          </a:p>
          <a:p/>
          <a:p>
            <a:r>
              <a:t>1. MORGAN/ECFP FINGERPRINTS:</a:t>
            </a:r>
          </a:p>
          <a:p>
            <a:r>
              <a:t>The most important molecular representation for classical ML. Converts any molecule (SMILES) to a 2048-bit binary vector. Computed with 3 lines of RDKit code. Used in virtually every industrial QSAR model.</a:t>
            </a:r>
          </a:p>
          <a:p/>
          <a:p>
            <a:r>
              <a:t>2. QSAR IS 60 YEARS OLD:</a:t>
            </a:r>
          </a:p>
          <a:p>
            <a:r>
              <a:t>It's not new! Hansch (1964) showed that structure predicts activity. What's new is using deep learning (Day 3) and much larger datasets (ChEMBL). The fundamental idea is unchanged.</a:t>
            </a:r>
          </a:p>
          <a:p/>
          <a:p>
            <a:r>
              <a:t>3. RF AND XGBOOST:</a:t>
            </a:r>
          </a:p>
          <a:p>
            <a:r>
              <a:t>For datasets &lt;10,000 molecules, these are often as good as deep learning. Students can use these RIGHT NOW for their projects. Both are in scikit-learn (RF) and xgboost library (XGBoost).</a:t>
            </a:r>
          </a:p>
          <a:p/>
          <a:p>
            <a:r>
              <a:t>4. SCAFFOLD SPLITS:</a:t>
            </a:r>
          </a:p>
          <a:p>
            <a:r>
              <a:t>This is the most common mistake in published molecular ML papers. Random split inflates performance by 10-20% R² points. Always use scaffold split for molecular property prediction. MoleculeNet (the main benchmark) uses scaffold split as default.</a:t>
            </a:r>
          </a:p>
          <a:p/>
          <a:p>
            <a:r>
              <a:t>5. SHAP:</a:t>
            </a:r>
          </a:p>
          <a:p>
            <a:r>
              <a:t>The gold standard for interpreting ML predictions. Mathematically rigorous (Shapley values), model-agnostic (works for RF, XGBoost, neural networks), and connects computer science (ML prediction) to chemistry (substructure importance). TreeSHAP is exact and fast for RF/XGBoost.</a:t>
            </a:r>
          </a:p>
          <a:p/>
          <a:p>
            <a:r>
              <a:t>6. APPLICABILITY DOMAIN:</a:t>
            </a:r>
          </a:p>
          <a:p>
            <a:r>
              <a:t>Know when to say 'I don't know.' A model outside its training distribution can give confident wrong answers. Flag low-similarity predictions as uncertain.</a:t>
            </a:r>
          </a:p>
          <a:p/>
          <a:p>
            <a:r>
              <a:t>7. THE EVALUATION IS MORE IMPORTANT THAN THE MODEL:</a:t>
            </a:r>
          </a:p>
          <a:p>
            <a:r>
              <a:t>A mediocre model properly evaluated is more valuable than an impressive model improperly evaluated. This is the key practical lesson of today. Industry hiring managers will ask about validation strategies — not just what model you used.</a:t>
            </a:r>
          </a:p>
          <a:p/>
          <a:p>
            <a:r>
              <a:t>8. WHAT'S COMING ON DAY 3:</a:t>
            </a:r>
          </a:p>
          <a:p>
            <a:r>
              <a:t>GNNs (Graph Neural Networks): instead of Morgan/ECFP hashing, LEARN how to aggregate neighborhood information. AlphaFold: predict protein 3D structure from sequence, enabling structure-based drug design. Generative AI: design new molecules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PREVIEW OF DAY 3 — WHAT IS COMING AND HOW IT BUILDS ON TODAY ===</a:t>
            </a:r>
          </a:p>
          <a:p/>
          <a:p>
            <a:r>
              <a:t>GRAPH NEURAL NETWORKS (GNNs):</a:t>
            </a:r>
          </a:p>
          <a:p>
            <a:r>
              <a:t>Today: Morgan/ECFP fingerprints hash the neighborhood information into a fixed vector.</a:t>
            </a:r>
          </a:p>
          <a:p>
            <a:r>
              <a:t>Day 3: GNNs LEARN how to aggregate the neighborhood information (message passing with trainable weights). The connection: ECFP is essentially one round of message passing with hashing. GNNs do it with neural networks instead. More expressive, learns task-specific features, but requires more data and more tuning.</a:t>
            </a:r>
          </a:p>
          <a:p/>
          <a:p>
            <a:r>
              <a:t>KEY MESSAGE: Today's lecture is NECESSARY before Day 3. Students who understand ECFP fingerprints will immediately understand why GNNs are better. Students who don't understand ECFP will be lost.</a:t>
            </a:r>
          </a:p>
          <a:p/>
          <a:p>
            <a:r>
              <a:t>GENERATIVE AI:</a:t>
            </a:r>
          </a:p>
          <a:p>
            <a:r>
              <a:t>VAE (Variational Autoencoder): encode molecule to latent vector → modify latent vector → decode to new molecule. Can generate molecules with specific properties.</a:t>
            </a:r>
          </a:p>
          <a:p>
            <a:r>
              <a:t>Diffusion models: add noise to a molecule, learn to denoise → generate new molecules from noise. State of the art for molecular generation.</a:t>
            </a:r>
          </a:p>
          <a:p/>
          <a:p>
            <a:r>
              <a:t>ALPHAFOLD:</a:t>
            </a:r>
          </a:p>
          <a:p>
            <a:r>
              <a:t>Google DeepMind's protein structure prediction AI (2021). Given a protein sequence, predict its 3D structure with atomic accuracy. REVOLUTIONIZED drug discovery because:</a:t>
            </a:r>
          </a:p>
          <a:p>
            <a:r>
              <a:t>1. Drug binding depends on 3D structure of the protein target</a:t>
            </a:r>
          </a:p>
          <a:p>
            <a:r>
              <a:t>2. Before AlphaFold, getting a 3D structure required experimental crystallography (expensive, slow, often fails)</a:t>
            </a:r>
          </a:p>
          <a:p>
            <a:r>
              <a:t>3. Now: any protein's structure is available in minutes</a:t>
            </a:r>
          </a:p>
          <a:p>
            <a:r>
              <a:t>4. AlphaFold + molecular docking (predicting where a drug fits in the 3D structure) = structure-based drug design</a:t>
            </a:r>
          </a:p>
          <a:p/>
          <a:p>
            <a:r>
              <a:t>WHAT STUDENTS SHOULD DO BETWEEN NOW AND DAY 3:</a:t>
            </a:r>
          </a:p>
          <a:p>
            <a:r>
              <a:t>1. Review their SHAP analysis from today's practical. Try to explain the top 5 most important features chemically.</a:t>
            </a:r>
          </a:p>
          <a:p>
            <a:r>
              <a:t>2. Finalize their project groups (sign up today!).</a:t>
            </a:r>
          </a:p>
          <a:p>
            <a:r>
              <a:t>3. Think about whether their project uses QSAR (today's tools) or needs GNNs (Day 3 tools). If the dataset is &lt;5,000 molecules: RF/XGBoost might be sufficient. If &gt;10,000 or involves 3D structure: consider GNNs/AlphaFold.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2 — 22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Molecular ML: From Fingerprints to Predictions</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Represent molecules, train models, evaluate properly, and explain results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 — ANNOTATED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Morning Agenda (Units 1-4)</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SMILES deep dive — syntax rules, practice, limitations</a:t>
            </a:r>
          </a:p>
          <a:p>
            <a:pPr>
              <a:spcAft>
                <a:spcPts val="800"/>
              </a:spcAft>
              <a:defRPr sz="2000">
                <a:solidFill>
                  <a:srgbClr val="323232"/>
                </a:solidFill>
                <a:latin typeface="Calibri"/>
              </a:defRPr>
            </a:pPr>
            <a:r>
              <a:t>2. Molecular fingerprints — Morgan/ECFP, Tanimoto similarity</a:t>
            </a:r>
          </a:p>
          <a:p>
            <a:pPr>
              <a:spcAft>
                <a:spcPts val="800"/>
              </a:spcAft>
              <a:defRPr sz="2000">
                <a:solidFill>
                  <a:srgbClr val="323232"/>
                </a:solidFill>
                <a:latin typeface="Calibri"/>
              </a:defRPr>
            </a:pPr>
            <a:r>
              <a:t>3. Feature engineering — descriptors, Lipinski, BBB rules</a:t>
            </a:r>
          </a:p>
          <a:p>
            <a:pPr>
              <a:spcAft>
                <a:spcPts val="800"/>
              </a:spcAft>
              <a:defRPr sz="2000">
                <a:solidFill>
                  <a:srgbClr val="323232"/>
                </a:solidFill>
                <a:latin typeface="Calibri"/>
              </a:defRPr>
            </a:pPr>
            <a:r>
              <a:t>4. QSAR: Quantitative Structure-Activity Relationships</a:t>
            </a:r>
          </a:p>
          <a:p>
            <a:pPr>
              <a:spcAft>
                <a:spcPts val="800"/>
              </a:spcAft>
              <a:defRPr sz="2000">
                <a:solidFill>
                  <a:srgbClr val="323232"/>
                </a:solidFill>
                <a:latin typeface="Calibri"/>
              </a:defRPr>
            </a:pPr>
            <a:r>
              <a:t>5. ML baselines: Random Forest &amp; XGBoost</a:t>
            </a:r>
          </a:p>
          <a:p>
            <a:pPr>
              <a:spcAft>
                <a:spcPts val="800"/>
              </a:spcAft>
              <a:defRPr sz="2000">
                <a:solidFill>
                  <a:srgbClr val="323232"/>
                </a:solidFill>
                <a:latin typeface="Calibri"/>
              </a:defRPr>
            </a:pPr>
            <a:r>
              <a:t>6. PRACTICAL 1: Build a QSAR model for solubility prediction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BREAK after Unit 2 (after ~90 min)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CNS drug focus: blood-brain barrier penetration, neuroscience targets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SMILES: Deep Dive</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Weininger (1988), J. Chem. Inf. Comput. Sci. 28:31-36</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Syntax Rules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Atoms: C, N, O, S, P, F, Cl, Br, I (organic subset, implicit H)</a:t>
            </a:r>
          </a:p>
          <a:p>
            <a:pPr>
              <a:spcAft>
                <a:spcPts val="800"/>
              </a:spcAft>
              <a:defRPr sz="2000">
                <a:solidFill>
                  <a:srgbClr val="323232"/>
                </a:solidFill>
                <a:latin typeface="Calibri"/>
              </a:defRPr>
            </a:pPr>
            <a:r>
              <a:t>Single bond: implicit (CC = ethane)  |  Double: = (C=O)  |  Triple: # (C#N)</a:t>
            </a:r>
          </a:p>
          <a:p>
            <a:pPr>
              <a:spcAft>
                <a:spcPts val="800"/>
              </a:spcAft>
              <a:defRPr sz="2000">
                <a:solidFill>
                  <a:srgbClr val="323232"/>
                </a:solidFill>
                <a:latin typeface="Calibri"/>
              </a:defRPr>
            </a:pPr>
            <a:r>
              <a:t>Aromatic: lowercase (c1ccccc1 = benzene)</a:t>
            </a:r>
          </a:p>
          <a:p>
            <a:pPr>
              <a:spcAft>
                <a:spcPts val="800"/>
              </a:spcAft>
              <a:defRPr sz="2000">
                <a:solidFill>
                  <a:srgbClr val="323232"/>
                </a:solidFill>
                <a:latin typeface="Calibri"/>
              </a:defRPr>
            </a:pPr>
            <a:r>
              <a:t>Branches: parentheses — CC(=O)O = acetic acid</a:t>
            </a:r>
          </a:p>
          <a:p>
            <a:pPr>
              <a:spcAft>
                <a:spcPts val="800"/>
              </a:spcAft>
              <a:defRPr sz="2000">
                <a:solidFill>
                  <a:srgbClr val="323232"/>
                </a:solidFill>
                <a:latin typeface="Calibri"/>
              </a:defRPr>
            </a:pPr>
            <a:r>
              <a:t>Rings: matching digits — C1CCCCC1 = cyclohexane</a:t>
            </a:r>
          </a:p>
          <a:p>
            <a:pPr>
              <a:spcAft>
                <a:spcPts val="800"/>
              </a:spcAft>
              <a:defRPr sz="2000">
                <a:solidFill>
                  <a:srgbClr val="323232"/>
                </a:solidFill>
                <a:latin typeface="Calibri"/>
              </a:defRPr>
            </a:pPr>
            <a:r>
              <a:t>Charges: [NH4+], [O-]  |  Stereochemistry: / \ for E/Z, @ @@ for R/S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Canonical SMILES: unique representation (RDKit Chem.MolToSmiles())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Alternatives:</a:t>
            </a:r>
          </a:p>
          <a:p>
            <a:pPr>
              <a:spcAft>
                <a:spcPts val="800"/>
              </a:spcAft>
              <a:defRPr sz="2000">
                <a:solidFill>
                  <a:srgbClr val="323232"/>
                </a:solidFill>
                <a:latin typeface="Calibri"/>
              </a:defRPr>
            </a:pPr>
            <a:r>
              <a:t>  SELFIES — 100% valid strings (Krenn et al. 2020) — great for generative AI</a:t>
            </a:r>
          </a:p>
          <a:p>
            <a:pPr>
              <a:spcAft>
                <a:spcPts val="800"/>
              </a:spcAft>
              <a:defRPr sz="2000">
                <a:solidFill>
                  <a:srgbClr val="323232"/>
                </a:solidFill>
                <a:latin typeface="Calibri"/>
              </a:defRPr>
            </a:pPr>
            <a:r>
              <a:t>  InChI — IUPAC standard  |  DeepSMILES — neural network friendly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SMILES Practice: Can You Read These?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NCCc1c[nH]c2ccc(O)cc12  →  ?  (hint: neurotransmitter, mood)</a:t>
            </a:r>
          </a:p>
          <a:p>
            <a:pPr>
              <a:spcAft>
                <a:spcPts val="800"/>
              </a:spcAft>
              <a:defRPr sz="2000">
                <a:solidFill>
                  <a:srgbClr val="323232"/>
                </a:solidFill>
                <a:latin typeface="Calibri"/>
              </a:defRPr>
            </a:pPr>
            <a:r>
              <a:t>2. NCCc1ccc(O)c(O)c1  →  ?  (hint: reward pathway)</a:t>
            </a:r>
          </a:p>
          <a:p>
            <a:pPr>
              <a:spcAft>
                <a:spcPts val="800"/>
              </a:spcAft>
              <a:defRPr sz="2000">
                <a:solidFill>
                  <a:srgbClr val="323232"/>
                </a:solidFill>
                <a:latin typeface="Calibri"/>
              </a:defRPr>
            </a:pPr>
            <a:r>
              <a:t>3. NCCCC(=O)O  →  ?  (hint: main inhibitory NT in the brain)</a:t>
            </a:r>
          </a:p>
          <a:p>
            <a:pPr>
              <a:spcAft>
                <a:spcPts val="800"/>
              </a:spcAft>
              <a:defRPr sz="2000">
                <a:solidFill>
                  <a:srgbClr val="323232"/>
                </a:solidFill>
                <a:latin typeface="Calibri"/>
              </a:defRPr>
            </a:pPr>
            <a:r>
              <a:t>4. CC(=O)Oc1ccccc1C(=O)O  →  ?  (hint: common painkiller)</a:t>
            </a:r>
          </a:p>
          <a:p>
            <a:pPr>
              <a:spcAft>
                <a:spcPts val="800"/>
              </a:spcAft>
              <a:defRPr sz="2000">
                <a:solidFill>
                  <a:srgbClr val="323232"/>
                </a:solidFill>
                <a:latin typeface="Calibri"/>
              </a:defRPr>
            </a:pPr>
            <a:r>
              <a:t>5. Cn1c(=O)c2c(ncn2C)n(C)c1=O  →  ?  (hint: in your coffee)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Answers: 1) Serotonin  2) Dopamine  3) GABA  4) Aspirin  5) Caffeine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Note: GABA is simpler than serotonin, but both are critical NTs</a:t>
            </a:r>
          </a:p>
          <a:p>
            <a:pPr>
              <a:spcAft>
                <a:spcPts val="800"/>
              </a:spcAft>
              <a:defRPr sz="2000">
                <a:solidFill>
                  <a:srgbClr val="323232"/>
                </a:solidFill>
                <a:latin typeface="Calibri"/>
              </a:defRPr>
            </a:pPr>
            <a:r>
              <a:t>GABA-A receptor is in the same Cys-loop superfamily as GluCl (ivermectin target)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Molecular Fingerprints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From molecular structure to numerical vectors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Molecular Fingerprints: The Concept</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fingerprint converts a molecule into a fixed-length bit vector</a:t>
            </a:r>
          </a:p>
          <a:p>
            <a:pPr>
              <a:spcAft>
                <a:spcPts val="800"/>
              </a:spcAft>
              <a:defRPr sz="2000">
                <a:solidFill>
                  <a:srgbClr val="323232"/>
                </a:solidFill>
                <a:latin typeface="Calibri"/>
              </a:defRPr>
            </a:pPr>
            <a:r>
              <a:t>Each bit indicates presence/absence of a substructure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a:t>
            </a:r>
          </a:p>
          <a:p>
            <a:pPr>
              <a:spcAft>
                <a:spcPts val="800"/>
              </a:spcAft>
              <a:defRPr sz="2000">
                <a:solidFill>
                  <a:srgbClr val="323232"/>
                </a:solidFill>
                <a:latin typeface="Calibri"/>
              </a:defRPr>
            </a:pPr>
            <a:r>
              <a:t>  Structural keys (MACCS, 166 bits) — predefined patterns</a:t>
            </a:r>
          </a:p>
          <a:p>
            <a:pPr>
              <a:spcAft>
                <a:spcPts val="800"/>
              </a:spcAft>
              <a:defRPr sz="2000">
                <a:solidFill>
                  <a:srgbClr val="323232"/>
                </a:solidFill>
                <a:latin typeface="Calibri"/>
              </a:defRPr>
            </a:pPr>
            <a:r>
              <a:t>  Topological (RDKit FP) — paths through molecular graph</a:t>
            </a:r>
          </a:p>
          <a:p>
            <a:pPr>
              <a:spcAft>
                <a:spcPts val="800"/>
              </a:spcAft>
              <a:defRPr sz="2000">
                <a:solidFill>
                  <a:srgbClr val="323232"/>
                </a:solidFill>
                <a:latin typeface="Calibri"/>
              </a:defRPr>
            </a:pPr>
            <a:r>
              <a:t>  Circular (Morgan/ECFP) — local atom environments at radius 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Morgan fingerprints are the most widely used today</a:t>
            </a:r>
          </a:p>
          <a:p>
            <a:pPr>
              <a:spcAft>
                <a:spcPts val="800"/>
              </a:spcAft>
              <a:defRPr sz="2000">
                <a:solidFill>
                  <a:srgbClr val="323232"/>
                </a:solidFill>
                <a:latin typeface="Calibri"/>
              </a:defRPr>
            </a:pPr>
            <a:r>
              <a:t>  Rogers &amp; Hahn (2010), JCIM 50:742-754</a:t>
            </a:r>
          </a:p>
          <a:p>
            <a:pPr>
              <a:spcAft>
                <a:spcPts val="800"/>
              </a:spcAft>
              <a:defRPr sz="2000">
                <a:solidFill>
                  <a:srgbClr val="323232"/>
                </a:solidFill>
                <a:latin typeface="Calibri"/>
              </a:defRPr>
            </a:pPr>
            <a:r>
              <a:t>  ECFP4 = radius 2, 2048 bits = default starting point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RDKit: AllChem.GetMorganFingerprintAsBitVect(mol, radius=2, nBits=2048)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Morgan / ECFP: How They Work</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Algorithm (for each atom):</a:t>
            </a:r>
          </a:p>
          <a:p>
            <a:pPr>
              <a:spcAft>
                <a:spcPts val="800"/>
              </a:spcAft>
              <a:defRPr sz="2000">
                <a:solidFill>
                  <a:srgbClr val="323232"/>
                </a:solidFill>
                <a:latin typeface="Calibri"/>
              </a:defRPr>
            </a:pPr>
            <a:r>
              <a:t>  1. Start: identifier = atom type + properties</a:t>
            </a:r>
          </a:p>
          <a:p>
            <a:pPr>
              <a:spcAft>
                <a:spcPts val="800"/>
              </a:spcAft>
              <a:defRPr sz="2000">
                <a:solidFill>
                  <a:srgbClr val="323232"/>
                </a:solidFill>
                <a:latin typeface="Calibri"/>
              </a:defRPr>
            </a:pPr>
            <a:r>
              <a:t>  2. Iteration 1: collect identifiers from radius-1 neighbors</a:t>
            </a:r>
          </a:p>
          <a:p>
            <a:pPr>
              <a:spcAft>
                <a:spcPts val="800"/>
              </a:spcAft>
              <a:defRPr sz="2000">
                <a:solidFill>
                  <a:srgbClr val="323232"/>
                </a:solidFill>
                <a:latin typeface="Calibri"/>
              </a:defRPr>
            </a:pPr>
            <a:r>
              <a:t>  3. Hash combined info → new identifier</a:t>
            </a:r>
          </a:p>
          <a:p>
            <a:pPr>
              <a:spcAft>
                <a:spcPts val="800"/>
              </a:spcAft>
              <a:defRPr sz="2000">
                <a:solidFill>
                  <a:srgbClr val="323232"/>
                </a:solidFill>
                <a:latin typeface="Calibri"/>
              </a:defRPr>
            </a:pPr>
            <a:r>
              <a:t>  4. Iteration 2: expand to radius-2, hash again</a:t>
            </a:r>
          </a:p>
          <a:p>
            <a:pPr>
              <a:spcAft>
                <a:spcPts val="800"/>
              </a:spcAft>
              <a:defRPr sz="2000">
                <a:solidFill>
                  <a:srgbClr val="323232"/>
                </a:solidFill>
                <a:latin typeface="Calibri"/>
              </a:defRPr>
            </a:pPr>
            <a:r>
              <a:t>  5. Map all identifiers to fixed-length bit vector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ECFP4 = radius 2  |  ECFP6 = radius 3</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Similarity: Tanimoto coefficient = |A∩B| / |A∪B|</a:t>
            </a:r>
          </a:p>
          <a:p>
            <a:pPr>
              <a:spcAft>
                <a:spcPts val="800"/>
              </a:spcAft>
              <a:defRPr sz="2000">
                <a:solidFill>
                  <a:srgbClr val="323232"/>
                </a:solidFill>
                <a:latin typeface="Calibri"/>
              </a:defRPr>
            </a:pPr>
            <a:r>
              <a:t>  Range: 0 (different) to 1 (identical)</a:t>
            </a:r>
          </a:p>
          <a:p>
            <a:pPr>
              <a:spcAft>
                <a:spcPts val="800"/>
              </a:spcAft>
              <a:defRPr sz="2000">
                <a:solidFill>
                  <a:srgbClr val="323232"/>
                </a:solidFill>
                <a:latin typeface="Calibri"/>
              </a:defRPr>
            </a:pPr>
            <a:r>
              <a:t>  Tanimoto &gt; 0.85 → likely similar activity (but exceptions exist!)</a:t>
            </a:r>
          </a:p>
          <a:p>
            <a:pPr>
              <a:spcAft>
                <a:spcPts val="800"/>
              </a:spcAft>
              <a:defRPr sz="2000">
                <a:solidFill>
                  <a:srgbClr val="323232"/>
                </a:solidFill>
                <a:latin typeface="Calibri"/>
              </a:defRPr>
            </a:pPr>
            <a:r>
              <a:t>  In RDKit: DataStructs.TanimotoSimilarity(fp1, fp2)</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Feature Engineering &amp; Lipinski's Rule of Five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Physicochemical descriptors:</a:t>
            </a:r>
          </a:p>
          <a:p>
            <a:pPr>
              <a:spcAft>
                <a:spcPts val="800"/>
              </a:spcAft>
              <a:defRPr sz="2000">
                <a:solidFill>
                  <a:srgbClr val="323232"/>
                </a:solidFill>
                <a:latin typeface="Calibri"/>
              </a:defRPr>
            </a:pPr>
            <a:r>
              <a:t>  MW, LogP (lipophilicity), HBD, HBA, TPSA, rotatable bonds, aromatic rings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Lipinski (Pfizer, 1997) — most cited paper in medicinal chemistry:</a:t>
            </a:r>
          </a:p>
          <a:p>
            <a:pPr>
              <a:spcAft>
                <a:spcPts val="800"/>
              </a:spcAft>
              <a:defRPr sz="2000">
                <a:solidFill>
                  <a:srgbClr val="323232"/>
                </a:solidFill>
                <a:latin typeface="Calibri"/>
              </a:defRPr>
            </a:pPr>
            <a:r>
              <a:t>  Orally bioavailable if: MW ≤ 500, LogP ≤ 5, HBD ≤ 5, HBA ≤ 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CNS drugs — crossing the blood-brain barrier (Pardridge 2005):</a:t>
            </a:r>
          </a:p>
          <a:p>
            <a:pPr>
              <a:spcAft>
                <a:spcPts val="800"/>
              </a:spcAft>
              <a:defRPr sz="2000">
                <a:solidFill>
                  <a:srgbClr val="323232"/>
                </a:solidFill>
                <a:latin typeface="Calibri"/>
              </a:defRPr>
            </a:pPr>
            <a:r>
              <a:t>  MW &lt; 450, LogP 1-3, HBD &lt; 3, TPSA &lt; 90 Å²</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Example: serotonin (MW=176, LogP=0.2) does NOT cross BBB well</a:t>
            </a:r>
          </a:p>
          <a:p>
            <a:pPr>
              <a:spcAft>
                <a:spcPts val="800"/>
              </a:spcAft>
              <a:defRPr sz="2000">
                <a:solidFill>
                  <a:srgbClr val="323232"/>
                </a:solidFill>
                <a:latin typeface="Calibri"/>
              </a:defRPr>
            </a:pPr>
            <a:r>
              <a:t>  → That's why we give SSRIs (which cross BBB) not serotonin itself</a:t>
            </a:r>
          </a:p>
          <a:p>
            <a:pPr>
              <a:spcAft>
                <a:spcPts val="800"/>
              </a:spcAft>
              <a:defRPr sz="2000">
                <a:solidFill>
                  <a:srgbClr val="323232"/>
                </a:solidFill>
                <a:latin typeface="Calibri"/>
              </a:defRPr>
            </a:pPr>
            <a:r>
              <a:t>  → L-DOPA crosses BBB, dopamine doesn't → Parkinson's treatment</a:t>
            </a:r>
          </a:p>
          <a:p>
            <a:pPr>
              <a:spcAft>
                <a:spcPts val="800"/>
              </a:spcAft>
              <a:defRPr sz="2000">
                <a:solidFill>
                  <a:srgbClr val="323232"/>
                </a:solidFill>
                <a:latin typeface="Calibri"/>
              </a:defRPr>
            </a:pPr>
          </a:p>
          <a:p>
            <a:pPr>
              <a:spcAft>
                <a:spcPts val="800"/>
              </a:spcAft>
              <a:defRPr sz="2000">
                <a:solidFill>
                  <a:srgbClr val="323232"/>
                </a:solidFill>
                <a:latin typeface="Calibri"/>
              </a:defRPr>
            </a:pPr>
            <a:r>
              <a:t>RDKit: 200+ descriptors  |  Mordred: &gt;1800 descriptors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QSAR: Quantitative Structure-Activity Relationships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Core idea: molecular structure determines biological activity</a:t>
            </a:r>
          </a:p>
          <a:p>
            <a:pPr>
              <a:spcAft>
                <a:spcPts val="800"/>
              </a:spcAft>
              <a:defRPr sz="2000">
                <a:solidFill>
                  <a:srgbClr val="323232"/>
                </a:solidFill>
                <a:latin typeface="Calibri"/>
              </a:defRPr>
            </a:pPr>
            <a:r>
              <a:t>  Activity = f(molecular features)</a:t>
            </a:r>
          </a:p>
          <a:p>
            <a:pPr>
              <a:spcAft>
                <a:spcPts val="800"/>
              </a:spcAft>
              <a:defRPr sz="2000">
                <a:solidFill>
                  <a:srgbClr val="323232"/>
                </a:solidFill>
                <a:latin typeface="Calibri"/>
              </a:defRPr>
            </a:pPr>
            <a:r>
              <a:t>  Hansch (1964) — founded the field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Modern QSAR workflow:</a:t>
            </a:r>
          </a:p>
          <a:p>
            <a:pPr>
              <a:spcAft>
                <a:spcPts val="800"/>
              </a:spcAft>
              <a:defRPr sz="2000">
                <a:solidFill>
                  <a:srgbClr val="323232"/>
                </a:solidFill>
                <a:latin typeface="Calibri"/>
              </a:defRPr>
            </a:pPr>
            <a:r>
              <a:t>  1. Curate dataset from ChEMBL (target + activity data)</a:t>
            </a:r>
          </a:p>
          <a:p>
            <a:pPr>
              <a:spcAft>
                <a:spcPts val="800"/>
              </a:spcAft>
              <a:defRPr sz="2000">
                <a:solidFill>
                  <a:srgbClr val="323232"/>
                </a:solidFill>
                <a:latin typeface="Calibri"/>
              </a:defRPr>
            </a:pPr>
            <a:r>
              <a:t>  2. Generate features (fingerprints + descriptors)</a:t>
            </a:r>
          </a:p>
          <a:p>
            <a:pPr>
              <a:spcAft>
                <a:spcPts val="800"/>
              </a:spcAft>
              <a:defRPr sz="2000">
                <a:solidFill>
                  <a:srgbClr val="323232"/>
                </a:solidFill>
                <a:latin typeface="Calibri"/>
              </a:defRPr>
            </a:pPr>
            <a:r>
              <a:t>  3. Split data (scaffold split, NOT random!)</a:t>
            </a:r>
          </a:p>
          <a:p>
            <a:pPr>
              <a:spcAft>
                <a:spcPts val="800"/>
              </a:spcAft>
              <a:defRPr sz="2000">
                <a:solidFill>
                  <a:srgbClr val="323232"/>
                </a:solidFill>
                <a:latin typeface="Calibri"/>
              </a:defRPr>
            </a:pPr>
            <a:r>
              <a:t>  4. Train model (RF, XGBoost, GNN)</a:t>
            </a:r>
          </a:p>
          <a:p>
            <a:pPr>
              <a:spcAft>
                <a:spcPts val="800"/>
              </a:spcAft>
              <a:defRPr sz="2000">
                <a:solidFill>
                  <a:srgbClr val="323232"/>
                </a:solidFill>
                <a:latin typeface="Calibri"/>
              </a:defRPr>
            </a:pPr>
            <a:r>
              <a:t>  5. Evaluate rigorously (RMSE, R², AUC-ROC)</a:t>
            </a:r>
          </a:p>
          <a:p>
            <a:pPr>
              <a:spcAft>
                <a:spcPts val="800"/>
              </a:spcAft>
              <a:defRPr sz="2000">
                <a:solidFill>
                  <a:srgbClr val="323232"/>
                </a:solidFill>
                <a:latin typeface="Calibri"/>
              </a:defRPr>
            </a:pPr>
            <a:r>
              <a:t>  6. Interpret (SHAP, feature importance)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This is the core pipeline you'll use for your projects!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ML Baselines: Random Forest &amp; XGBoost</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Random Forest</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Ensemble of decision trees (Breiman 2001)</a:t>
            </a:r>
          </a:p>
          <a:p>
            <a:pPr>
              <a:spcAft>
                <a:spcPts val="800"/>
              </a:spcAft>
              <a:defRPr sz="1800">
                <a:solidFill>
                  <a:srgbClr val="323232"/>
                </a:solidFill>
                <a:latin typeface="Calibri"/>
              </a:defRPr>
            </a:pPr>
            <a:r>
              <a:t>Each tree trained on bootstrap sample</a:t>
            </a:r>
          </a:p>
          <a:p>
            <a:pPr>
              <a:spcAft>
                <a:spcPts val="800"/>
              </a:spcAft>
              <a:defRPr sz="1800">
                <a:solidFill>
                  <a:srgbClr val="323232"/>
                </a:solidFill>
                <a:latin typeface="Calibri"/>
              </a:defRPr>
            </a:pPr>
            <a:r>
              <a:t>Final prediction = average (regression) or vote</a:t>
            </a:r>
          </a:p>
          <a:p>
            <a:pPr>
              <a:spcAft>
                <a:spcPts val="800"/>
              </a:spcAft>
              <a:defRPr sz="1800">
                <a:solidFill>
                  <a:srgbClr val="323232"/>
                </a:solidFill>
                <a:latin typeface="Calibri"/>
              </a:defRPr>
            </a:pPr>
            <a:r>
              <a:t>Handles high-dimensional fingerprints well</a:t>
            </a:r>
          </a:p>
          <a:p>
            <a:pPr>
              <a:spcAft>
                <a:spcPts val="800"/>
              </a:spcAft>
              <a:defRPr sz="1800">
                <a:solidFill>
                  <a:srgbClr val="323232"/>
                </a:solidFill>
                <a:latin typeface="Calibri"/>
              </a:defRPr>
            </a:pPr>
            <a:r>
              <a:t>Resistant to overfitting</a:t>
            </a:r>
          </a:p>
          <a:p>
            <a:pPr>
              <a:spcAft>
                <a:spcPts val="800"/>
              </a:spcAft>
              <a:defRPr sz="1800">
                <a:solidFill>
                  <a:srgbClr val="323232"/>
                </a:solidFill>
                <a:latin typeface="Calibri"/>
              </a:defRPr>
            </a:pPr>
            <a:r>
              <a:t>Easy to interpret (feature importance)</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XGBoost</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Sequential trees correct errors (Chen &amp; Guestrin 2016)</a:t>
            </a:r>
          </a:p>
          <a:p>
            <a:pPr>
              <a:spcAft>
                <a:spcPts val="800"/>
              </a:spcAft>
              <a:defRPr sz="1800">
                <a:solidFill>
                  <a:srgbClr val="323232"/>
                </a:solidFill>
                <a:latin typeface="Calibri"/>
              </a:defRPr>
            </a:pPr>
            <a:r>
              <a:t>Often higher accuracy than RF</a:t>
            </a:r>
          </a:p>
          <a:p>
            <a:pPr>
              <a:spcAft>
                <a:spcPts val="800"/>
              </a:spcAft>
              <a:defRPr sz="1800">
                <a:solidFill>
                  <a:srgbClr val="323232"/>
                </a:solidFill>
                <a:latin typeface="Calibri"/>
              </a:defRPr>
            </a:pPr>
            <a:r>
              <a:t>Built-in regularization</a:t>
            </a:r>
          </a:p>
          <a:p>
            <a:pPr>
              <a:spcAft>
                <a:spcPts val="800"/>
              </a:spcAft>
              <a:defRPr sz="1800">
                <a:solidFill>
                  <a:srgbClr val="323232"/>
                </a:solidFill>
                <a:latin typeface="Calibri"/>
              </a:defRPr>
            </a:pPr>
            <a:r>
              <a:t>Handles missing values</a:t>
            </a:r>
          </a:p>
          <a:p>
            <a:pPr>
              <a:spcAft>
                <a:spcPts val="800"/>
              </a:spcAft>
              <a:defRPr sz="1800">
                <a:solidFill>
                  <a:srgbClr val="323232"/>
                </a:solidFill>
                <a:latin typeface="Calibri"/>
              </a:defRPr>
            </a:pPr>
            <a:r>
              <a:t>Dominant in Kaggle competitions</a:t>
            </a:r>
          </a:p>
          <a:p>
            <a:pPr>
              <a:spcAft>
                <a:spcPts val="800"/>
              </a:spcAft>
              <a:defRPr sz="1800">
                <a:solidFill>
                  <a:srgbClr val="323232"/>
                </a:solidFill>
                <a:latin typeface="Calibri"/>
              </a:defRPr>
            </a:pPr>
            <a:r>
              <a:t>Sheridan (2016, JCIM 56:2353-2360): XGBoost modestly &gt; RF for QSAR</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BREAK — 15 minutes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Practical 1 starts right after the break!</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1: Build a QSAR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day2_molecular_ml/Day2_Practical_QSAR.ipynb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Dataset: Delaney solubility (1,128 molecules, logS values)</a:t>
            </a:r>
          </a:p>
          <a:p>
            <a:pPr>
              <a:spcAft>
                <a:spcPts val="800"/>
              </a:spcAft>
              <a:defRPr sz="2000">
                <a:solidFill>
                  <a:srgbClr val="323232"/>
                </a:solidFill>
                <a:latin typeface="Calibri"/>
              </a:defRPr>
            </a:pPr>
            <a:r>
              <a:t>  Delaney (2004), J. Chem. Inf. Comput. Sci. 44:1000-1005</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dataset, parse SMILES with RDKit</a:t>
            </a:r>
          </a:p>
          <a:p>
            <a:pPr>
              <a:spcAft>
                <a:spcPts val="800"/>
              </a:spcAft>
              <a:defRPr sz="2000">
                <a:solidFill>
                  <a:srgbClr val="323232"/>
                </a:solidFill>
                <a:latin typeface="Calibri"/>
              </a:defRPr>
            </a:pPr>
            <a:r>
              <a:t>  2. Generate Morgan fingerprints (ECFP4, 2048 bits)</a:t>
            </a:r>
          </a:p>
          <a:p>
            <a:pPr>
              <a:spcAft>
                <a:spcPts val="800"/>
              </a:spcAft>
              <a:defRPr sz="2000">
                <a:solidFill>
                  <a:srgbClr val="323232"/>
                </a:solidFill>
                <a:latin typeface="Calibri"/>
              </a:defRPr>
            </a:pPr>
            <a:r>
              <a:t>  3. Calculate physicochemical descriptors</a:t>
            </a:r>
          </a:p>
          <a:p>
            <a:pPr>
              <a:spcAft>
                <a:spcPts val="800"/>
              </a:spcAft>
              <a:defRPr sz="2000">
                <a:solidFill>
                  <a:srgbClr val="323232"/>
                </a:solidFill>
                <a:latin typeface="Calibri"/>
              </a:defRPr>
            </a:pPr>
            <a:r>
              <a:t>  4. 80/20 train/test split</a:t>
            </a:r>
          </a:p>
          <a:p>
            <a:pPr>
              <a:spcAft>
                <a:spcPts val="800"/>
              </a:spcAft>
              <a:defRPr sz="2000">
                <a:solidFill>
                  <a:srgbClr val="323232"/>
                </a:solidFill>
                <a:latin typeface="Calibri"/>
              </a:defRPr>
            </a:pPr>
            <a:r>
              <a:t>  5. Train Random Forest regressor</a:t>
            </a:r>
          </a:p>
          <a:p>
            <a:pPr>
              <a:spcAft>
                <a:spcPts val="800"/>
              </a:spcAft>
              <a:defRPr sz="2000">
                <a:solidFill>
                  <a:srgbClr val="323232"/>
                </a:solidFill>
                <a:latin typeface="Calibri"/>
              </a:defRPr>
            </a:pPr>
            <a:r>
              <a:t>  6. Train XGBoost regressor</a:t>
            </a:r>
          </a:p>
          <a:p>
            <a:pPr>
              <a:spcAft>
                <a:spcPts val="800"/>
              </a:spcAft>
              <a:defRPr sz="2000">
                <a:solidFill>
                  <a:srgbClr val="323232"/>
                </a:solidFill>
                <a:latin typeface="Calibri"/>
              </a:defRPr>
            </a:pPr>
            <a:r>
              <a:t>  7. Compare: RMSE, R-squared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~50 min including code execution | Work in pairs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PRACTICAL 1 — Build Your QSAR Model</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50 minutes of coding — train your first molecular ML model!</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Afternoon Agenda (Units 5-8)</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7. Why standard evaluation fails for molecular data</a:t>
            </a:r>
          </a:p>
          <a:p>
            <a:pPr>
              <a:spcAft>
                <a:spcPts val="800"/>
              </a:spcAft>
              <a:defRPr sz="2000">
                <a:solidFill>
                  <a:srgbClr val="323232"/>
                </a:solidFill>
                <a:latin typeface="Calibri"/>
              </a:defRPr>
            </a:pPr>
            <a:r>
              <a:t>8. Activity cliffs and scaffold bias</a:t>
            </a:r>
          </a:p>
          <a:p>
            <a:pPr>
              <a:spcAft>
                <a:spcPts val="800"/>
              </a:spcAft>
              <a:defRPr sz="2000">
                <a:solidFill>
                  <a:srgbClr val="323232"/>
                </a:solidFill>
                <a:latin typeface="Calibri"/>
              </a:defRPr>
            </a:pPr>
            <a:r>
              <a:t>9. Proper validation: scaffold splits, temporal splits</a:t>
            </a:r>
          </a:p>
          <a:p>
            <a:pPr>
              <a:spcAft>
                <a:spcPts val="800"/>
              </a:spcAft>
              <a:defRPr sz="2000">
                <a:solidFill>
                  <a:srgbClr val="323232"/>
                </a:solidFill>
                <a:latin typeface="Calibri"/>
              </a:defRPr>
            </a:pPr>
            <a:r>
              <a:t>10. Metrics deep dive: RMSE, R², ROC-AUC, precision-recall</a:t>
            </a:r>
          </a:p>
          <a:p>
            <a:pPr>
              <a:spcAft>
                <a:spcPts val="800"/>
              </a:spcAft>
              <a:defRPr sz="2000">
                <a:solidFill>
                  <a:srgbClr val="323232"/>
                </a:solidFill>
                <a:latin typeface="Calibri"/>
              </a:defRPr>
            </a:pPr>
            <a:r>
              <a:t>11. Explainability with SHAP (Lundberg &amp; Lee 2017)</a:t>
            </a:r>
          </a:p>
          <a:p>
            <a:pPr>
              <a:spcAft>
                <a:spcPts val="800"/>
              </a:spcAft>
              <a:defRPr sz="2000">
                <a:solidFill>
                  <a:srgbClr val="323232"/>
                </a:solidFill>
                <a:latin typeface="Calibri"/>
              </a:defRPr>
            </a:pPr>
            <a:r>
              <a:t>12. PRACTICAL 2: Re-evaluate your morning model properly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 BREAK after Unit 6 (after ~90 min afternoon)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message: the EVALUATION is more important than the model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640080"/>
          </a:xfrm>
          <a:prstGeom prst="rect">
            <a:avLst/>
          </a:prstGeom>
          <a:noFill/>
        </p:spPr>
        <p:txBody>
          <a:bodyPr wrap="square">
            <a:spAutoFit/>
          </a:bodyPr>
          <a:lstStyle/>
          <a:p>
            <a:pPr algn="l">
              <a:defRPr sz="2600" b="1">
                <a:solidFill>
                  <a:srgbClr val="27AE60"/>
                </a:solidFill>
                <a:latin typeface="Calibri"/>
              </a:defRPr>
            </a:pPr>
            <a:r>
              <a:t>The Hall of Shame: When Models Lie</a:t>
            </a:r>
          </a:p>
        </p:txBody>
      </p:sp>
      <p:sp>
        <p:nvSpPr>
          <p:cNvPr id="3" name="TextBox 2"/>
          <p:cNvSpPr txBox="1"/>
          <p:nvPr/>
        </p:nvSpPr>
        <p:spPr>
          <a:xfrm>
            <a:off x="1097280" y="1463040"/>
            <a:ext cx="9601200" cy="4754880"/>
          </a:xfrm>
          <a:prstGeom prst="rect">
            <a:avLst/>
          </a:prstGeom>
          <a:noFill/>
        </p:spPr>
        <p:txBody>
          <a:bodyPr wrap="square">
            <a:spAutoFit/>
          </a:bodyPr>
          <a:lstStyle/>
          <a:p>
            <a:pPr algn="l">
              <a:defRPr sz="2000" b="0">
                <a:solidFill>
                  <a:srgbClr val="FFFFFF"/>
                </a:solidFill>
                <a:latin typeface="Calibri"/>
              </a:defRPr>
            </a:pPr>
            <a:r>
              <a:t>Example 1: hERG toxicity model — 95% accuracy on random split. On novel scaffolds: 60%.</a:t>
            </a:r>
            <a:br/>
            <a:br/>
            <a:r>
              <a:t>Example 2: Published AUC-ROC 0.97. Remove duplicate compounds: 0.72.</a:t>
            </a:r>
            <a:br/>
            <a:br/>
            <a:r>
              <a:t>Example 3: Scaffold split vs random — AUROC dropped from 0.92 to 0.75.</a:t>
            </a:r>
            <a:br/>
            <a:br/>
            <a:r>
              <a:t>Example 4 (Neuroscience): A GABA-A binding model looked great, but it learned to recognize the benzodiazepine scaffold, not actual binding features. On novel chemotypes: near-random.</a:t>
            </a:r>
            <a:br/>
            <a:br/>
            <a:r>
              <a:t>Lesson: ALWAYS validate properly.</a:t>
            </a:r>
            <a:br/>
            <a:br/>
            <a:r>
              <a:t>Ref: Wallach &amp; Heifets (2018) — 'Most Ligand-Based Benchmarks Reward Memorization'</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Scaffold Bias and Proper Splitting</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Scaffold = core ring structure (Bemis-Murcko framework)</a:t>
            </a:r>
          </a:p>
          <a:p>
            <a:pPr>
              <a:spcAft>
                <a:spcPts val="800"/>
              </a:spcAft>
              <a:defRPr sz="2000">
                <a:solidFill>
                  <a:srgbClr val="323232"/>
                </a:solidFill>
                <a:latin typeface="Calibri"/>
              </a:defRPr>
            </a:pPr>
            <a:r>
              <a:t>Problem: random split → same scaffold in train AND test → memorization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Solutions:</a:t>
            </a:r>
          </a:p>
          <a:p>
            <a:pPr>
              <a:spcAft>
                <a:spcPts val="800"/>
              </a:spcAft>
              <a:defRPr sz="2000">
                <a:solidFill>
                  <a:srgbClr val="323232"/>
                </a:solidFill>
                <a:latin typeface="Calibri"/>
              </a:defRPr>
            </a:pPr>
            <a:r>
              <a:t>  Scaffold split: no scaffold overlap (Bemis &amp; Murcko 1996)</a:t>
            </a:r>
          </a:p>
          <a:p>
            <a:pPr>
              <a:spcAft>
                <a:spcPts val="800"/>
              </a:spcAft>
              <a:defRPr sz="2000">
                <a:solidFill>
                  <a:srgbClr val="323232"/>
                </a:solidFill>
                <a:latin typeface="Calibri"/>
              </a:defRPr>
            </a:pPr>
            <a:r>
              <a:t>  Temporal split: train on older, test on newer data</a:t>
            </a:r>
          </a:p>
          <a:p>
            <a:pPr>
              <a:spcAft>
                <a:spcPts val="800"/>
              </a:spcAft>
              <a:defRPr sz="2000">
                <a:solidFill>
                  <a:srgbClr val="323232"/>
                </a:solidFill>
                <a:latin typeface="Calibri"/>
              </a:defRPr>
            </a:pPr>
            <a:r>
              <a:t>  Cluster split: cluster molecules, split by cluster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MoleculeNet uses scaffold split as default (Wu et al. 2018)</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Activity cliffs: very similar molecules, very different activity</a:t>
            </a:r>
          </a:p>
          <a:p>
            <a:pPr>
              <a:spcAft>
                <a:spcPts val="800"/>
              </a:spcAft>
              <a:defRPr sz="2000">
                <a:solidFill>
                  <a:srgbClr val="323232"/>
                </a:solidFill>
                <a:latin typeface="Calibri"/>
              </a:defRPr>
            </a:pPr>
            <a:r>
              <a:t>  Changing one methyl → chlorine can change IC50 by 1000×</a:t>
            </a:r>
          </a:p>
          <a:p>
            <a:pPr>
              <a:spcAft>
                <a:spcPts val="800"/>
              </a:spcAft>
              <a:defRPr sz="2000">
                <a:solidFill>
                  <a:srgbClr val="323232"/>
                </a:solidFill>
                <a:latin typeface="Calibri"/>
              </a:defRPr>
            </a:pPr>
            <a:r>
              <a:t>  These are the hardest cases for ML!</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Evaluation Metrics for Molecular ML</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200" b="1">
                <a:solidFill>
                  <a:srgbClr val="1F77B4"/>
                </a:solidFill>
                <a:latin typeface="Calibri"/>
              </a:defRPr>
            </a:pPr>
            <a:r>
              <a:t>Regression</a:t>
            </a:r>
          </a:p>
        </p:txBody>
      </p:sp>
      <p:sp>
        <p:nvSpPr>
          <p:cNvPr id="5" name="TextBox 4"/>
          <p:cNvSpPr txBox="1"/>
          <p:nvPr/>
        </p:nvSpPr>
        <p:spPr>
          <a:xfrm>
            <a:off x="73152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RMSE — root mean squared error</a:t>
            </a:r>
          </a:p>
          <a:p>
            <a:pPr>
              <a:spcAft>
                <a:spcPts val="800"/>
              </a:spcAft>
              <a:defRPr sz="1800">
                <a:solidFill>
                  <a:srgbClr val="323232"/>
                </a:solidFill>
                <a:latin typeface="Calibri"/>
              </a:defRPr>
            </a:pPr>
            <a:r>
              <a:t>  Penalizes large errors more</a:t>
            </a:r>
          </a:p>
          <a:p>
            <a:pPr>
              <a:spcAft>
                <a:spcPts val="800"/>
              </a:spcAft>
              <a:defRPr sz="1800">
                <a:solidFill>
                  <a:srgbClr val="323232"/>
                </a:solidFill>
                <a:latin typeface="Calibri"/>
              </a:defRPr>
            </a:pPr>
            <a:r>
              <a:t>R² — coefficient of determination</a:t>
            </a:r>
          </a:p>
          <a:p>
            <a:pPr>
              <a:spcAft>
                <a:spcPts val="800"/>
              </a:spcAft>
              <a:defRPr sz="1800">
                <a:solidFill>
                  <a:srgbClr val="323232"/>
                </a:solidFill>
                <a:latin typeface="Calibri"/>
              </a:defRPr>
            </a:pPr>
            <a:r>
              <a:t>  1.0 = perfect, &lt;0 = worse than mean</a:t>
            </a:r>
          </a:p>
          <a:p>
            <a:pPr>
              <a:spcAft>
                <a:spcPts val="800"/>
              </a:spcAft>
              <a:defRPr sz="1800">
                <a:solidFill>
                  <a:srgbClr val="323232"/>
                </a:solidFill>
                <a:latin typeface="Calibri"/>
              </a:defRPr>
            </a:pPr>
            <a:r>
              <a:t>MAE — mean absolute error</a:t>
            </a:r>
          </a:p>
          <a:p>
            <a:pPr>
              <a:spcAft>
                <a:spcPts val="800"/>
              </a:spcAft>
              <a:defRPr sz="1800">
                <a:solidFill>
                  <a:srgbClr val="323232"/>
                </a:solidFill>
                <a:latin typeface="Calibri"/>
              </a:defRPr>
            </a:pPr>
            <a:r>
              <a:t>  More robust to outliers</a:t>
            </a:r>
          </a:p>
          <a:p>
            <a:pPr>
              <a:spcAft>
                <a:spcPts val="800"/>
              </a:spcAft>
              <a:defRPr sz="1800">
                <a:solidFill>
                  <a:srgbClr val="323232"/>
                </a:solidFill>
                <a:latin typeface="Calibri"/>
              </a:defRPr>
            </a:pPr>
          </a:p>
          <a:p>
            <a:pPr>
              <a:spcAft>
                <a:spcPts val="800"/>
              </a:spcAft>
              <a:defRPr sz="1800">
                <a:solidFill>
                  <a:srgbClr val="323232"/>
                </a:solidFill>
                <a:latin typeface="Calibri"/>
              </a:defRPr>
            </a:pPr>
            <a:r>
              <a:t>Report ALL three, not just R²!</a:t>
            </a:r>
          </a:p>
        </p:txBody>
      </p:sp>
      <p:sp>
        <p:nvSpPr>
          <p:cNvPr id="6" name="TextBox 5"/>
          <p:cNvSpPr txBox="1"/>
          <p:nvPr/>
        </p:nvSpPr>
        <p:spPr>
          <a:xfrm>
            <a:off x="6400800" y="1188720"/>
            <a:ext cx="5029200" cy="457200"/>
          </a:xfrm>
          <a:prstGeom prst="rect">
            <a:avLst/>
          </a:prstGeom>
          <a:noFill/>
        </p:spPr>
        <p:txBody>
          <a:bodyPr wrap="square">
            <a:spAutoFit/>
          </a:bodyPr>
          <a:lstStyle/>
          <a:p>
            <a:pPr algn="l">
              <a:defRPr sz="2200" b="1">
                <a:solidFill>
                  <a:srgbClr val="1F77B4"/>
                </a:solidFill>
                <a:latin typeface="Calibri"/>
              </a:defRPr>
            </a:pPr>
            <a:r>
              <a:t>Classification</a:t>
            </a:r>
          </a:p>
        </p:txBody>
      </p:sp>
      <p:sp>
        <p:nvSpPr>
          <p:cNvPr id="7" name="TextBox 6"/>
          <p:cNvSpPr txBox="1"/>
          <p:nvPr/>
        </p:nvSpPr>
        <p:spPr>
          <a:xfrm>
            <a:off x="6400800" y="1737360"/>
            <a:ext cx="5029200" cy="4572000"/>
          </a:xfrm>
          <a:prstGeom prst="rect">
            <a:avLst/>
          </a:prstGeom>
          <a:noFill/>
        </p:spPr>
        <p:txBody>
          <a:bodyPr wrap="square">
            <a:spAutoFit/>
          </a:bodyPr>
          <a:lstStyle/>
          <a:p>
            <a:pPr>
              <a:spcAft>
                <a:spcPts val="800"/>
              </a:spcAft>
              <a:defRPr sz="1800">
                <a:solidFill>
                  <a:srgbClr val="323232"/>
                </a:solidFill>
                <a:latin typeface="Calibri"/>
              </a:defRPr>
            </a:pPr>
            <a:r>
              <a:t>AUC-ROC — area under ROC curve</a:t>
            </a:r>
          </a:p>
          <a:p>
            <a:pPr>
              <a:spcAft>
                <a:spcPts val="800"/>
              </a:spcAft>
              <a:defRPr sz="1800">
                <a:solidFill>
                  <a:srgbClr val="323232"/>
                </a:solidFill>
                <a:latin typeface="Calibri"/>
              </a:defRPr>
            </a:pPr>
            <a:r>
              <a:t>  0.5 = random, 1.0 = perfect</a:t>
            </a:r>
          </a:p>
          <a:p>
            <a:pPr>
              <a:spcAft>
                <a:spcPts val="800"/>
              </a:spcAft>
              <a:defRPr sz="1800">
                <a:solidFill>
                  <a:srgbClr val="323232"/>
                </a:solidFill>
                <a:latin typeface="Calibri"/>
              </a:defRPr>
            </a:pPr>
            <a:r>
              <a:t>  Insensitive to class balance!</a:t>
            </a:r>
          </a:p>
          <a:p>
            <a:pPr>
              <a:spcAft>
                <a:spcPts val="800"/>
              </a:spcAft>
              <a:defRPr sz="1800">
                <a:solidFill>
                  <a:srgbClr val="323232"/>
                </a:solidFill>
                <a:latin typeface="Calibri"/>
              </a:defRPr>
            </a:pPr>
            <a:r>
              <a:t>Precision-Recall AUC</a:t>
            </a:r>
          </a:p>
          <a:p>
            <a:pPr>
              <a:spcAft>
                <a:spcPts val="800"/>
              </a:spcAft>
              <a:defRPr sz="1800">
                <a:solidFill>
                  <a:srgbClr val="323232"/>
                </a:solidFill>
                <a:latin typeface="Calibri"/>
              </a:defRPr>
            </a:pPr>
            <a:r>
              <a:t>  Better for imbalanced data (most drug data)</a:t>
            </a:r>
          </a:p>
          <a:p>
            <a:pPr>
              <a:spcAft>
                <a:spcPts val="800"/>
              </a:spcAft>
              <a:defRPr sz="1800">
                <a:solidFill>
                  <a:srgbClr val="323232"/>
                </a:solidFill>
                <a:latin typeface="Calibri"/>
              </a:defRPr>
            </a:pPr>
            <a:r>
              <a:t>Balanced accuracy</a:t>
            </a:r>
          </a:p>
          <a:p>
            <a:pPr>
              <a:spcAft>
                <a:spcPts val="800"/>
              </a:spcAft>
              <a:defRPr sz="1800">
                <a:solidFill>
                  <a:srgbClr val="323232"/>
                </a:solidFill>
                <a:latin typeface="Calibri"/>
              </a:defRPr>
            </a:pPr>
            <a:r>
              <a:t>  Average of sensitivity + specificity</a:t>
            </a:r>
          </a:p>
          <a:p>
            <a:pPr>
              <a:spcAft>
                <a:spcPts val="800"/>
              </a:spcAft>
              <a:defRPr sz="1800">
                <a:solidFill>
                  <a:srgbClr val="323232"/>
                </a:solidFill>
                <a:latin typeface="Calibri"/>
              </a:defRPr>
            </a:pPr>
          </a:p>
          <a:p>
            <a:pPr>
              <a:spcAft>
                <a:spcPts val="800"/>
              </a:spcAft>
              <a:defRPr sz="1800">
                <a:solidFill>
                  <a:srgbClr val="323232"/>
                </a:solidFill>
                <a:latin typeface="Calibri"/>
              </a:defRPr>
            </a:pPr>
            <a:r>
              <a:t>Report PR-AUC for imbalanced data!</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Model Interpretability</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Opening the black box — why does the model predict THIS?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Why Explainability Matters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Regulatory: FDA expects understanding of model behavior</a:t>
            </a:r>
          </a:p>
          <a:p>
            <a:pPr>
              <a:spcAft>
                <a:spcPts val="800"/>
              </a:spcAft>
              <a:defRPr sz="2000">
                <a:solidFill>
                  <a:srgbClr val="323232"/>
                </a:solidFill>
                <a:latin typeface="Calibri"/>
              </a:defRPr>
            </a:pPr>
            <a:r>
              <a:t>Scientific: chemists won't trust a model they can't understand</a:t>
            </a:r>
          </a:p>
          <a:p>
            <a:pPr>
              <a:spcAft>
                <a:spcPts val="800"/>
              </a:spcAft>
              <a:defRPr sz="2000">
                <a:solidFill>
                  <a:srgbClr val="323232"/>
                </a:solidFill>
                <a:latin typeface="Calibri"/>
              </a:defRPr>
            </a:pPr>
            <a:r>
              <a:t>Safety: unexplained predictions could mask dangerous failures</a:t>
            </a:r>
          </a:p>
          <a:p>
            <a:pPr>
              <a:spcAft>
                <a:spcPts val="800"/>
              </a:spcAft>
              <a:defRPr sz="2000">
                <a:solidFill>
                  <a:srgbClr val="323232"/>
                </a:solidFill>
                <a:latin typeface="Calibri"/>
              </a:defRPr>
            </a:pPr>
            <a:r>
              <a:t>Discovery: understanding features drives new hypotheses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Jimenez-Luna et al. (2020), Nature Machine Intelligence 2:573-584</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a:t>
            </a:r>
          </a:p>
          <a:p>
            <a:pPr>
              <a:spcAft>
                <a:spcPts val="800"/>
              </a:spcAft>
              <a:defRPr sz="2000">
                <a:solidFill>
                  <a:srgbClr val="323232"/>
                </a:solidFill>
                <a:latin typeface="Calibri"/>
              </a:defRPr>
            </a:pPr>
            <a:r>
              <a:t>  Global: which features are generally important?</a:t>
            </a:r>
          </a:p>
          <a:p>
            <a:pPr>
              <a:spcAft>
                <a:spcPts val="800"/>
              </a:spcAft>
              <a:defRPr sz="2000">
                <a:solidFill>
                  <a:srgbClr val="323232"/>
                </a:solidFill>
                <a:latin typeface="Calibri"/>
              </a:defRPr>
            </a:pPr>
            <a:r>
              <a:t>  Local: why did the model predict THIS for THIS molecule?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EU AI Act: medical AI = high-risk = requires transparency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SHAP: SHapley Additive exPlanations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Lundberg &amp; Lee (2017), NeurIPS</a:t>
            </a:r>
          </a:p>
          <a:p>
            <a:pPr>
              <a:spcAft>
                <a:spcPts val="800"/>
              </a:spcAft>
              <a:defRPr sz="2000">
                <a:solidFill>
                  <a:srgbClr val="323232"/>
                </a:solidFill>
                <a:latin typeface="Calibri"/>
              </a:defRPr>
            </a:pPr>
            <a:r>
              <a:t>Based on Shapley values from cooperative game theory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each prediction, assign a contribution to each feature:</a:t>
            </a:r>
          </a:p>
          <a:p>
            <a:pPr>
              <a:spcAft>
                <a:spcPts val="800"/>
              </a:spcAft>
              <a:defRPr sz="2000">
                <a:solidFill>
                  <a:srgbClr val="323232"/>
                </a:solidFill>
                <a:latin typeface="Calibri"/>
              </a:defRPr>
            </a:pPr>
            <a:r>
              <a:t>  Positive SHAP → pushes prediction higher</a:t>
            </a:r>
          </a:p>
          <a:p>
            <a:pPr>
              <a:spcAft>
                <a:spcPts val="800"/>
              </a:spcAft>
              <a:defRPr sz="2000">
                <a:solidFill>
                  <a:srgbClr val="323232"/>
                </a:solidFill>
                <a:latin typeface="Calibri"/>
              </a:defRPr>
            </a:pPr>
            <a:r>
              <a:t>  Negative SHAP → pushes prediction lower</a:t>
            </a:r>
          </a:p>
          <a:p>
            <a:pPr>
              <a:spcAft>
                <a:spcPts val="800"/>
              </a:spcAft>
              <a:defRPr sz="2000">
                <a:solidFill>
                  <a:srgbClr val="323232"/>
                </a:solidFill>
                <a:latin typeface="Calibri"/>
              </a:defRPr>
            </a:pPr>
            <a:r>
              <a:t>  Sum of all SHAP values + baseline = predicted value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Advantages:</a:t>
            </a:r>
          </a:p>
          <a:p>
            <a:pPr>
              <a:spcAft>
                <a:spcPts val="800"/>
              </a:spcAft>
              <a:defRPr sz="2000">
                <a:solidFill>
                  <a:srgbClr val="323232"/>
                </a:solidFill>
                <a:latin typeface="Calibri"/>
              </a:defRPr>
            </a:pPr>
            <a:r>
              <a:t>  Mathematically grounded (unique solution with desirable properties)</a:t>
            </a:r>
          </a:p>
          <a:p>
            <a:pPr>
              <a:spcAft>
                <a:spcPts val="800"/>
              </a:spcAft>
              <a:defRPr sz="2000">
                <a:solidFill>
                  <a:srgbClr val="323232"/>
                </a:solidFill>
                <a:latin typeface="Calibri"/>
              </a:defRPr>
            </a:pPr>
            <a:r>
              <a:t>  Works for any model (model-agnostic)</a:t>
            </a:r>
          </a:p>
          <a:p>
            <a:pPr>
              <a:spcAft>
                <a:spcPts val="800"/>
              </a:spcAft>
              <a:defRPr sz="2000">
                <a:solidFill>
                  <a:srgbClr val="323232"/>
                </a:solidFill>
                <a:latin typeface="Calibri"/>
              </a:defRPr>
            </a:pPr>
            <a:r>
              <a:t>  Local AND global explanations</a:t>
            </a:r>
          </a:p>
          <a:p>
            <a:pPr>
              <a:spcAft>
                <a:spcPts val="800"/>
              </a:spcAft>
              <a:defRPr sz="2000">
                <a:solidFill>
                  <a:srgbClr val="323232"/>
                </a:solidFill>
                <a:latin typeface="Calibri"/>
              </a:defRPr>
            </a:pPr>
            <a:r>
              <a:t>  Beautiful visualizations (beeswarm, waterfall, force plots)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For fingerprints: important bit → decode to substructure → chemistry insight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Applicability Domain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model is only reliable within its training data distribution</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Methods to define AD:</a:t>
            </a:r>
          </a:p>
          <a:p>
            <a:pPr>
              <a:spcAft>
                <a:spcPts val="800"/>
              </a:spcAft>
              <a:defRPr sz="2000">
                <a:solidFill>
                  <a:srgbClr val="323232"/>
                </a:solidFill>
                <a:latin typeface="Calibri"/>
              </a:defRPr>
            </a:pPr>
            <a:r>
              <a:t>  Distance-based: is the new molecule close to training data?</a:t>
            </a:r>
          </a:p>
          <a:p>
            <a:pPr>
              <a:spcAft>
                <a:spcPts val="800"/>
              </a:spcAft>
              <a:defRPr sz="2000">
                <a:solidFill>
                  <a:srgbClr val="323232"/>
                </a:solidFill>
                <a:latin typeface="Calibri"/>
              </a:defRPr>
            </a:pPr>
            <a:r>
              <a:t>  Descriptor range: are features within training bounds?</a:t>
            </a:r>
          </a:p>
          <a:p>
            <a:pPr>
              <a:spcAft>
                <a:spcPts val="800"/>
              </a:spcAft>
              <a:defRPr sz="2000">
                <a:solidFill>
                  <a:srgbClr val="323232"/>
                </a:solidFill>
                <a:latin typeface="Calibri"/>
              </a:defRPr>
            </a:pPr>
            <a:r>
              <a:t>  Conformal prediction: distribution-free prediction intervals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Sahigara et al. (2012), Molecules 17(5):4791-4810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practice: flag out-of-domain predictions as low confidence</a:t>
            </a:r>
          </a:p>
          <a:p>
            <a:pPr>
              <a:spcAft>
                <a:spcPts val="800"/>
              </a:spcAft>
              <a:defRPr sz="2000">
                <a:solidFill>
                  <a:srgbClr val="323232"/>
                </a:solidFill>
                <a:latin typeface="Calibri"/>
              </a:defRPr>
            </a:pPr>
            <a:r>
              <a:t>A confident wrong prediction is worse than an honest 'I don't know'</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BREAK — 15 minutes</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Final practical of the day coming up!</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2: Evaluate &amp; Interpret Your QSAR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day2_molecular_ml/Day2_Practical_Evaluation.ipynb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your morning QSAR model (or re-train quickly)</a:t>
            </a:r>
          </a:p>
          <a:p>
            <a:pPr>
              <a:spcAft>
                <a:spcPts val="800"/>
              </a:spcAft>
              <a:defRPr sz="2000">
                <a:solidFill>
                  <a:srgbClr val="323232"/>
                </a:solidFill>
                <a:latin typeface="Calibri"/>
              </a:defRPr>
            </a:pPr>
            <a:r>
              <a:t>  2. Implement scaffold splitting (Bemis-Murcko)</a:t>
            </a:r>
          </a:p>
          <a:p>
            <a:pPr>
              <a:spcAft>
                <a:spcPts val="800"/>
              </a:spcAft>
              <a:defRPr sz="2000">
                <a:solidFill>
                  <a:srgbClr val="323232"/>
                </a:solidFill>
                <a:latin typeface="Calibri"/>
              </a:defRPr>
            </a:pPr>
            <a:r>
              <a:t>  3. Compare: random split vs. scaffold split performance</a:t>
            </a:r>
          </a:p>
          <a:p>
            <a:pPr>
              <a:spcAft>
                <a:spcPts val="800"/>
              </a:spcAft>
              <a:defRPr sz="2000">
                <a:solidFill>
                  <a:srgbClr val="323232"/>
                </a:solidFill>
                <a:latin typeface="Calibri"/>
              </a:defRPr>
            </a:pPr>
            <a:r>
              <a:t>  4. Compute ROC curve, precision-recall curve</a:t>
            </a:r>
          </a:p>
          <a:p>
            <a:pPr>
              <a:spcAft>
                <a:spcPts val="800"/>
              </a:spcAft>
              <a:defRPr sz="2000">
                <a:solidFill>
                  <a:srgbClr val="323232"/>
                </a:solidFill>
                <a:latin typeface="Calibri"/>
              </a:defRPr>
            </a:pPr>
            <a:r>
              <a:t>  5. Calculate SHAP values for your RF model</a:t>
            </a:r>
          </a:p>
          <a:p>
            <a:pPr>
              <a:spcAft>
                <a:spcPts val="800"/>
              </a:spcAft>
              <a:defRPr sz="2000">
                <a:solidFill>
                  <a:srgbClr val="323232"/>
                </a:solidFill>
                <a:latin typeface="Calibri"/>
              </a:defRPr>
            </a:pPr>
            <a:r>
              <a:t>  6. Create SHAP beeswarm plot: which features matter most?</a:t>
            </a:r>
          </a:p>
          <a:p>
            <a:pPr>
              <a:spcAft>
                <a:spcPts val="800"/>
              </a:spcAft>
              <a:defRPr sz="2000">
                <a:solidFill>
                  <a:srgbClr val="323232"/>
                </a:solidFill>
                <a:latin typeface="Calibri"/>
              </a:defRPr>
            </a:pPr>
            <a:r>
              <a:t>  7. Decode important fingerprint bits to substructures</a:t>
            </a:r>
          </a:p>
          <a:p>
            <a:pPr>
              <a:spcAft>
                <a:spcPts val="800"/>
              </a:spcAft>
              <a:defRPr sz="2000">
                <a:solidFill>
                  <a:srgbClr val="323232"/>
                </a:solidFill>
                <a:latin typeface="Calibri"/>
              </a:defRPr>
            </a:pPr>
            <a:r>
              <a:t>  8. Define applicability domain using Tanimoto distance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~50 min | The 'aha moment': watch performance DROP with scaffold split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 PRACTICAL 2 — Evaluate &amp; Interpret</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50 minutes — discover what your model really knows!</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A model achieves AUC-ROC 0.95 on the test set.</a:t>
            </a:r>
            <a:br/>
            <a:r>
              <a:t>Would you trust it to guide a $100M drug campaign?</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What kind of split was used? Random or scaffold?</a:t>
            </a:r>
          </a:p>
          <a:p>
            <a:pPr>
              <a:spcAft>
                <a:spcPts val="800"/>
              </a:spcAft>
              <a:defRPr sz="1800">
                <a:solidFill>
                  <a:srgbClr val="F0F0F0"/>
                </a:solidFill>
                <a:latin typeface="Calibri"/>
              </a:defRPr>
            </a:pPr>
            <a:r>
              <a:t>How imbalanced is the dataset? (Use PR-AUC instead!)</a:t>
            </a:r>
          </a:p>
          <a:p>
            <a:pPr>
              <a:spcAft>
                <a:spcPts val="800"/>
              </a:spcAft>
              <a:defRPr sz="1800">
                <a:solidFill>
                  <a:srgbClr val="F0F0F0"/>
                </a:solidFill>
                <a:latin typeface="Calibri"/>
              </a:defRPr>
            </a:pPr>
            <a:r>
              <a:t>Has it been validated prospectively on truly new chemical series?</a:t>
            </a:r>
          </a:p>
          <a:p>
            <a:pPr>
              <a:spcAft>
                <a:spcPts val="800"/>
              </a:spcAft>
              <a:defRPr sz="1800">
                <a:solidFill>
                  <a:srgbClr val="F0F0F0"/>
                </a:solidFill>
                <a:latin typeface="Calibri"/>
              </a:defRPr>
            </a:pPr>
            <a:r>
              <a:t>What is the applicability domain?</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2800" b="1">
                <a:solidFill>
                  <a:srgbClr val="FFFFFF"/>
                </a:solidFill>
                <a:latin typeface="Calibri"/>
              </a:defRPr>
            </a:pPr>
            <a:r>
              <a:t>KEY TAKEAWAYS — DAY 2</a:t>
            </a:r>
          </a:p>
        </p:txBody>
      </p:sp>
      <p:sp>
        <p:nvSpPr>
          <p:cNvPr id="3" name="TextBox 2"/>
          <p:cNvSpPr txBox="1"/>
          <p:nvPr/>
        </p:nvSpPr>
        <p:spPr>
          <a:xfrm>
            <a:off x="1371600" y="1645920"/>
            <a:ext cx="9144000" cy="4572000"/>
          </a:xfrm>
          <a:prstGeom prst="rect">
            <a:avLst/>
          </a:prstGeom>
          <a:noFill/>
        </p:spPr>
        <p:txBody>
          <a:bodyPr wrap="square">
            <a:spAutoFit/>
          </a:bodyPr>
          <a:lstStyle/>
          <a:p>
            <a:pPr>
              <a:spcAft>
                <a:spcPts val="800"/>
              </a:spcAft>
              <a:defRPr sz="2200">
                <a:solidFill>
                  <a:srgbClr val="FFFFFF"/>
                </a:solidFill>
                <a:latin typeface="Calibri"/>
              </a:defRPr>
            </a:pPr>
            <a:r>
              <a:t>Morgan/ECFP fingerprints convert molecules to bit vectors</a:t>
            </a:r>
          </a:p>
          <a:p>
            <a:pPr>
              <a:spcAft>
                <a:spcPts val="800"/>
              </a:spcAft>
              <a:defRPr sz="2200">
                <a:solidFill>
                  <a:srgbClr val="FFFFFF"/>
                </a:solidFill>
                <a:latin typeface="Calibri"/>
              </a:defRPr>
            </a:pPr>
            <a:r>
              <a:t>QSAR: predicting activity from structure (since 1964!)</a:t>
            </a:r>
          </a:p>
          <a:p>
            <a:pPr>
              <a:spcAft>
                <a:spcPts val="800"/>
              </a:spcAft>
              <a:defRPr sz="2200">
                <a:solidFill>
                  <a:srgbClr val="FFFFFF"/>
                </a:solidFill>
                <a:latin typeface="Calibri"/>
              </a:defRPr>
            </a:pPr>
            <a:r>
              <a:t>RF and XGBoost: strong, production-ready QSAR baselines</a:t>
            </a:r>
          </a:p>
          <a:p>
            <a:pPr>
              <a:spcAft>
                <a:spcPts val="800"/>
              </a:spcAft>
              <a:defRPr sz="2200">
                <a:solidFill>
                  <a:srgbClr val="FFFFFF"/>
                </a:solidFill>
                <a:latin typeface="Calibri"/>
              </a:defRPr>
            </a:pPr>
            <a:r>
              <a:t>Scaffold splits prevent data leakage (Wallach &amp; Heifets 2018)</a:t>
            </a:r>
          </a:p>
          <a:p>
            <a:pPr>
              <a:spcAft>
                <a:spcPts val="800"/>
              </a:spcAft>
              <a:defRPr sz="2200">
                <a:solidFill>
                  <a:srgbClr val="FFFFFF"/>
                </a:solidFill>
                <a:latin typeface="Calibri"/>
              </a:defRPr>
            </a:pPr>
            <a:r>
              <a:t>SHAP: mathematically grounded explanations for any model</a:t>
            </a:r>
          </a:p>
          <a:p>
            <a:pPr>
              <a:spcAft>
                <a:spcPts val="800"/>
              </a:spcAft>
              <a:defRPr sz="2200">
                <a:solidFill>
                  <a:srgbClr val="FFFFFF"/>
                </a:solidFill>
                <a:latin typeface="Calibri"/>
              </a:defRPr>
            </a:pPr>
            <a:r>
              <a:t>Applicability domain: know your model's limits</a:t>
            </a:r>
          </a:p>
          <a:p>
            <a:pPr>
              <a:spcAft>
                <a:spcPts val="800"/>
              </a:spcAft>
              <a:defRPr sz="2200">
                <a:solidFill>
                  <a:srgbClr val="FFFFFF"/>
                </a:solidFill>
                <a:latin typeface="Calibri"/>
              </a:defRPr>
            </a:pPr>
            <a:r>
              <a:t>The evaluation is more important than the model!</a:t>
            </a:r>
          </a:p>
          <a:p>
            <a:pPr>
              <a:spcAft>
                <a:spcPts val="800"/>
              </a:spcAft>
              <a:defRPr sz="2200">
                <a:solidFill>
                  <a:srgbClr val="FFFFFF"/>
                </a:solidFill>
                <a:latin typeface="Calibri"/>
              </a:defRPr>
            </a:pPr>
            <a:r>
              <a:t>Next (Day 3, 5 May): Deep learning, GNNs, generative AI, AlphaFold</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Coming Up: Day 3 — 5 May 2026</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Morning: Deep Learning &amp; Graph Neural Networks</a:t>
            </a:r>
          </a:p>
          <a:p>
            <a:pPr>
              <a:spcAft>
                <a:spcPts val="800"/>
              </a:spcAft>
              <a:defRPr sz="2000">
                <a:solidFill>
                  <a:srgbClr val="323232"/>
                </a:solidFill>
                <a:latin typeface="Calibri"/>
              </a:defRPr>
            </a:pPr>
            <a:r>
              <a:t>  Molecules as graphs → message passing → GNNs</a:t>
            </a:r>
          </a:p>
          <a:p>
            <a:pPr>
              <a:spcAft>
                <a:spcPts val="800"/>
              </a:spcAft>
              <a:defRPr sz="2000">
                <a:solidFill>
                  <a:srgbClr val="323232"/>
                </a:solidFill>
                <a:latin typeface="Calibri"/>
              </a:defRPr>
            </a:pPr>
            <a:r>
              <a:t>  Practical: train a GNN on MoleculeNet data</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Afternoon: Generative AI &amp; Protein Targets</a:t>
            </a:r>
          </a:p>
          <a:p>
            <a:pPr>
              <a:spcAft>
                <a:spcPts val="800"/>
              </a:spcAft>
              <a:defRPr sz="2000">
                <a:solidFill>
                  <a:srgbClr val="323232"/>
                </a:solidFill>
                <a:latin typeface="Calibri"/>
              </a:defRPr>
            </a:pPr>
            <a:r>
              <a:t>  Generate new molecules (VAE, diffusion)</a:t>
            </a:r>
          </a:p>
          <a:p>
            <a:pPr>
              <a:spcAft>
                <a:spcPts val="800"/>
              </a:spcAft>
              <a:defRPr sz="2000">
                <a:solidFill>
                  <a:srgbClr val="323232"/>
                </a:solidFill>
                <a:latin typeface="Calibri"/>
              </a:defRPr>
            </a:pPr>
            <a:r>
              <a:t>  AlphaFold for drug targets</a:t>
            </a:r>
          </a:p>
          <a:p>
            <a:pPr>
              <a:spcAft>
                <a:spcPts val="800"/>
              </a:spcAft>
              <a:defRPr sz="2000">
                <a:solidFill>
                  <a:srgbClr val="323232"/>
                </a:solidFill>
                <a:latin typeface="Calibri"/>
              </a:defRPr>
            </a:pPr>
            <a:r>
              <a:t>  Practical: explore generative models or AlphaFold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Preparation:</a:t>
            </a:r>
          </a:p>
          <a:p>
            <a:pPr>
              <a:spcAft>
                <a:spcPts val="800"/>
              </a:spcAft>
              <a:defRPr sz="2000">
                <a:solidFill>
                  <a:srgbClr val="323232"/>
                </a:solidFill>
                <a:latin typeface="Calibri"/>
              </a:defRPr>
            </a:pPr>
            <a:r>
              <a:t>  Review today's SHAP analysis — understand your model</a:t>
            </a:r>
          </a:p>
          <a:p>
            <a:pPr>
              <a:spcAft>
                <a:spcPts val="800"/>
              </a:spcAft>
              <a:defRPr sz="2000">
                <a:solidFill>
                  <a:srgbClr val="323232"/>
                </a:solidFill>
                <a:latin typeface="Calibri"/>
              </a:defRPr>
            </a:pPr>
            <a:r>
              <a:t>  Start discussing project approach with your group</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