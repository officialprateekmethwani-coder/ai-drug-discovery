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0-10 min (Unit 1 start)</a:t>
            </a:r>
          </a:p>
          <a:p/>
          <a:p>
            <a:r>
              <a:t>Welcome back! Quick check-in: how did the Day 1 practical go? Who finished the Hodgkin-Huxley simulation? Today is a BIG day — 8 units. By the end, you will have trained, evaluated, and interpreted ML models on real molecular data.</a:t>
            </a:r>
          </a:p>
          <a:p/>
          <a:p>
            <a:r>
              <a:t>Agenda:</a:t>
            </a:r>
          </a:p>
          <a:p>
            <a:r>
              <a:t>Morning (Units 1-4, ~180 min): SMILES deep dive, fingerprints, QSAR, RF/XGBoost, Practical 1</a:t>
            </a:r>
          </a:p>
          <a:p>
            <a:r>
              <a:t>Afternoon (Units 5-8, ~180 min): Evaluation, scaffold splits, SHAP, Practical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5-10 min (before the physiology intro)</a:t>
            </a:r>
          </a:p>
          <a:p/>
          <a:p>
            <a:r>
              <a:t>=== HOMEWORK REVIEW ===</a:t>
            </a:r>
          </a:p>
          <a:p/>
          <a:p>
            <a:r>
              <a:t>1. SPIKERECORDER APP:</a:t>
            </a:r>
          </a:p>
          <a:p>
            <a:r>
              <a:t>Free app from Backyard Brains. Download at: backyardbrains.com/SpikeRecorder</a:t>
            </a:r>
          </a:p>
          <a:p>
            <a:r>
              <a:t>Works standalone (as a simulator) even without SpikerBox hardware.</a:t>
            </a:r>
          </a:p>
          <a:p>
            <a:r>
              <a:t>Students who downloaded: great! Students who didn't: do it now on your phone/laptop while we talk.</a:t>
            </a:r>
          </a:p>
          <a:p/>
          <a:p>
            <a:r>
              <a:t>2. THE THREE PAPERS:</a:t>
            </a:r>
          </a:p>
          <a:p>
            <a:r>
              <a:t>The instructor shared three papers after Day 1. These likely connect to the course themes (Drosophila physiology, ion channels, and/or drug discovery with AI). If students haven't read them yet, that's okay — but they should try before Day 3 when the papers become more relevant (Deep Learning and GNNs for molecular biology).</a:t>
            </a:r>
          </a:p>
          <a:p/>
          <a:p>
            <a:r>
              <a:t>3. RDKIT NEUROTRANSMITTER EXERCISE:</a:t>
            </a:r>
          </a:p>
          <a:p>
            <a:r>
              <a:t>This is a good warm-up for today. The exercise: use RDKit to draw the 9 main neurotransmitters as molecular structures in a grid.</a:t>
            </a:r>
          </a:p>
          <a:p>
            <a:r>
              <a:t>Code skeleton (put on board or share screen):</a:t>
            </a:r>
          </a:p>
          <a:p/>
          <a:p>
            <a:r>
              <a:t>from rdkit import Chem</a:t>
            </a:r>
          </a:p>
          <a:p>
            <a:r>
              <a:t>from rdkit.Chem import Draw, AllChem</a:t>
            </a:r>
          </a:p>
          <a:p/>
          <a:p>
            <a:r>
              <a:t>neurotransmitters = {</a:t>
            </a:r>
          </a:p>
          <a:p>
            <a:r>
              <a:t>    'Serotonin': 'NCCc1c[nH]c2ccc(O)cc12',</a:t>
            </a:r>
          </a:p>
          <a:p>
            <a:r>
              <a:t>    'Dopamine': 'NCCc1ccc(O)c(O)c1',</a:t>
            </a:r>
          </a:p>
          <a:p>
            <a:r>
              <a:t>    'GABA': 'NCCCC(=O)O',</a:t>
            </a:r>
          </a:p>
          <a:p>
            <a:r>
              <a:t>    'Glutamate': 'N[C@@H](CCC(=O)O)C(=O)O',</a:t>
            </a:r>
          </a:p>
          <a:p>
            <a:r>
              <a:t>    'Acetylcholine': 'CC(=O)OCC[N+](C)(C)C',</a:t>
            </a:r>
          </a:p>
          <a:p>
            <a:r>
              <a:t>    'Norepinephrine': 'NCC(O)c1ccc(O)c(O)c1',</a:t>
            </a:r>
          </a:p>
          <a:p>
            <a:r>
              <a:t>    'Glycine': 'NCC(=O)O',</a:t>
            </a:r>
          </a:p>
          <a:p>
            <a:r>
              <a:t>    'Histamine': 'NCCc1c[nH]cn1',</a:t>
            </a:r>
          </a:p>
          <a:p>
            <a:r>
              <a:t>    'Adenosine': 'Nc1ncnc2c1ncn2[C@@H]1O[C@H](CO)[C@@H](O)[C@H]1O'</a:t>
            </a:r>
          </a:p>
          <a:p>
            <a:r>
              <a:t>}</a:t>
            </a:r>
          </a:p>
          <a:p>
            <a:r>
              <a:t>mols = [Chem.MolFromSmiles(s) for s in neurotransmitters.values()]</a:t>
            </a:r>
          </a:p>
          <a:p>
            <a:r>
              <a:t>img = Draw.MolsToGridImage(mols, molsPerRow=3, legends=list(neurotransmitters.keys()))</a:t>
            </a:r>
          </a:p>
          <a:p>
            <a:r>
              <a:t>img.save('neurotransmitters.png')</a:t>
            </a:r>
          </a:p>
          <a:p/>
          <a:p>
            <a:r>
              <a:t>4. PROJECT IDEAS:</a:t>
            </a:r>
          </a:p>
          <a:p>
            <a:r>
              <a:t>Students should be forming groups of 3-4. If they haven't settled on a topic: remind them of the 7 project options from Day 1. The sign-up deadline is today (end of Day 2). Encourage them to think about which option excites them most and which connects to their CS skills.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10-15 min</a:t>
            </a:r>
          </a:p>
          <a:p/>
          <a:p>
            <a:r>
              <a:t>Before diving into the ML content, do a short physiology primer (~30 min total). The students are CS specialists — they understand algorithms but may have never studied biology or medicine. This section gives them the biological vocabulary to make sense of WHY we are doing molecular ML. Cover the topics listed on the next few slides. Each slide has detailed notes explaining WHAT you are saying and WHY it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15-20 min</a:t>
            </a:r>
          </a:p>
          <a:p/>
          <a:p>
            <a:r>
              <a:t>=== WHAT IS PHYSIOLOGY? (explain to CS students) ===</a:t>
            </a:r>
          </a:p>
          <a:p/>
          <a:p>
            <a:r>
              <a:t>Physiology is the branch of biology that asks HOW, not WHAT. Anatomy tells you what structures exist (this is the heart, these are its valves). Physiology tells you how those structures work together (the heart muscle contracts because calcium floods into cardiomyocytes, triggering actin-myosin interaction, driven by action potentials from the SA node...).</a:t>
            </a:r>
          </a:p>
          <a:p/>
          <a:p>
            <a:r>
              <a:t>For a CS analogy: anatomy is reading the source code, physiology is running the program and profiling it. You need both.</a:t>
            </a:r>
          </a:p>
          <a:p/>
          <a:p>
            <a:r>
              <a:t>WHY DOES PHYSIOLOGY MATTER FOR DRUG DISCOVERY?</a:t>
            </a:r>
          </a:p>
          <a:p>
            <a:r>
              <a:t>Every drug must CHANGE a physiological process. There are only a few ways drugs can do this:</a:t>
            </a:r>
          </a:p>
          <a:p>
            <a:r>
              <a:t>1. BIND to a receptor → change its signaling (agonist = activates, antagonist = blocks)</a:t>
            </a:r>
          </a:p>
          <a:p>
            <a:r>
              <a:t>2. INHIBIT an enzyme → reduce production of a molecule</a:t>
            </a:r>
          </a:p>
          <a:p>
            <a:r>
              <a:t>3. BLOCK an ion channel → change electrical activity</a:t>
            </a:r>
          </a:p>
          <a:p>
            <a:r>
              <a:t>4. Modify gene expression (some drugs do this)</a:t>
            </a:r>
          </a:p>
          <a:p>
            <a:r>
              <a:t>5. Physically (antacids neutralize stomach acid)</a:t>
            </a:r>
          </a:p>
          <a:p/>
          <a:p>
            <a:r>
              <a:t>The ML pipeline (QSAR, GNNs) predicts how strongly a molecule binds (step 1). Physiology tells you what HAPPENS after binding (steps 2-5). Both are needed.</a:t>
            </a:r>
          </a:p>
          <a:p/>
          <a:p>
            <a:r>
              <a:t>TODAY'S AGENDA is a 30-minute tour through the physiology concepts that come up repeatedly in this course. Think of it as vocabulary building — by the end of Day 2, you will have heard terms like 'action potential', 'ion channel', 'patch clamp', 'optogenetics', 'connectomics', 'eye-tracking', and you will know what they mean and why they matter for AI drug discovery.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20-27 min</a:t>
            </a:r>
          </a:p>
          <a:p/>
          <a:p>
            <a:r>
              <a:t>=== ACTION POTENTIALS — FULL EXPLANATION FOR CS STUDENTS ===</a:t>
            </a:r>
          </a:p>
          <a:p/>
          <a:p>
            <a:r>
              <a:t>Imagine a neuron as a thin tube (the axon can be meters long in a human!) filled with salty water (cytoplasm), wrapped in a lipid membrane (like a soap bubble wall, ~5 nm thick), immersed in salty fluid (extracellular space).</a:t>
            </a:r>
          </a:p>
          <a:p/>
          <a:p>
            <a:r>
              <a:t>WHY IS THERE A VOLTAGE ACROSS THE MEMBRANE?</a:t>
            </a:r>
          </a:p>
          <a:p>
            <a:r>
              <a:t>Because ions are unevenly distributed. At rest:</a:t>
            </a:r>
          </a:p>
          <a:p>
            <a:r>
              <a:t>- Na+ (sodium): 145 mM outside, 12 mM inside (12× more outside)</a:t>
            </a:r>
          </a:p>
          <a:p>
            <a:r>
              <a:t>- K+ (potassium): 4 mM outside, 155 mM inside (39× more inside)</a:t>
            </a:r>
          </a:p>
          <a:p>
            <a:r>
              <a:t>- Cl- (chloride): 123 mM outside, 4 mM inside (more outside)</a:t>
            </a:r>
          </a:p>
          <a:p>
            <a:r>
              <a:t>The cell membrane is much more permeable to K+ than Na+ at rest. K+ wants to flow OUT (concentration gradient). As K+ flows out, it leaves negative charge behind → membrane becomes negative inside. This builds until electric force pulling K+ back equals concentration force pushing it out → equilibrium at ~-70 mV.</a:t>
            </a:r>
          </a:p>
          <a:p/>
          <a:p>
            <a:r>
              <a:t>The Na+/K+ ATPase (sodium-potassium pump) uses 1 ATP to move 3 Na+ out and 2 K+ in. This maintains the gradient. About 25% of all ATP in the brain powers these pumps!</a:t>
            </a:r>
          </a:p>
          <a:p/>
          <a:p>
            <a:r>
              <a:t>THE SPIKE (step by step):</a:t>
            </a:r>
          </a:p>
          <a:p>
            <a:r>
              <a:t>1. Input arrives (e.g., from another neuron): briefly opens some channels → membrane depolarizes slightly</a:t>
            </a:r>
          </a:p>
          <a:p>
            <a:r>
              <a:t>2. If it reaches -55 mV (threshold), VOLTAGE-GATED Na+ channels activate. These channels have a sensor that feels the voltage and snaps open. Na+ floods in (145 mM → 12 mM: 12× concentration gradient PLUS electrical gradient both pulling Na+ in). Voltage shoots to +40 mV in &lt;1 ms.</a:t>
            </a:r>
          </a:p>
          <a:p>
            <a:r>
              <a:t>3. Na+ channels INACTIVATE (they have a second gate that closes automatically ~1 ms after opening). Voltage-gated K+ channels open (these are slower). K+ floods out. Voltage falls back.</a:t>
            </a:r>
          </a:p>
          <a:p>
            <a:r>
              <a:t>4. Brief undershoot below -70 mV because K+ channels take a moment to close. Then everything resets.</a:t>
            </a:r>
          </a:p>
          <a:p/>
          <a:p>
            <a:r>
              <a:t>THE ALL-OR-NOTHING PRINCIPLE: Either the threshold is crossed and a FULL spike fires (same shape, same size every time), OR nothing happens. This is like a digital bit — ON or OFF. Information is encoded in the TIMING and FREQUENCY of spikes, not their amplitude.</a:t>
            </a:r>
          </a:p>
          <a:p/>
          <a:p>
            <a:r>
              <a:t>DRUG IMPLICATIONS:</a:t>
            </a:r>
          </a:p>
          <a:p>
            <a:r>
              <a:t>- LIDOCAINE (dental anesthetic): binds inside the Na+ channel pore and blocks it. No Na+ can enter. No action potentials. No pain signal to brain. (Wears off as drug diffuses away)</a:t>
            </a:r>
          </a:p>
          <a:p>
            <a:r>
              <a:t>- CARBAMAZEPINE (anticonvulsant for epilepsy): also a Na+ channel blocker. Neurons can't fire as rapidly. Seizures require many neurons firing in synchrony — block Nav → fewer synchronized bursts.</a:t>
            </a:r>
          </a:p>
          <a:p>
            <a:r>
              <a:t>- hERG (pronounced 'h-ERG', also called Kv11.1): a K+ channel in cardiac muscle. If blocked, the action potential in heart cells lasts longer → QT interval prolongation on ECG → can trigger fatal arrhythmia. EVERY drug candidate must be tested for hERG block. This is why hERG QSAR models are so important (Day 2 practical context!).</a:t>
            </a:r>
          </a:p>
          <a:p>
            <a:r>
              <a:t>- GABA-A: an inhibitory ligand-gated Cl- channel. When GABA (the main inhibitory neurotransmitter) binds, Cl- flows in → hyperpolarization → neuron less likely to fire. Diazepam (Valium) potentiates GABA-A (makes it more sensitive to GABA). Alcohol does the same. Propofol (surgery anesthetic) activates GABA-A directly.</a:t>
            </a:r>
          </a:p>
          <a:p/>
          <a:p>
            <a:r>
              <a:t>HODGKIN-HUXLEY MODEL: Two British scientists (Alan Hodgkin and Andrew Huxley) made recordings from squid giant axons (these are very large, 1 mm diameter, easy to record from). They developed mathematical equations (4 coupled ODEs with voltage-dependent conductances) that precisely describe the action potential. 1952 paper, 1963 Nobel Prize in Physiology or Medicine. This is the Day 1 notebook simulation!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27-32 min</a:t>
            </a:r>
          </a:p>
          <a:p/>
          <a:p>
            <a:r>
              <a:t>=== THE SPIKERBOX ECOSYSTEM ===</a:t>
            </a:r>
          </a:p>
          <a:p/>
          <a:p>
            <a:r>
              <a:t>Backyard Brains is a company founded by Greg Gage and Tim Marzullo (University of Michigan neuroscience PhD students). Their mission: democratize neuroscience education. The original SpikerBox ($100) records extracellular neural spikes from cockroach legs, earthworms, and human muscles.</a:t>
            </a:r>
          </a:p>
          <a:p/>
          <a:p>
            <a:r>
              <a:t>HOW EXTRACELLULAR RECORDING WORKS:</a:t>
            </a:r>
          </a:p>
          <a:p>
            <a:r>
              <a:t>A metal electrode is placed near (but not inside) a neuron. When the neuron fires, the action potential current flows in a loop: Na+ enters the cell at the spike, must come from outside, creating a tiny local current. The electrode detects this current as a ~100-500 microvolt deflection. The SpikerBox amplifies this ~1000× so you can see it on screen or hear it as a 'pop' through speakers.</a:t>
            </a:r>
          </a:p>
          <a:p/>
          <a:p>
            <a:r>
              <a:t>This is LESS invasive than patch clamp (whole-cell recording, which is the gold standard but requires a glass micropipette sealed to the cell membrane). Patch clamp can measure individual ion channel currents. Extracellular recording measures population firing. For drug testing: both are used.</a:t>
            </a:r>
          </a:p>
          <a:p/>
          <a:p>
            <a:r>
              <a:t>DRUG EXPERIMENT EXAMPLE:</a:t>
            </a:r>
          </a:p>
          <a:p>
            <a:r>
              <a:t>1. Record baseline action potentials from a cockroach leg preparation (the large spiny neurons in the leg fire spontaneously)</a:t>
            </a:r>
          </a:p>
          <a:p>
            <a:r>
              <a:t>2. Apply lidocaine solution (a drop of local anesthetic)</a:t>
            </a:r>
          </a:p>
          <a:p>
            <a:r>
              <a:t>3. Watch: spikes gradually disappear (Na+ channels blocked → no more action potentials)</a:t>
            </a:r>
          </a:p>
          <a:p>
            <a:r>
              <a:t>4. Wash out: spikes return</a:t>
            </a:r>
          </a:p>
          <a:p>
            <a:r>
              <a:t>5. This IS a dose-response experiment! Our QSAR models predict exactly this IC50 value.</a:t>
            </a:r>
          </a:p>
          <a:p/>
          <a:p>
            <a:r>
              <a:t>THE SPIKERBOT:</a:t>
            </a:r>
          </a:p>
          <a:p>
            <a:r>
              <a:t>Added on top of SpikerBox: can stimulate (electrical pulses to drive activity), has more channels, can drive a small robot based on neural signals. Project 2 in our course uses SpikerBot.</a:t>
            </a:r>
          </a:p>
          <a:p/>
          <a:p>
            <a:r>
              <a:t>COMPUTATIONAL SPIKERBOX:</a:t>
            </a:r>
          </a:p>
          <a:p>
            <a:r>
              <a:t>This is a software interface to the Hodgkin-Huxley model. Students can:</a:t>
            </a:r>
          </a:p>
          <a:p>
            <a:r>
              <a:t>- Drag sliders to change Na+ channel conductance (simulating a Nav blocker drug)</a:t>
            </a:r>
          </a:p>
          <a:p>
            <a:r>
              <a:t>- See action potential shape and frequency change in real time</a:t>
            </a:r>
          </a:p>
          <a:p>
            <a:r>
              <a:t>- 'Virtually test' whether a drug effect would eliminate firing or just slow it</a:t>
            </a:r>
          </a:p>
          <a:p>
            <a:r>
              <a:t>This is the 'in silico' step of the AI → physiology pipeline.</a:t>
            </a:r>
          </a:p>
          <a:p/>
          <a:p>
            <a:r>
              <a:t>SPIKERECORDER APP:</a:t>
            </a:r>
          </a:p>
          <a:p>
            <a:r>
              <a:t>Free app. Download it now if you haven't. It can:</a:t>
            </a:r>
          </a:p>
          <a:p>
            <a:r>
              <a:t>1. Connect to SpikerBox hardware via audio jack or Bluetooth</a:t>
            </a:r>
          </a:p>
          <a:p>
            <a:r>
              <a:t>2. Display real-time spike recordings (action potentials look like little mountains)</a:t>
            </a:r>
          </a:p>
          <a:p>
            <a:r>
              <a:t>3. Run the computational Hodgkin-Huxley simulation</a:t>
            </a:r>
          </a:p>
          <a:p>
            <a:r>
              <a:t>4. Do basic spike sorting (separating signals from different neurons by their shape)</a:t>
            </a:r>
          </a:p>
          <a:p>
            <a:r>
              <a:t>5. Export data for analysis in Python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32-37 min</a:t>
            </a:r>
          </a:p>
          <a:p/>
          <a:p>
            <a:r>
              <a:t>=== THE DROSOPHILA MODEL SYSTEM — WHY FLIES? ===</a:t>
            </a:r>
          </a:p>
          <a:p/>
          <a:p>
            <a:r>
              <a:t>Drosophila melanogaster (common fruit fly) is the most powerful model organism in genetics and increasingly in neuroscience. Why?</a:t>
            </a:r>
          </a:p>
          <a:p/>
          <a:p>
            <a:r>
              <a:t>1. SMALL BRAIN, FULLY MAPPABLE: 140,000 neurons. Compare: a mouse has ~71 million neurons, a human ~86 billion. With modern electron microscopy (next slide), we can now map EVERY synapse in the fly brain. The complete wiring diagram (connectome) of the fly brain was published in 2023 (Dorkenwald et al., Nature 634:124-138, 2024). This would be impossible for a mouse, let alone a human.</a:t>
            </a:r>
          </a:p>
          <a:p/>
          <a:p>
            <a:r>
              <a:t>2. GENETIC TOOLS:</a:t>
            </a:r>
          </a:p>
          <a:p>
            <a:r>
              <a:t>- Optogenetics: we can insert a gene for a light-sensitive protein (channelrhodopsin, a tool from algae) into ANY specific cell type using fly genetics. Shine blue light → that specific cell fires. Invaluable for testing: 'if I activate/silence THIS neuron, what happens to behavior/circuit activity?'</a:t>
            </a:r>
          </a:p>
          <a:p>
            <a:r>
              <a:t>- Calcium imaging: insert a gene for GCaMP (a protein that glows brighter when calcium enters, i.e., when the neuron fires). Now you can watch WHICH neurons fire when the fly sees a moving pattern. Serbe et al. (2016, Neuron 89:829-841) and Serbe-Kamp et al. (2023, J. Neurosci. 43:2497-2514) used this to characterize the T4/T5 motion circuit.</a:t>
            </a:r>
          </a:p>
          <a:p>
            <a:r>
              <a:t>- EM (electron microscopy): see next slide.</a:t>
            </a:r>
          </a:p>
          <a:p/>
          <a:p>
            <a:r>
              <a:t>3. CONSERVED BIOLOGY: Fly ion channels are homologous to human ion channels. GluCl (glutamate-gated chloride channel) in flies is in the Cys-loop receptor superfamily — the SAME superfamily as human GABA-A receptors, glycine receptors, and nAChR. Ivermectin targets GluCl in parasites (worms, insects) because it locks the channel open → muscle paralysis. The drug doesn't affect vertebrates much because vertebrates don't have GluCl (they have GLRA channels instead which are less sensitive to ivermectin). This specificity makes ivermectin safe for humans while lethal to parasites.</a:t>
            </a:r>
          </a:p>
          <a:p/>
          <a:p>
            <a:r>
              <a:t>THE MOTION VISION CIRCUIT:</a:t>
            </a:r>
          </a:p>
          <a:p>
            <a:r>
              <a:t>- Photoreceptors (R1-R8): detect light. Like the rods and cones in your eye.</a:t>
            </a:r>
          </a:p>
          <a:p>
            <a:r>
              <a:t>- Lamina and Medulla: processing layers (like retinal ganglion cells and LGN in mammals).</a:t>
            </a:r>
          </a:p>
          <a:p>
            <a:r>
              <a:t>- T4 neurons: respond to a bright edge moving in a specific direction. T5: dark edge. 4 types of each for 4 motion directions (up, down, left, right).</a:t>
            </a:r>
          </a:p>
          <a:p>
            <a:r>
              <a:t>- Lobula Plate Tangential Cells (LPTCs): integrate motion from many T4/T5 neurons to get a global optic flow signal (like: the whole world is rotating left → fly banks right).</a:t>
            </a:r>
          </a:p>
          <a:p/>
          <a:p>
            <a:r>
              <a:t>FOR DRUG DISCOVERY: The T5 circuit requires GluCl-mediated inhibition for direction selectivity (Ammer, Serbe-Kamp et al. 2023). Block GluCl → T5 can no longer tell direction. This is the same mechanism used by ivermectin in parasites. Understanding this circuit gave insight into why ivermectin is so effective AND specific.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37-41 min</a:t>
            </a:r>
          </a:p>
          <a:p/>
          <a:p>
            <a:r>
              <a:t>=== ELECTRON MICROSCOPY — WHAT IT IS AND WHY IT MATTERS ===</a:t>
            </a:r>
          </a:p>
          <a:p/>
          <a:p>
            <a:r>
              <a:t>For CS students: think of EM as a camera that can photograph individual molecules. A standard light microscope can see a cell (10-100 micrometers) or individual large organelles like the nucleus or mitochondria. But a synapse (the connection between two neurons) is only ~20-40 nanometers (nm) wide. And a single protein is 5-10 nm. Light can't resolve these — the wavelength of visible light is 400-700 nm, and you physically cannot see objects smaller than about half the wavelength (Abbe diffraction limit).</a:t>
            </a:r>
          </a:p>
          <a:p/>
          <a:p>
            <a:r>
              <a:t>Electrons have a MUCH shorter wavelength (~0.001-0.01 nm at typical energies). An electron microscope focuses a beam of electrons onto the sample and detects how the electrons scatter or are absorbed. Resolution: ~0.1-1 nm in practice.</a:t>
            </a:r>
          </a:p>
          <a:p/>
          <a:p>
            <a:r>
              <a:t>SERIAL SECTION EM (ssEM):</a:t>
            </a:r>
          </a:p>
          <a:p>
            <a:r>
              <a:t>To map a whole brain, you need 3D information. The approach:</a:t>
            </a:r>
          </a:p>
          <a:p>
            <a:r>
              <a:t>1. Fix and stain a piece of brain tissue (heavy metals like osmium stain membranes, making them electron-dense = dark in EM)</a:t>
            </a:r>
          </a:p>
          <a:p>
            <a:r>
              <a:t>2. Embed in hard plastic</a:t>
            </a:r>
          </a:p>
          <a:p>
            <a:r>
              <a:t>3. Use an ultramicrotome (a diamond knife on a machine) to slice into sections 30-50 nm thick</a:t>
            </a:r>
          </a:p>
          <a:p>
            <a:r>
              <a:t>4. Image each section with the electron microscope (takes days to weeks per cubic mm of tissue)</a:t>
            </a:r>
          </a:p>
          <a:p>
            <a:r>
              <a:t>5. Upload to a computer and use AI (convolutional neural networks) to</a:t>
            </a:r>
          </a:p>
          <a:p>
            <a:r>
              <a:t>   a. Find all cell membranes in each section</a:t>
            </a:r>
          </a:p>
          <a:p>
            <a:r>
              <a:t>   b. Follow each neuron's outline from one section to the next (3D reconstruction)</a:t>
            </a:r>
          </a:p>
          <a:p>
            <a:r>
              <a:t>   c. Identify synapses (connections between neurons)</a:t>
            </a:r>
          </a:p>
          <a:p>
            <a:r>
              <a:t>6. Result: a graph where nodes are neurons and edges are synaptic connections</a:t>
            </a:r>
          </a:p>
          <a:p/>
          <a:p>
            <a:r>
              <a:t>CONNECTOMICS:</a:t>
            </a:r>
          </a:p>
          <a:p>
            <a:r>
              <a:t>The connectome is the complete wiring diagram of a nervous system. For the fly (published 2024, Dorkenwald et al. Nature 634:124-138 — FlyWire project):</a:t>
            </a:r>
          </a:p>
          <a:p>
            <a:r>
              <a:t>- 139,000 neurons in the fly brain</a:t>
            </a:r>
          </a:p>
          <a:p>
            <a:r>
              <a:t>- 54.5 million synapses</a:t>
            </a:r>
          </a:p>
          <a:p>
            <a:r>
              <a:t>- Complete wiring diagram published and publicly available</a:t>
            </a:r>
          </a:p>
          <a:p>
            <a:r>
              <a:t>- This took multiple labs, years, and massive AI effort</a:t>
            </a:r>
          </a:p>
          <a:p/>
          <a:p>
            <a:r>
              <a:t>For context: the C. elegans worm (302 neurons) had its connectome mapped manually in 1986 (Nobel Prize-winning work). The fly brain is 460× larger. Human brain would be ~600,000× the fly brain. Full human connectome: not achievable yet, but active research area.</a:t>
            </a:r>
          </a:p>
          <a:p/>
          <a:p>
            <a:r>
              <a:t>AI's ROLE IN EM AND CONNECTOMICS:</a:t>
            </a:r>
          </a:p>
          <a:p>
            <a:r>
              <a:t>1. Image segmentation: which pixels in the EM image are part of the same neuron? This is semantic segmentation (same CNN architecture as used for self-driving cars to segment road/cars/pedestrians).</a:t>
            </a:r>
          </a:p>
          <a:p>
            <a:r>
              <a:t>2. Synapse detection: identifying where two neurons touch and form a synapse.</a:t>
            </a:r>
          </a:p>
          <a:p>
            <a:r>
              <a:t>3. Proofreading: AI makes mistakes; humans verify using tools like CATMAID or Neuroglancer.</a:t>
            </a:r>
          </a:p>
          <a:p>
            <a:r>
              <a:t>4. Circuit analysis: once you have the graph, GNNs (same ones we use for molecules!) can analyze circuit motifs, predict function, etc.</a:t>
            </a:r>
          </a:p>
          <a:p/>
          <a:p>
            <a:r>
              <a:t>CONNECTION TO DRUG DISCOVERY:</a:t>
            </a:r>
          </a:p>
          <a:p>
            <a:r>
              <a:t>Knowing the wiring diagram helps understand how a drug that hits one neuron type affects the whole circuit. For psychiatric diseases (depression, schizophrenia, anxiety), the circuit-level changes are critical — single-neuron electrophysiology doesn't tell the whole story. Connectomics + AI + drug discovery = circuit pharmacology.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41-45 min</a:t>
            </a:r>
          </a:p>
          <a:p/>
          <a:p>
            <a:r>
              <a:t>=== EYE-TRACKING — WHAT IT IS AND HOW IT WORKS ===</a:t>
            </a:r>
          </a:p>
          <a:p/>
          <a:p>
            <a:r>
              <a:t>Eyes are the window to the brain. Eye movements are controlled by a network of brain areas (frontal eye fields, superior colliculus, cerebellum, brainstem nuclei) and muscles (6 extraocular muscles per eye). Because this system is complex and connected to many brain areas, eye movements can reveal the state of many different neural systems.</a:t>
            </a:r>
          </a:p>
          <a:p/>
          <a:p>
            <a:r>
              <a:t>TYPES OF EYE MOVEMENTS:</a:t>
            </a:r>
          </a:p>
          <a:p>
            <a:r>
              <a:t>- Saccades: rapid, ballistic eye movements (jumps) from one fixation point to another. Fast (200-700 degrees/second!). Cannot be changed once initiated (like a ballistic missile). Saccade latency (~200 ms) reflects decision-making processes.</a:t>
            </a:r>
          </a:p>
          <a:p>
            <a:r>
              <a:t>- Smooth pursuit: when following a moving object. Requires the object to actually be moving. Controlled by visual cortex + cerebellum. Many psychiatric drugs impair smooth pursuit.</a:t>
            </a:r>
          </a:p>
          <a:p>
            <a:r>
              <a:t>- Microsaccades: tiny involuntary movements during fixation. Reflect attention and arousal state.</a:t>
            </a:r>
          </a:p>
          <a:p>
            <a:r>
              <a:t>- Pupil dilation (pupillometry): the pupil is controlled by the autonomic nervous system. Sympathetic = dilates (fight-or-flight). Parasympathetic = constricts. Cognitive load and arousal also affect pupil size.</a:t>
            </a:r>
          </a:p>
          <a:p/>
          <a:p>
            <a:r>
              <a:t>DRUG EFFECTS ON EYE MOVEMENTS:</a:t>
            </a:r>
          </a:p>
          <a:p>
            <a:r>
              <a:t>- Antipsychotics (dopamine D2 blockers): smooth pursuit impairment — patients and people on these drugs show characteristic 'staircase' pursuit (the eye jumps instead of smoothly following)</a:t>
            </a:r>
          </a:p>
          <a:p>
            <a:r>
              <a:t>- Opioids (morphine, fentanyl): miosis (pupil constriction) because opioids activate the Edinger-Westphal nucleus (parasympathetic). Police use this to test for opioid intoxication.</a:t>
            </a:r>
          </a:p>
          <a:p>
            <a:r>
              <a:t>- Stimulants (cocaine, amphetamine): mydriasis (pupil dilation) because sympathomimetic effects.</a:t>
            </a:r>
          </a:p>
          <a:p>
            <a:r>
              <a:t>- Benzodiazepines (diazepam): reduce saccade velocity and increase fixation duration</a:t>
            </a:r>
          </a:p>
          <a:p>
            <a:r>
              <a:t>- Alcohol: smooth pursuit breaks down, nystagmus (involuntary oscillation) at high doses</a:t>
            </a:r>
          </a:p>
          <a:p/>
          <a:p>
            <a:r>
              <a:t>HOW EYE-TRACKERS WORK:</a:t>
            </a:r>
          </a:p>
          <a:p>
            <a:r>
              <a:t>Most modern eye-trackers use a near-infrared (NIR) LED to illuminate the eye. A camera captures the reflection. Two key features are tracked:</a:t>
            </a:r>
          </a:p>
          <a:p>
            <a:r>
              <a:t>1. Corneal reflection (CR): the reflection of the NIR LED off the curved corneal surface — moves with head movements but not eye movements</a:t>
            </a:r>
          </a:p>
          <a:p>
            <a:r>
              <a:t>2. Pupil center: tracked by thresholding the dark pupil area</a:t>
            </a:r>
          </a:p>
          <a:p>
            <a:r>
              <a:t>Gaze direction = vector from CR to pupil center. This is head-movement independent.</a:t>
            </a:r>
          </a:p>
          <a:p/>
          <a:p>
            <a:r>
              <a:t>Modern trackers: 1000 Hz sampling rate, &lt;0.5 degree accuracy. Can track during free head movement (using glasses-mounted systems) or on a screen (tower-mounted).</a:t>
            </a:r>
          </a:p>
          <a:p/>
          <a:p>
            <a:r>
              <a:t>AI + EYE-TRACKING:</a:t>
            </a:r>
          </a:p>
          <a:p>
            <a:r>
              <a:t>1. Time-series classification: eye movement trace → classify drug state (e.g., 'sober' vs '0.08% BAC'). Can be done with LSTM, transformer, or even RF on features.</a:t>
            </a:r>
          </a:p>
          <a:p>
            <a:r>
              <a:t>2. Pupillometry: track pupil diameter over time → extract pupil light reflex parameters (latency, amplitude, re-dilation rate) → these are biomarkers for autonomic nervous system state.</a:t>
            </a:r>
          </a:p>
          <a:p>
            <a:r>
              <a:t>3. Scanpath analysis: sequence of fixations and saccades → reveals what a person is 'reading' visually (e.g., does a drug impair reading a cluttered visual scene?).</a:t>
            </a:r>
          </a:p>
          <a:p>
            <a:r>
              <a:t>4. Clinical applications: multiple sclerosis, Parkinson's, schizophrenia all have characteristic eye movement signatures. AI can detect these with high accuracy — potentially earlier than clinical symptoms.</a:t>
            </a:r>
          </a:p>
          <a:p/>
          <a:p>
            <a:r>
              <a:t>COURSE PROJECT 4 (Eye-tracking): Build a classifier that distinguishes different cognitive states or drug conditions from eye movement features. Uses the skills from Day 2 (feature engineering, RF, evaluation) applied to time-series data instead of molecular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10-12 min</a:t>
            </a:r>
          </a:p>
          <a:p/>
          <a:p>
            <a:r>
              <a:t>Quick overview. Emphasize the logical flow: represent molecules (SMILES → fingerprints → descriptors) → framework for prediction (QSAR) → ML tools (RF, XGBoost). Practical uses the Delaney solubility dataset.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12-15 min</a:t>
            </a:r>
          </a:p>
          <a:p/>
          <a:p>
            <a:r>
              <a:t>Transition to SMILES syntax. Weininger (1988) 'SMILES, a Chemical Language and Information System. 1. Introduction to Methodology and Encoding Rules.' J. Chem. Inf. Comput. Sci. 28:31-36.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15-25 min</a:t>
            </a:r>
          </a:p>
          <a:p/>
          <a:p>
            <a:r>
              <a:t>Spend 7 min on syntax with board examples. Build from simple (ethanol CCO) to complex (benzene c1ccccc1). Key point about canonical SMILES: OCC and CCO are both valid for ethanol, but canonical is CCO. Mention alternatives briefly — SELFIES will return on Day 3 for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25-30 min</a:t>
            </a:r>
          </a:p>
          <a:p/>
          <a:p>
            <a:r>
              <a:t>5 min interactive. Reveal answers one by one. Neuroscience SMILES walkthrough:</a:t>
            </a:r>
          </a:p>
          <a:p>
            <a:r>
              <a:t>1. SEROTONIN: indole ring + ethylamine + hydroxyl. Targeted by SSRIs.</a:t>
            </a:r>
          </a:p>
          <a:p>
            <a:r>
              <a:t>2. DOPAMINE: catechol ring + ethylamine. Targeted by L-DOPA, antipsychotics.</a:t>
            </a:r>
          </a:p>
          <a:p>
            <a:r>
              <a:t>3. GABA: simplest — amine + 4C + carboxyl. GABA-A = same superfamily as GluCl!</a:t>
            </a:r>
          </a:p>
          <a:p>
            <a:r>
              <a:t>4. ASPIRIN: acetyl + salicylic acid. COX inhibitor.</a:t>
            </a:r>
          </a:p>
          <a:p>
            <a:r>
              <a:t>5. CAFFEINE: purine xanthine. Adenosine A1/A2A antagonist.</a:t>
            </a:r>
          </a:p>
          <a:p/>
          <a:p>
            <a:r>
              <a:t>Ask: notice how simple GABA is vs serotonin? Structure ≠ biological importance.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30-32 min</a:t>
            </a:r>
          </a:p>
          <a:p/>
          <a:p>
            <a:r>
              <a:t>Transition: SMILES = text. For ML, we need numerical vectors. Enter fingerprints.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32-40 min</a:t>
            </a:r>
          </a:p>
          <a:p/>
          <a:p>
            <a:r>
              <a:t>Spend 5 min. Barcode analogy. Morgan/ECFP captures local atom neighborhoods at increasing radius. ECFP4 (radius=2, 2048 bits) is the standard. CITATION: Rogers &amp; Hahn (2010) 'Extended-Connectivity Fingerprints.' J. Chem. Inf. Model. 50:742-754. This is the foundational paper that formalized ECFP as Morgan fingerprints.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40-50 min</a:t>
            </a:r>
          </a:p>
          <a:p/>
          <a:p>
            <a:r>
              <a:t>Spend 7 min with board diagram. Draw a molecule, pick one atom, show radius-1 and radius-2 neighborhoods. The connection to message passing (Day 3) is important — same idea, but hashed instead of learned.</a:t>
            </a:r>
          </a:p>
          <a:p/>
          <a:p>
            <a:r>
              <a:t>Tanimoto: Jaccard index. The 0.85 threshold is heuristic (Similar Property Principle). Exceptions = activity cliffs (covered later today).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50-60 min</a:t>
            </a:r>
          </a:p>
          <a:p/>
          <a:p>
            <a:r>
              <a:t>7 min. CITATION: Lipinski et al. (1997) 'Experimental and computational approaches to estimate solubility and permeability in drug discovery and development settings.' Adv. Drug Deliv. Rev. 23(1-3):3-25. One of the most cited papers in medicinal chemistry. For CNS drugs, BBB adds constraints. Pardridge (2005) 'The blood-brain barrier: Bottleneck in brain drug development.' NeuroRx 2:3-14.</a:t>
            </a:r>
          </a:p>
          <a:p/>
          <a:p>
            <a:r>
              <a:t>The serotonin/dopamine BBB example is powerful: explains why Parkinson's patients take L-DOPA, not dopamine. This is a PERFECT ML task: predict BBB permeability from descriptors.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60-68 min</a:t>
            </a:r>
          </a:p>
          <a:p/>
          <a:p>
            <a:r>
              <a:t>5 min overview. QSAR was formalized by Corwin Hansch in 1964 — over 60 years old! The modern version adds ML, but the fundamental idea is unchanged: structure → activity. Emphasize that steps 3-6 are critical and often done poorly.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68-78 min</a:t>
            </a:r>
          </a:p>
          <a:p/>
          <a:p>
            <a:r>
              <a:t>7 min. RF: ensemble of independent trees. XGBoost: sequential boosting. CITATION: Chen &amp; Guestrin (2016) 'XGBoost: A Scalable Tree Boosting System.' KDD '16, pp. 785-794. Won Best Paper at KDD 2016. Breiman (2001) 'Random forests.' Machine Learning 45:5-32 defined Random Forest. For tabular data (which molecular features are), XGBoost is still king.</a:t>
            </a:r>
          </a:p>
          <a:p/>
          <a:p>
            <a:r>
              <a:t>Key message: ALWAYS try RF and XGBoost as baselines before jumping to deep learning. They often match or beat GNNs on small datasets.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78-93 min (after Unit 2)</a:t>
            </a:r>
          </a:p>
          <a:p/>
          <a:p>
            <a:r>
              <a:t>Break! Students should stretch. Morning practical is coming up next.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93-95 min (intro) then 95-145 min (practical)</a:t>
            </a:r>
          </a:p>
          <a:p/>
          <a:p>
            <a:r>
              <a:t>2 min intro then hands-on. The Delaney dataset is a classic benchmark. Solubility matters because ~40% of drug candidates have issues. Expected: RF RMSE ~0.6-0.8 logS, R² ~0.85-0.90. XGBoost slightly better.</a:t>
            </a:r>
          </a:p>
          <a:p/>
          <a:p>
            <a:r>
              <a:t>IMPORTANT: Note that this initial split is RANDOM. In the afternoon, we'll show why this overestimates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95-145 min (Units 3-4, ~50 min coding)</a:t>
            </a:r>
          </a:p>
          <a:p/>
          <a:p>
            <a:r>
              <a:t>Walk around, help students. Ensure everyone gets RF and XGBoost trained. They'll need these models for the afternoon evaluation session.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145-148 min (Unit 5 start)</a:t>
            </a:r>
          </a:p>
          <a:p/>
          <a:p>
            <a:r>
              <a:t>Quick 3-min overview. This afternoon is about rigor. In pharmaceutical companies, a model that looks great on paper but fails in practice costs millions. By the end of today, students will understand why their morning models might be misleading.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148-155 min</a:t>
            </a:r>
          </a:p>
          <a:p/>
          <a:p>
            <a:r>
              <a:t>5 min cautionary tales. CITATION: Wallach &amp; Heifets (2018) 'Most Ligand-Based Classification Benchmarks Reward Memorization Rather than Generalization.' JCIM 58:916-932. Showed many published models memorize molecular series rather than learning generalizable chemical features.</a:t>
            </a:r>
          </a:p>
          <a:p/>
          <a:p>
            <a:r>
              <a:t>GABA-A example: GABA-A is same Cys-loop family as GluCl (Dr. Serbe-Kamp's research). A dataset dominated by benzodiazepines (all sharing 1,4-benzodiazepine core) will train models that recognize scaffolds, not binding mechanisms. On random split: great (benzodiazepines in both sets). On scaffold split: fails for novel chemotypes (neurosteroids, barbiturates, Z-drugs).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155-163 min</a:t>
            </a:r>
          </a:p>
          <a:p/>
          <a:p>
            <a:r>
              <a:t>5 min. Draw Bemis-Murcko framework: strip molecule to ring systems + linkers. If train and test share scaffolds, the model memorizes scaffolds. CITATION: Wu et al. (2018) 'MoleculeNet: A Benchmark for Molecular Machine Learning.' Chemical Science 9:513-530. Made scaffold splitting the standard for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163-170 min</a:t>
            </a:r>
          </a:p>
          <a:p/>
          <a:p>
            <a:r>
              <a:t>5 min reference slide. Key point: AUC-ROC can be misleading for imbalanced data (common in drug discovery: many inactives, few actives). PR-AUC is more informative. For regression, report all three metrics.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170-172 min</a:t>
            </a:r>
          </a:p>
          <a:p/>
          <a:p>
            <a:r>
              <a:t>Transition: We've evaluated quantitatively. Can we understand WHY?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172-177 min</a:t>
            </a:r>
          </a:p>
          <a:p/>
          <a:p>
            <a:r>
              <a:t>3 min. CITATION: Jiménez-Luna et al. (2020) 'Drug discovery with explainable artificial intelligence.' Nature Machine Intelligence 2:573-584. The best review for drug discovery interpretability. If a model says a molecule is toxic but can't explain why, the chemist will be skeptical. If it can say 'the nitro group at position 3 drives the toxicity prediction,' the chemist engages.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177-185 min</a:t>
            </a:r>
          </a:p>
          <a:p/>
          <a:p>
            <a:r>
              <a:t>5 min. Shapley value: each feature is a 'player' in a prediction 'game'. CITATION: Lundberg &amp; Lee (2017) 'A Unified Approach to Interpreting Model Predictions.' NeurIPS 30:4765-4774. TreeSHAP (Lundberg et al. 2020, Nature MI 2:56-67) is exact and fast for RF/XGBoost.</a:t>
            </a:r>
          </a:p>
          <a:p/>
          <a:p>
            <a:r>
              <a:t>For molecular fingerprints: if bit 847 is most important and corresponds to a pyridine ring, we learn actual chemistry. RDKit GetMorganFingerprintBitInfo() decodes bits.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185-190 min</a:t>
            </a:r>
          </a:p>
          <a:p/>
          <a:p>
            <a:r>
              <a:t>3 min. A model trained on kinase inhibitors shouldn't predict GPCR ligands. Conformal prediction is gaining popularity for guaranteed coverage.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190-205 min (after Unit 6)</a:t>
            </a:r>
          </a:p>
          <a:p/>
          <a:p>
            <a:r>
              <a:t>Second break of the day. Practical 2 coming 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205-210 min (intro) then 210-260 min (practical)</a:t>
            </a:r>
          </a:p>
          <a:p/>
          <a:p>
            <a:r>
              <a:t>2 min overview, then hands-on. THE KEY LEARNING MOMENT: students see their R² drop from ~0.85-0.90 (random) to ~0.70-0.80 (scaffold). That's the real performance. The SHAP analysis is the fun part.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210-260 min (Units 7-8, ~50 min coding)</a:t>
            </a:r>
          </a:p>
          <a:p/>
          <a:p>
            <a:r>
              <a:t>Walk around. Make sure everyone sees the scaffold split effect. Help with SHAP plots.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260-270 min</a:t>
            </a:r>
          </a:p>
          <a:p/>
          <a:p>
            <a:r>
              <a:t>7-min discussion. The answer is NO — not without more info. Key questions: What split? What balance? Prospective validation? In pharma, models go through extensive validation before decisions.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270-275 min</a:t>
            </a:r>
          </a:p>
          <a:p/>
          <a:p>
            <a:r>
              <a:t>Quick recap. The RF/XGBoost + ECFP + scaffold split + SHAP pipeline is production-ready — used in real pharma companies today.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275-278 min</a:t>
            </a:r>
          </a:p>
          <a:p/>
          <a:p>
            <a:r>
              <a:t>Quick preview. Day 3 moves from classical ML to deep learning. Encourage students to discuss project approaches with their groups between now and then.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4572000" cy="548640"/>
          </a:xfrm>
          <a:prstGeom prst="rect">
            <a:avLst/>
          </a:prstGeom>
          <a:noFill/>
        </p:spPr>
        <p:txBody>
          <a:bodyPr wrap="square">
            <a:spAutoFit/>
          </a:bodyPr>
          <a:lstStyle/>
          <a:p>
            <a:pPr algn="l">
              <a:defRPr sz="1600" b="1">
                <a:solidFill>
                  <a:srgbClr val="1F77B4"/>
                </a:solidFill>
                <a:latin typeface="Calibri"/>
              </a:defRPr>
            </a:pPr>
            <a:r>
              <a:t>DAY 2 — 22 April 2026</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Molecular ML: From Fingerprints to Predictions</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Represent molecules, train models, evaluate properly, and explain results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Homework from Last Week — Did You…?</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 Download SpikeRecorder (backyardbrains.com/SpikeRecorder)</a:t>
            </a:r>
          </a:p>
          <a:p>
            <a:pPr>
              <a:spcAft>
                <a:spcPts val="800"/>
              </a:spcAft>
              <a:defRPr sz="2000">
                <a:solidFill>
                  <a:srgbClr val="323232"/>
                </a:solidFill>
                <a:latin typeface="Calibri"/>
              </a:defRPr>
            </a:pPr>
            <a:r>
              <a:t>  → Works on iOS, Android, and desktop</a:t>
            </a:r>
          </a:p>
          <a:p>
            <a:pPr>
              <a:spcAft>
                <a:spcPts val="800"/>
              </a:spcAft>
              <a:defRPr sz="2000">
                <a:solidFill>
                  <a:srgbClr val="323232"/>
                </a:solidFill>
                <a:latin typeface="Calibri"/>
              </a:defRPr>
            </a:pPr>
            <a:r>
              <a:t>  → We will use it to visualize and simulate neural signals today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Read the three papers shared after Day 1:</a:t>
            </a:r>
          </a:p>
          <a:p>
            <a:pPr>
              <a:spcAft>
                <a:spcPts val="800"/>
              </a:spcAft>
              <a:defRPr sz="2000">
                <a:solidFill>
                  <a:srgbClr val="323232"/>
                </a:solidFill>
                <a:latin typeface="Calibri"/>
              </a:defRPr>
            </a:pPr>
            <a:r>
              <a:t>  → If not — try to read before Day 3 (5 May)</a:t>
            </a:r>
          </a:p>
          <a:p>
            <a:pPr>
              <a:spcAft>
                <a:spcPts val="800"/>
              </a:spcAft>
              <a:defRPr sz="2000">
                <a:solidFill>
                  <a:srgbClr val="323232"/>
                </a:solidFill>
                <a:latin typeface="Calibri"/>
              </a:defRPr>
            </a:pPr>
            <a:r>
              <a:t>  → Key insight in each paper connects to today's ML methods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RDKit exercise: plot all neurotransmitters as molecular structures</a:t>
            </a:r>
          </a:p>
          <a:p>
            <a:pPr>
              <a:spcAft>
                <a:spcPts val="800"/>
              </a:spcAft>
              <a:defRPr sz="2000">
                <a:solidFill>
                  <a:srgbClr val="323232"/>
                </a:solidFill>
                <a:latin typeface="Calibri"/>
              </a:defRPr>
            </a:pPr>
            <a:r>
              <a:t>  → import rdkit; Draw.MolsToGridImage([...]) for all NTs</a:t>
            </a:r>
          </a:p>
          <a:p>
            <a:pPr>
              <a:spcAft>
                <a:spcPts val="800"/>
              </a:spcAft>
              <a:defRPr sz="2000">
                <a:solidFill>
                  <a:srgbClr val="323232"/>
                </a:solidFill>
                <a:latin typeface="Calibri"/>
              </a:defRPr>
            </a:pPr>
            <a:r>
              <a:t>  → Neurotransmitters: serotonin, dopamine, GABA, glutamate, acetylcholine</a:t>
            </a:r>
          </a:p>
          <a:p>
            <a:pPr>
              <a:spcAft>
                <a:spcPts val="800"/>
              </a:spcAft>
              <a:defRPr sz="2000">
                <a:solidFill>
                  <a:srgbClr val="323232"/>
                </a:solidFill>
                <a:latin typeface="Calibri"/>
              </a:defRPr>
            </a:pPr>
            <a:r>
              <a:t>  →                    norepinephrine, glycine, histamine, adenosine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Have you started thinking about your project idea?</a:t>
            </a:r>
          </a:p>
          <a:p>
            <a:pPr>
              <a:spcAft>
                <a:spcPts val="800"/>
              </a:spcAft>
              <a:defRPr sz="2000">
                <a:solidFill>
                  <a:srgbClr val="323232"/>
                </a:solidFill>
                <a:latin typeface="Calibri"/>
              </a:defRPr>
            </a:pPr>
            <a:r>
              <a:t>  → Groups of 3-4, sign-up deadline: Day 2 end</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Physiology Intro — Setting the Stage</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Biology crash-course for Computer Scientists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What is Physiology? Why Does it Matter for Drug Discovery?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Physiology = how living systems FUNCTION (not just their structure)</a:t>
            </a:r>
          </a:p>
          <a:p>
            <a:pPr>
              <a:spcAft>
                <a:spcPts val="800"/>
              </a:spcAft>
              <a:defRPr sz="2000">
                <a:solidFill>
                  <a:srgbClr val="323232"/>
                </a:solidFill>
                <a:latin typeface="Calibri"/>
              </a:defRPr>
            </a:pPr>
            <a:r>
              <a:t>  → Organs, tissues, cells, proteins, ions — dynamic interaction</a:t>
            </a:r>
          </a:p>
          <a:p>
            <a:pPr>
              <a:spcAft>
                <a:spcPts val="800"/>
              </a:spcAft>
              <a:defRPr sz="2000">
                <a:solidFill>
                  <a:srgbClr val="323232"/>
                </a:solidFill>
                <a:latin typeface="Calibri"/>
              </a:defRPr>
            </a:pPr>
            <a:r>
              <a:t>  → Example: the heart BEATS because ion channels in cardiac cells open/close rhythmically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Drugs change physiology — that is their entire purpose:</a:t>
            </a:r>
          </a:p>
          <a:p>
            <a:pPr>
              <a:spcAft>
                <a:spcPts val="800"/>
              </a:spcAft>
              <a:defRPr sz="2000">
                <a:solidFill>
                  <a:srgbClr val="323232"/>
                </a:solidFill>
                <a:latin typeface="Calibri"/>
              </a:defRPr>
            </a:pPr>
            <a:r>
              <a:t>  AI predicts molecular binding → physiology VALIDATES whether it works</a:t>
            </a:r>
          </a:p>
          <a:p>
            <a:pPr>
              <a:spcAft>
                <a:spcPts val="800"/>
              </a:spcAft>
              <a:defRPr sz="2000">
                <a:solidFill>
                  <a:srgbClr val="323232"/>
                </a:solidFill>
                <a:latin typeface="Calibri"/>
              </a:defRPr>
            </a:pPr>
            <a:r>
              <a:t>  No matter how good our QSAR model, a drug only works if it changes FUNCTION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Today's physiology topics (brief intro, ~30 min total):</a:t>
            </a:r>
          </a:p>
          <a:p>
            <a:pPr>
              <a:spcAft>
                <a:spcPts val="800"/>
              </a:spcAft>
              <a:defRPr sz="2000">
                <a:solidFill>
                  <a:srgbClr val="323232"/>
                </a:solidFill>
                <a:latin typeface="Calibri"/>
              </a:defRPr>
            </a:pPr>
            <a:r>
              <a:t>  ⚡ Action Potentials — how neurons/muscles fire electrically</a:t>
            </a:r>
          </a:p>
          <a:p>
            <a:pPr>
              <a:spcAft>
                <a:spcPts val="800"/>
              </a:spcAft>
              <a:defRPr sz="2000">
                <a:solidFill>
                  <a:srgbClr val="323232"/>
                </a:solidFill>
                <a:latin typeface="Calibri"/>
              </a:defRPr>
            </a:pPr>
            <a:r>
              <a:t>  🔬 SpikerBot &amp; Computational SpikerBox — record and simulate signals</a:t>
            </a:r>
          </a:p>
          <a:p>
            <a:pPr>
              <a:spcAft>
                <a:spcPts val="800"/>
              </a:spcAft>
              <a:defRPr sz="2000">
                <a:solidFill>
                  <a:srgbClr val="323232"/>
                </a:solidFill>
                <a:latin typeface="Calibri"/>
              </a:defRPr>
            </a:pPr>
            <a:r>
              <a:t>  🦟 Fly Motion Vision — a model neural circuit</a:t>
            </a:r>
          </a:p>
          <a:p>
            <a:pPr>
              <a:spcAft>
                <a:spcPts val="800"/>
              </a:spcAft>
              <a:defRPr sz="2000">
                <a:solidFill>
                  <a:srgbClr val="323232"/>
                </a:solidFill>
                <a:latin typeface="Calibri"/>
              </a:defRPr>
            </a:pPr>
            <a:r>
              <a:t>  🔭 Electron Microscopy (EM) — mapping brain wiring (connectomics)</a:t>
            </a:r>
          </a:p>
          <a:p>
            <a:pPr>
              <a:spcAft>
                <a:spcPts val="800"/>
              </a:spcAft>
              <a:defRPr sz="2000">
                <a:solidFill>
                  <a:srgbClr val="323232"/>
                </a:solidFill>
                <a:latin typeface="Calibri"/>
              </a:defRPr>
            </a:pPr>
            <a:r>
              <a:t>  👁 Eye-Tracking — measuring drug effects on behavior</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Action Potentials: The Electrical Language of Neurons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neuron at rest: membrane voltage ~-70 mV (inside more negative than outside)</a:t>
            </a:r>
          </a:p>
          <a:p>
            <a:pPr>
              <a:spcAft>
                <a:spcPts val="800"/>
              </a:spcAft>
              <a:defRPr sz="2000">
                <a:solidFill>
                  <a:srgbClr val="323232"/>
                </a:solidFill>
                <a:latin typeface="Calibri"/>
              </a:defRPr>
            </a:pPr>
            <a:r>
              <a:t>  → Maintained by Na+/K+ ATPase pump (uses ATP to move ions)</a:t>
            </a:r>
          </a:p>
          <a:p>
            <a:pPr>
              <a:spcAft>
                <a:spcPts val="800"/>
              </a:spcAft>
              <a:defRPr sz="2000">
                <a:solidFill>
                  <a:srgbClr val="323232"/>
                </a:solidFill>
                <a:latin typeface="Calibri"/>
              </a:defRPr>
            </a:pPr>
            <a:r>
              <a:t>  → Na+ mostly OUTSIDE; K+ mostly INSIDE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How a spike fires (all-or-nothing, ~1 ms):</a:t>
            </a:r>
          </a:p>
          <a:p>
            <a:pPr>
              <a:spcAft>
                <a:spcPts val="800"/>
              </a:spcAft>
              <a:defRPr sz="2000">
                <a:solidFill>
                  <a:srgbClr val="323232"/>
                </a:solidFill>
                <a:latin typeface="Calibri"/>
              </a:defRPr>
            </a:pPr>
            <a:r>
              <a:t>  1. Stimulus → depolarization past threshold (~-55 mV)</a:t>
            </a:r>
          </a:p>
          <a:p>
            <a:pPr>
              <a:spcAft>
                <a:spcPts val="800"/>
              </a:spcAft>
              <a:defRPr sz="2000">
                <a:solidFill>
                  <a:srgbClr val="323232"/>
                </a:solidFill>
                <a:latin typeface="Calibri"/>
              </a:defRPr>
            </a:pPr>
            <a:r>
              <a:t>  2. Voltage-gated Na+ channels OPEN → Na+ rushes in → peak at +40 mV</a:t>
            </a:r>
          </a:p>
          <a:p>
            <a:pPr>
              <a:spcAft>
                <a:spcPts val="800"/>
              </a:spcAft>
              <a:defRPr sz="2000">
                <a:solidFill>
                  <a:srgbClr val="323232"/>
                </a:solidFill>
                <a:latin typeface="Calibri"/>
              </a:defRPr>
            </a:pPr>
            <a:r>
              <a:t>  3. Na+ channels inactivate; K+ channels open → K+ out → repolarization</a:t>
            </a:r>
          </a:p>
          <a:p>
            <a:pPr>
              <a:spcAft>
                <a:spcPts val="800"/>
              </a:spcAft>
              <a:defRPr sz="2000">
                <a:solidFill>
                  <a:srgbClr val="323232"/>
                </a:solidFill>
                <a:latin typeface="Calibri"/>
              </a:defRPr>
            </a:pPr>
            <a:r>
              <a:t>  4. Brief hyperpolarization → refractory period → back to rest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 targets at every step:</a:t>
            </a:r>
          </a:p>
          <a:p>
            <a:pPr>
              <a:spcAft>
                <a:spcPts val="800"/>
              </a:spcAft>
              <a:defRPr sz="2000">
                <a:solidFill>
                  <a:srgbClr val="323232"/>
                </a:solidFill>
                <a:latin typeface="Calibri"/>
              </a:defRPr>
            </a:pPr>
            <a:r>
              <a:t>  Nav blockers: lidocaine (anesthesia), carbamazepine (epilepsy)</a:t>
            </a:r>
          </a:p>
          <a:p>
            <a:pPr>
              <a:spcAft>
                <a:spcPts val="800"/>
              </a:spcAft>
              <a:defRPr sz="2000">
                <a:solidFill>
                  <a:srgbClr val="323232"/>
                </a:solidFill>
                <a:latin typeface="Calibri"/>
              </a:defRPr>
            </a:pPr>
            <a:r>
              <a:t>  hERG (Kv11.1) blockers: DANGEROUS cardiac side effect of many drugs</a:t>
            </a:r>
          </a:p>
          <a:p>
            <a:pPr>
              <a:spcAft>
                <a:spcPts val="800"/>
              </a:spcAft>
              <a:defRPr sz="2000">
                <a:solidFill>
                  <a:srgbClr val="323232"/>
                </a:solidFill>
                <a:latin typeface="Calibri"/>
              </a:defRPr>
            </a:pPr>
            <a:r>
              <a:t>  GABA-A modulators: diazepam (Valium), alcohol, propofol (anesthesia)</a:t>
            </a:r>
          </a:p>
          <a:p>
            <a:pPr>
              <a:spcAft>
                <a:spcPts val="800"/>
              </a:spcAft>
              <a:defRPr sz="2000">
                <a:solidFill>
                  <a:srgbClr val="323232"/>
                </a:solidFill>
                <a:latin typeface="Calibri"/>
              </a:defRPr>
            </a:pPr>
            <a:r>
              <a:t>Hodgkin &amp; Huxley (1952, Nobel 1963): first computational neuroscience model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SpikerBot &amp; The Computational SpikerBox</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SpikerBox (Backyard Brains): open-source DIY electrophysiology</a:t>
            </a:r>
          </a:p>
          <a:p>
            <a:pPr>
              <a:spcAft>
                <a:spcPts val="800"/>
              </a:spcAft>
              <a:defRPr sz="2000">
                <a:solidFill>
                  <a:srgbClr val="323232"/>
                </a:solidFill>
                <a:latin typeface="Calibri"/>
              </a:defRPr>
            </a:pPr>
            <a:r>
              <a:t>  Records extracellular spikes from neurons/muscles ($100-250 USD)</a:t>
            </a:r>
          </a:p>
          <a:p>
            <a:pPr>
              <a:spcAft>
                <a:spcPts val="800"/>
              </a:spcAft>
              <a:defRPr sz="2000">
                <a:solidFill>
                  <a:srgbClr val="323232"/>
                </a:solidFill>
                <a:latin typeface="Calibri"/>
              </a:defRPr>
            </a:pPr>
            <a:r>
              <a:t>  Real drug experiments: apply lidocaine → watch spikes disappear</a:t>
            </a:r>
          </a:p>
          <a:p>
            <a:pPr>
              <a:spcAft>
                <a:spcPts val="800"/>
              </a:spcAft>
              <a:defRPr sz="2000">
                <a:solidFill>
                  <a:srgbClr val="323232"/>
                </a:solidFill>
                <a:latin typeface="Calibri"/>
              </a:defRPr>
            </a:pPr>
            <a:r>
              <a:t>  Ref: Marzullo &amp; Gage (2012) PLoS ONE 7(3):e30837</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SpikerBot: adds stimulation + locomotion + multi-channel recording</a:t>
            </a:r>
          </a:p>
          <a:p>
            <a:pPr>
              <a:spcAft>
                <a:spcPts val="800"/>
              </a:spcAft>
              <a:defRPr sz="2000">
                <a:solidFill>
                  <a:srgbClr val="323232"/>
                </a:solidFill>
                <a:latin typeface="Calibri"/>
              </a:defRPr>
            </a:pPr>
            <a:r>
              <a:t>  Record FROM and stimulate a living neural preparation</a:t>
            </a:r>
          </a:p>
          <a:p>
            <a:pPr>
              <a:spcAft>
                <a:spcPts val="800"/>
              </a:spcAft>
              <a:defRPr sz="2000">
                <a:solidFill>
                  <a:srgbClr val="323232"/>
                </a:solidFill>
                <a:latin typeface="Calibri"/>
              </a:defRPr>
            </a:pPr>
            <a:r>
              <a:t>  Bridges AI prediction and physiological validation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Computational SpikerBox: Hodgkin-Huxley model in software</a:t>
            </a:r>
          </a:p>
          <a:p>
            <a:pPr>
              <a:spcAft>
                <a:spcPts val="800"/>
              </a:spcAft>
              <a:defRPr sz="2000">
                <a:solidFill>
                  <a:srgbClr val="323232"/>
                </a:solidFill>
                <a:latin typeface="Calibri"/>
              </a:defRPr>
            </a:pPr>
            <a:r>
              <a:t>  Interactively change ion channel conductances → see the effect</a:t>
            </a:r>
          </a:p>
          <a:p>
            <a:pPr>
              <a:spcAft>
                <a:spcPts val="800"/>
              </a:spcAft>
              <a:defRPr sz="2000">
                <a:solidFill>
                  <a:srgbClr val="323232"/>
                </a:solidFill>
                <a:latin typeface="Calibri"/>
              </a:defRPr>
            </a:pPr>
            <a:r>
              <a:t>  In silico drug testing before wet-lab experiments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SpikeRecorder app: FREE — record, visualize, analyze, simulate</a:t>
            </a:r>
          </a:p>
          <a:p>
            <a:pPr>
              <a:spcAft>
                <a:spcPts val="800"/>
              </a:spcAft>
              <a:defRPr sz="2000">
                <a:solidFill>
                  <a:srgbClr val="323232"/>
                </a:solidFill>
                <a:latin typeface="Calibri"/>
              </a:defRPr>
            </a:pPr>
            <a:r>
              <a:t>  Download: backyardbrains.com/SpikeRecorder</a:t>
            </a:r>
          </a:p>
          <a:p>
            <a:pPr>
              <a:spcAft>
                <a:spcPts val="800"/>
              </a:spcAft>
              <a:defRPr sz="2000">
                <a:solidFill>
                  <a:srgbClr val="323232"/>
                </a:solidFill>
                <a:latin typeface="Calibri"/>
              </a:defRPr>
            </a:pPr>
            <a:r>
              <a:t>  Works on phone/tablet/laptop, no hardware needed for simulation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Fly Motion Vision: A Model Neural Circuit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Why Drosophila (fruit fly)?</a:t>
            </a:r>
          </a:p>
          <a:p>
            <a:pPr>
              <a:spcAft>
                <a:spcPts val="800"/>
              </a:spcAft>
              <a:defRPr sz="2000">
                <a:solidFill>
                  <a:srgbClr val="323232"/>
                </a:solidFill>
                <a:latin typeface="Calibri"/>
              </a:defRPr>
            </a:pPr>
            <a:r>
              <a:t>  ~140,000 neurons (human: ~86 billion) — fully mappable!</a:t>
            </a:r>
          </a:p>
          <a:p>
            <a:pPr>
              <a:spcAft>
                <a:spcPts val="800"/>
              </a:spcAft>
              <a:defRPr sz="2000">
                <a:solidFill>
                  <a:srgbClr val="323232"/>
                </a:solidFill>
                <a:latin typeface="Calibri"/>
              </a:defRPr>
            </a:pPr>
            <a:r>
              <a:t>  Powerful genetic tools: optogenetics, calcium imaging, EM</a:t>
            </a:r>
          </a:p>
          <a:p>
            <a:pPr>
              <a:spcAft>
                <a:spcPts val="800"/>
              </a:spcAft>
              <a:defRPr sz="2000">
                <a:solidFill>
                  <a:srgbClr val="323232"/>
                </a:solidFill>
                <a:latin typeface="Calibri"/>
              </a:defRPr>
            </a:pPr>
            <a:r>
              <a:t>  Conserved ion channel families (same targets as human drugs)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visual motion circuit (simplified):</a:t>
            </a:r>
          </a:p>
          <a:p>
            <a:pPr>
              <a:spcAft>
                <a:spcPts val="800"/>
              </a:spcAft>
              <a:defRPr sz="2000">
                <a:solidFill>
                  <a:srgbClr val="323232"/>
                </a:solidFill>
                <a:latin typeface="Calibri"/>
              </a:defRPr>
            </a:pPr>
            <a:r>
              <a:t>  Photoreceptors (light) → Lamina → Medulla → Lobula plate</a:t>
            </a:r>
          </a:p>
          <a:p>
            <a:pPr>
              <a:spcAft>
                <a:spcPts val="800"/>
              </a:spcAft>
              <a:defRPr sz="2000">
                <a:solidFill>
                  <a:srgbClr val="323232"/>
                </a:solidFill>
                <a:latin typeface="Calibri"/>
              </a:defRPr>
            </a:pPr>
            <a:r>
              <a:t>  T4 neurons: detect ON-motion (brightening edge moves)</a:t>
            </a:r>
          </a:p>
          <a:p>
            <a:pPr>
              <a:spcAft>
                <a:spcPts val="800"/>
              </a:spcAft>
              <a:defRPr sz="2000">
                <a:solidFill>
                  <a:srgbClr val="323232"/>
                </a:solidFill>
                <a:latin typeface="Calibri"/>
              </a:defRPr>
            </a:pPr>
            <a:r>
              <a:t>  T5 neurons: detect OFF-motion (darkening edge moves)</a:t>
            </a:r>
          </a:p>
          <a:p>
            <a:pPr>
              <a:spcAft>
                <a:spcPts val="800"/>
              </a:spcAft>
              <a:defRPr sz="2000">
                <a:solidFill>
                  <a:srgbClr val="323232"/>
                </a:solidFill>
                <a:latin typeface="Calibri"/>
              </a:defRPr>
            </a:pPr>
            <a:r>
              <a:t>  4 directions each → population of direction-selective cells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Drug-relevant ion channels in this circuit:</a:t>
            </a:r>
          </a:p>
          <a:p>
            <a:pPr>
              <a:spcAft>
                <a:spcPts val="800"/>
              </a:spcAft>
              <a:defRPr sz="2000">
                <a:solidFill>
                  <a:srgbClr val="323232"/>
                </a:solidFill>
                <a:latin typeface="Calibri"/>
              </a:defRPr>
            </a:pPr>
            <a:r>
              <a:t>  GluCl: glutamate-gated Cl- channel = ivermectin target</a:t>
            </a:r>
          </a:p>
          <a:p>
            <a:pPr>
              <a:spcAft>
                <a:spcPts val="800"/>
              </a:spcAft>
              <a:defRPr sz="2000">
                <a:solidFill>
                  <a:srgbClr val="323232"/>
                </a:solidFill>
                <a:latin typeface="Calibri"/>
              </a:defRPr>
            </a:pPr>
            <a:r>
              <a:t>  Ammer, Serbe-Kamp et al. (2023) Nat. Neurosci. 26:1894-1905</a:t>
            </a:r>
          </a:p>
          <a:p>
            <a:pPr>
              <a:spcAft>
                <a:spcPts val="800"/>
              </a:spcAft>
              <a:defRPr sz="2000">
                <a:solidFill>
                  <a:srgbClr val="323232"/>
                </a:solidFill>
                <a:latin typeface="Calibri"/>
              </a:defRPr>
            </a:pPr>
            <a:r>
              <a:t>  Same Cys-loop receptor superfamily as GABA-A (anxiolytics, anesthetics)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Electron Microscopy (EM) &amp; Connectomics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EM = electron microscopy: resolves structures down to ~1 nm</a:t>
            </a:r>
          </a:p>
          <a:p>
            <a:pPr>
              <a:spcAft>
                <a:spcPts val="800"/>
              </a:spcAft>
              <a:defRPr sz="2000">
                <a:solidFill>
                  <a:srgbClr val="323232"/>
                </a:solidFill>
                <a:latin typeface="Calibri"/>
              </a:defRPr>
            </a:pPr>
            <a:r>
              <a:t>  Light microscopy limit: ~200 nm (wavelength of light)</a:t>
            </a:r>
          </a:p>
          <a:p>
            <a:pPr>
              <a:spcAft>
                <a:spcPts val="800"/>
              </a:spcAft>
              <a:defRPr sz="2000">
                <a:solidFill>
                  <a:srgbClr val="323232"/>
                </a:solidFill>
                <a:latin typeface="Calibri"/>
              </a:defRPr>
            </a:pPr>
            <a:r>
              <a:t>  EM uses electrons (wavelength ~0.001 nm) → 200× better resolution</a:t>
            </a:r>
          </a:p>
          <a:p>
            <a:pPr>
              <a:spcAft>
                <a:spcPts val="800"/>
              </a:spcAft>
              <a:defRPr sz="2000">
                <a:solidFill>
                  <a:srgbClr val="323232"/>
                </a:solidFill>
                <a:latin typeface="Calibri"/>
              </a:defRPr>
            </a:pPr>
            <a:r>
              <a:t>  Can see individual synaptic vesicles, cell membranes, protein complexes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Serial section EM (ssEM): map an entire brain's wiring</a:t>
            </a:r>
          </a:p>
          <a:p>
            <a:pPr>
              <a:spcAft>
                <a:spcPts val="800"/>
              </a:spcAft>
              <a:defRPr sz="2000">
                <a:solidFill>
                  <a:srgbClr val="323232"/>
                </a:solidFill>
                <a:latin typeface="Calibri"/>
              </a:defRPr>
            </a:pPr>
            <a:r>
              <a:t>  Slice tissue into ~30-50 nm sections with a diamond knife</a:t>
            </a:r>
          </a:p>
          <a:p>
            <a:pPr>
              <a:spcAft>
                <a:spcPts val="800"/>
              </a:spcAft>
              <a:defRPr sz="2000">
                <a:solidFill>
                  <a:srgbClr val="323232"/>
                </a:solidFill>
                <a:latin typeface="Calibri"/>
              </a:defRPr>
            </a:pPr>
            <a:r>
              <a:t>  Image each section in the electron microscope</a:t>
            </a:r>
          </a:p>
          <a:p>
            <a:pPr>
              <a:spcAft>
                <a:spcPts val="800"/>
              </a:spcAft>
              <a:defRPr sz="2000">
                <a:solidFill>
                  <a:srgbClr val="323232"/>
                </a:solidFill>
                <a:latin typeface="Calibri"/>
              </a:defRPr>
            </a:pPr>
            <a:r>
              <a:t>  Reconstruct 3D volume by aligning sections (huge AI task!)</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Connectomics = the wiring diagram of the brain</a:t>
            </a:r>
          </a:p>
          <a:p>
            <a:pPr>
              <a:spcAft>
                <a:spcPts val="800"/>
              </a:spcAft>
              <a:defRPr sz="2000">
                <a:solidFill>
                  <a:srgbClr val="323232"/>
                </a:solidFill>
                <a:latin typeface="Calibri"/>
              </a:defRPr>
            </a:pPr>
            <a:r>
              <a:t>  Fly brain: 139,000 neurons, 54.5 million synapses</a:t>
            </a:r>
          </a:p>
          <a:p>
            <a:pPr>
              <a:spcAft>
                <a:spcPts val="800"/>
              </a:spcAft>
              <a:defRPr sz="2000">
                <a:solidFill>
                  <a:srgbClr val="323232"/>
                </a:solidFill>
                <a:latin typeface="Calibri"/>
              </a:defRPr>
            </a:pPr>
            <a:r>
              <a:t>  Dorkenwald et al. (2024) Nature 634:124-138 — first complete fly brain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AI is essential: segmenting neurons from EM images = image segmentation</a:t>
            </a:r>
          </a:p>
          <a:p>
            <a:pPr>
              <a:spcAft>
                <a:spcPts val="800"/>
              </a:spcAft>
              <a:defRPr sz="2000">
                <a:solidFill>
                  <a:srgbClr val="323232"/>
                </a:solidFill>
                <a:latin typeface="Calibri"/>
              </a:defRPr>
            </a:pPr>
            <a:r>
              <a:t>  Same CNNs used for image classification → trained on EM data</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Eye-Tracking: Measuring Drug Effects on Behavior</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Eye movements reveal cognitive and neural function:</a:t>
            </a:r>
          </a:p>
          <a:p>
            <a:pPr>
              <a:spcAft>
                <a:spcPts val="800"/>
              </a:spcAft>
              <a:defRPr sz="2000">
                <a:solidFill>
                  <a:srgbClr val="323232"/>
                </a:solidFill>
                <a:latin typeface="Calibri"/>
              </a:defRPr>
            </a:pPr>
            <a:r>
              <a:t>  Saccades (fast jumps), smooth pursuit, fixation, microsaccades</a:t>
            </a:r>
          </a:p>
          <a:p>
            <a:pPr>
              <a:spcAft>
                <a:spcPts val="800"/>
              </a:spcAft>
              <a:defRPr sz="2000">
                <a:solidFill>
                  <a:srgbClr val="323232"/>
                </a:solidFill>
                <a:latin typeface="Calibri"/>
              </a:defRPr>
            </a:pPr>
            <a:r>
              <a:t>  Pupil dilation — controlled by autonomic nervous system</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Why eye-tracking for drug discovery?</a:t>
            </a:r>
          </a:p>
          <a:p>
            <a:pPr>
              <a:spcAft>
                <a:spcPts val="800"/>
              </a:spcAft>
              <a:defRPr sz="2000">
                <a:solidFill>
                  <a:srgbClr val="323232"/>
                </a:solidFill>
                <a:latin typeface="Calibri"/>
              </a:defRPr>
            </a:pPr>
            <a:r>
              <a:t>  Non-invasive, continuous, quantitative measure of brain state</a:t>
            </a:r>
          </a:p>
          <a:p>
            <a:pPr>
              <a:spcAft>
                <a:spcPts val="800"/>
              </a:spcAft>
              <a:defRPr sz="2000">
                <a:solidFill>
                  <a:srgbClr val="323232"/>
                </a:solidFill>
                <a:latin typeface="Calibri"/>
              </a:defRPr>
            </a:pPr>
            <a:r>
              <a:t>  Many CNS drugs change eye movements (a physiological biomarker)</a:t>
            </a:r>
          </a:p>
          <a:p>
            <a:pPr>
              <a:spcAft>
                <a:spcPts val="800"/>
              </a:spcAft>
              <a:defRPr sz="2000">
                <a:solidFill>
                  <a:srgbClr val="323232"/>
                </a:solidFill>
                <a:latin typeface="Calibri"/>
              </a:defRPr>
            </a:pPr>
            <a:r>
              <a:t>  Example: antipsychotics affect smooth pursuit tracking</a:t>
            </a:r>
          </a:p>
          <a:p>
            <a:pPr>
              <a:spcAft>
                <a:spcPts val="800"/>
              </a:spcAft>
              <a:defRPr sz="2000">
                <a:solidFill>
                  <a:srgbClr val="323232"/>
                </a:solidFill>
                <a:latin typeface="Calibri"/>
              </a:defRPr>
            </a:pPr>
            <a:r>
              <a:t>  Example: stimulants dilate pupils (sympathomimetic effect)</a:t>
            </a:r>
          </a:p>
          <a:p>
            <a:pPr>
              <a:spcAft>
                <a:spcPts val="800"/>
              </a:spcAft>
              <a:defRPr sz="2000">
                <a:solidFill>
                  <a:srgbClr val="323232"/>
                </a:solidFill>
                <a:latin typeface="Calibri"/>
              </a:defRPr>
            </a:pPr>
            <a:r>
              <a:t>  Example: opioids cause miosis (pin-point pupils)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Technical setup:</a:t>
            </a:r>
          </a:p>
          <a:p>
            <a:pPr>
              <a:spcAft>
                <a:spcPts val="800"/>
              </a:spcAft>
              <a:defRPr sz="2000">
                <a:solidFill>
                  <a:srgbClr val="323232"/>
                </a:solidFill>
                <a:latin typeface="Calibri"/>
              </a:defRPr>
            </a:pPr>
            <a:r>
              <a:t>  Infrared camera tracks corneal reflection and pupil position</a:t>
            </a:r>
          </a:p>
          <a:p>
            <a:pPr>
              <a:spcAft>
                <a:spcPts val="800"/>
              </a:spcAft>
              <a:defRPr sz="2000">
                <a:solidFill>
                  <a:srgbClr val="323232"/>
                </a:solidFill>
                <a:latin typeface="Calibri"/>
              </a:defRPr>
            </a:pPr>
            <a:r>
              <a:t>  Modern trackers: 1000 Hz, sub-degree accuracy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AI + Eye-tracking:</a:t>
            </a:r>
          </a:p>
          <a:p>
            <a:pPr>
              <a:spcAft>
                <a:spcPts val="800"/>
              </a:spcAft>
              <a:defRPr sz="2000">
                <a:solidFill>
                  <a:srgbClr val="323232"/>
                </a:solidFill>
                <a:latin typeface="Calibri"/>
              </a:defRPr>
            </a:pPr>
            <a:r>
              <a:t>  Classify drug state from eye movement patterns</a:t>
            </a:r>
          </a:p>
          <a:p>
            <a:pPr>
              <a:spcAft>
                <a:spcPts val="800"/>
              </a:spcAft>
              <a:defRPr sz="2000">
                <a:solidFill>
                  <a:srgbClr val="323232"/>
                </a:solidFill>
                <a:latin typeface="Calibri"/>
              </a:defRPr>
            </a:pPr>
            <a:r>
              <a:t>  Predict treatment response in clinical trials</a:t>
            </a:r>
          </a:p>
          <a:p>
            <a:pPr>
              <a:spcAft>
                <a:spcPts val="800"/>
              </a:spcAft>
              <a:defRPr sz="2000">
                <a:solidFill>
                  <a:srgbClr val="323232"/>
                </a:solidFill>
                <a:latin typeface="Calibri"/>
              </a:defRPr>
            </a:pPr>
            <a:r>
              <a:t>  Project option 4 in our course!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Morning Agenda (Units 1-4)</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SMILES deep dive — syntax rules, practice, limitations</a:t>
            </a:r>
          </a:p>
          <a:p>
            <a:pPr>
              <a:spcAft>
                <a:spcPts val="800"/>
              </a:spcAft>
              <a:defRPr sz="2000">
                <a:solidFill>
                  <a:srgbClr val="323232"/>
                </a:solidFill>
                <a:latin typeface="Calibri"/>
              </a:defRPr>
            </a:pPr>
            <a:r>
              <a:t>2. Molecular fingerprints — Morgan/ECFP, Tanimoto similarity</a:t>
            </a:r>
          </a:p>
          <a:p>
            <a:pPr>
              <a:spcAft>
                <a:spcPts val="800"/>
              </a:spcAft>
              <a:defRPr sz="2000">
                <a:solidFill>
                  <a:srgbClr val="323232"/>
                </a:solidFill>
                <a:latin typeface="Calibri"/>
              </a:defRPr>
            </a:pPr>
            <a:r>
              <a:t>3. Feature engineering — descriptors, Lipinski, BBB rules</a:t>
            </a:r>
          </a:p>
          <a:p>
            <a:pPr>
              <a:spcAft>
                <a:spcPts val="800"/>
              </a:spcAft>
              <a:defRPr sz="2000">
                <a:solidFill>
                  <a:srgbClr val="323232"/>
                </a:solidFill>
                <a:latin typeface="Calibri"/>
              </a:defRPr>
            </a:pPr>
            <a:r>
              <a:t>4. QSAR: Quantitative Structure-Activity Relationships</a:t>
            </a:r>
          </a:p>
          <a:p>
            <a:pPr>
              <a:spcAft>
                <a:spcPts val="800"/>
              </a:spcAft>
              <a:defRPr sz="2000">
                <a:solidFill>
                  <a:srgbClr val="323232"/>
                </a:solidFill>
                <a:latin typeface="Calibri"/>
              </a:defRPr>
            </a:pPr>
            <a:r>
              <a:t>5. ML baselines: Random Forest &amp; XGBoost</a:t>
            </a:r>
          </a:p>
          <a:p>
            <a:pPr>
              <a:spcAft>
                <a:spcPts val="800"/>
              </a:spcAft>
              <a:defRPr sz="2000">
                <a:solidFill>
                  <a:srgbClr val="323232"/>
                </a:solidFill>
                <a:latin typeface="Calibri"/>
              </a:defRPr>
            </a:pPr>
            <a:r>
              <a:t>6. PRACTICAL 1: Build a QSAR model for solubility prediction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BREAK after Unit 2 (after ~90 min)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CNS drug focus: blood-brain barrier penetration, neuroscience targets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SMILES: Deep Dive</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Weininger (1988), J. Chem. Inf. Comput. Sci. 28:31-36</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Syntax Rules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Atoms: C, N, O, S, P, F, Cl, Br, I (organic subset, implicit H)</a:t>
            </a:r>
          </a:p>
          <a:p>
            <a:pPr>
              <a:spcAft>
                <a:spcPts val="800"/>
              </a:spcAft>
              <a:defRPr sz="2000">
                <a:solidFill>
                  <a:srgbClr val="323232"/>
                </a:solidFill>
                <a:latin typeface="Calibri"/>
              </a:defRPr>
            </a:pPr>
            <a:r>
              <a:t>Single bond: implicit (CC = ethane)  |  Double: = (C=O)  |  Triple: # (C#N)</a:t>
            </a:r>
          </a:p>
          <a:p>
            <a:pPr>
              <a:spcAft>
                <a:spcPts val="800"/>
              </a:spcAft>
              <a:defRPr sz="2000">
                <a:solidFill>
                  <a:srgbClr val="323232"/>
                </a:solidFill>
                <a:latin typeface="Calibri"/>
              </a:defRPr>
            </a:pPr>
            <a:r>
              <a:t>Aromatic: lowercase (c1ccccc1 = benzene)</a:t>
            </a:r>
          </a:p>
          <a:p>
            <a:pPr>
              <a:spcAft>
                <a:spcPts val="800"/>
              </a:spcAft>
              <a:defRPr sz="2000">
                <a:solidFill>
                  <a:srgbClr val="323232"/>
                </a:solidFill>
                <a:latin typeface="Calibri"/>
              </a:defRPr>
            </a:pPr>
            <a:r>
              <a:t>Branches: parentheses — CC(=O)O = acetic acid</a:t>
            </a:r>
          </a:p>
          <a:p>
            <a:pPr>
              <a:spcAft>
                <a:spcPts val="800"/>
              </a:spcAft>
              <a:defRPr sz="2000">
                <a:solidFill>
                  <a:srgbClr val="323232"/>
                </a:solidFill>
                <a:latin typeface="Calibri"/>
              </a:defRPr>
            </a:pPr>
            <a:r>
              <a:t>Rings: matching digits — C1CCCCC1 = cyclohexane</a:t>
            </a:r>
          </a:p>
          <a:p>
            <a:pPr>
              <a:spcAft>
                <a:spcPts val="800"/>
              </a:spcAft>
              <a:defRPr sz="2000">
                <a:solidFill>
                  <a:srgbClr val="323232"/>
                </a:solidFill>
                <a:latin typeface="Calibri"/>
              </a:defRPr>
            </a:pPr>
            <a:r>
              <a:t>Charges: [NH4+], [O-]  |  Stereochemistry: / \ for E/Z, @ @@ for 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Canonical SMILES: unique representation (RDKit Chem.MolToSmiles())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Alternatives:</a:t>
            </a:r>
          </a:p>
          <a:p>
            <a:pPr>
              <a:spcAft>
                <a:spcPts val="800"/>
              </a:spcAft>
              <a:defRPr sz="2000">
                <a:solidFill>
                  <a:srgbClr val="323232"/>
                </a:solidFill>
                <a:latin typeface="Calibri"/>
              </a:defRPr>
            </a:pPr>
            <a:r>
              <a:t>  SELFIES — 100% valid strings (Krenn et al. 2020) — great for generative AI</a:t>
            </a:r>
          </a:p>
          <a:p>
            <a:pPr>
              <a:spcAft>
                <a:spcPts val="800"/>
              </a:spcAft>
              <a:defRPr sz="2000">
                <a:solidFill>
                  <a:srgbClr val="323232"/>
                </a:solidFill>
                <a:latin typeface="Calibri"/>
              </a:defRPr>
            </a:pPr>
            <a:r>
              <a:t>  InChI — IUPAC standard  |  DeepSMILES — neural network friendly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Practice: Can You Read These?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NCCc1c[nH]c2ccc(O)cc12  →  ?  (hint: neurotransmitter, mood)</a:t>
            </a:r>
          </a:p>
          <a:p>
            <a:pPr>
              <a:spcAft>
                <a:spcPts val="800"/>
              </a:spcAft>
              <a:defRPr sz="2000">
                <a:solidFill>
                  <a:srgbClr val="323232"/>
                </a:solidFill>
                <a:latin typeface="Calibri"/>
              </a:defRPr>
            </a:pPr>
            <a:r>
              <a:t>2. NCCc1ccc(O)c(O)c1  →  ?  (hint: reward pathway)</a:t>
            </a:r>
          </a:p>
          <a:p>
            <a:pPr>
              <a:spcAft>
                <a:spcPts val="800"/>
              </a:spcAft>
              <a:defRPr sz="2000">
                <a:solidFill>
                  <a:srgbClr val="323232"/>
                </a:solidFill>
                <a:latin typeface="Calibri"/>
              </a:defRPr>
            </a:pPr>
            <a:r>
              <a:t>3. NCCCC(=O)O  →  ?  (hint: main inhibitory NT in the brain)</a:t>
            </a:r>
          </a:p>
          <a:p>
            <a:pPr>
              <a:spcAft>
                <a:spcPts val="800"/>
              </a:spcAft>
              <a:defRPr sz="2000">
                <a:solidFill>
                  <a:srgbClr val="323232"/>
                </a:solidFill>
                <a:latin typeface="Calibri"/>
              </a:defRPr>
            </a:pPr>
            <a:r>
              <a:t>4. CC(=O)Oc1ccccc1C(=O)O  →  ?  (hint: common painkiller)</a:t>
            </a:r>
          </a:p>
          <a:p>
            <a:pPr>
              <a:spcAft>
                <a:spcPts val="800"/>
              </a:spcAft>
              <a:defRPr sz="2000">
                <a:solidFill>
                  <a:srgbClr val="323232"/>
                </a:solidFill>
                <a:latin typeface="Calibri"/>
              </a:defRPr>
            </a:pPr>
            <a:r>
              <a:t>5. Cn1c(=O)c2c(ncn2C)n(C)c1=O  →  ?  (hint: in your coffee)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Answers: 1) Serotonin  2) Dopamine  3) GABA  4) Aspirin  5) Caffeine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Note: GABA is simpler than serotonin, but both are critical NTs</a:t>
            </a:r>
          </a:p>
          <a:p>
            <a:pPr>
              <a:spcAft>
                <a:spcPts val="800"/>
              </a:spcAft>
              <a:defRPr sz="2000">
                <a:solidFill>
                  <a:srgbClr val="323232"/>
                </a:solidFill>
                <a:latin typeface="Calibri"/>
              </a:defRPr>
            </a:pPr>
            <a:r>
              <a:t>GABA-A receptor is in the same Cys-loop superfamily as GluCl (ivermectin target)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Molecular Fingerprints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From molecular structure to numerical vectors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Molecular Fingerprints: The Concept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fingerprint converts a molecule into a fixed-length bit vector</a:t>
            </a:r>
          </a:p>
          <a:p>
            <a:pPr>
              <a:spcAft>
                <a:spcPts val="800"/>
              </a:spcAft>
              <a:defRPr sz="2000">
                <a:solidFill>
                  <a:srgbClr val="323232"/>
                </a:solidFill>
                <a:latin typeface="Calibri"/>
              </a:defRPr>
            </a:pPr>
            <a:r>
              <a:t>Each bit indicates presence/absence of a substructure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Types:</a:t>
            </a:r>
          </a:p>
          <a:p>
            <a:pPr>
              <a:spcAft>
                <a:spcPts val="800"/>
              </a:spcAft>
              <a:defRPr sz="2000">
                <a:solidFill>
                  <a:srgbClr val="323232"/>
                </a:solidFill>
                <a:latin typeface="Calibri"/>
              </a:defRPr>
            </a:pPr>
            <a:r>
              <a:t>  Structural keys (MACCS, 166 bits) — predefined patterns</a:t>
            </a:r>
          </a:p>
          <a:p>
            <a:pPr>
              <a:spcAft>
                <a:spcPts val="800"/>
              </a:spcAft>
              <a:defRPr sz="2000">
                <a:solidFill>
                  <a:srgbClr val="323232"/>
                </a:solidFill>
                <a:latin typeface="Calibri"/>
              </a:defRPr>
            </a:pPr>
            <a:r>
              <a:t>  Topological (RDKit FP) — paths through molecular graph</a:t>
            </a:r>
          </a:p>
          <a:p>
            <a:pPr>
              <a:spcAft>
                <a:spcPts val="800"/>
              </a:spcAft>
              <a:defRPr sz="2000">
                <a:solidFill>
                  <a:srgbClr val="323232"/>
                </a:solidFill>
                <a:latin typeface="Calibri"/>
              </a:defRPr>
            </a:pPr>
            <a:r>
              <a:t>  Circular (Morgan/ECFP) — local atom environments at radius 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Morgan fingerprints are the most widely used today</a:t>
            </a:r>
          </a:p>
          <a:p>
            <a:pPr>
              <a:spcAft>
                <a:spcPts val="800"/>
              </a:spcAft>
              <a:defRPr sz="2000">
                <a:solidFill>
                  <a:srgbClr val="323232"/>
                </a:solidFill>
                <a:latin typeface="Calibri"/>
              </a:defRPr>
            </a:pPr>
            <a:r>
              <a:t>  Rogers &amp; Hahn (2010), JCIM 50:742-754</a:t>
            </a:r>
          </a:p>
          <a:p>
            <a:pPr>
              <a:spcAft>
                <a:spcPts val="800"/>
              </a:spcAft>
              <a:defRPr sz="2000">
                <a:solidFill>
                  <a:srgbClr val="323232"/>
                </a:solidFill>
                <a:latin typeface="Calibri"/>
              </a:defRPr>
            </a:pPr>
            <a:r>
              <a:t>  ECFP4 = radius 2, 2048 bits = default starting point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RDKit: AllChem.GetMorganFingerprintAsBitVect(mol, radius=2, nBits=2048)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Morgan / ECFP: How They Work</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Algorithm (for each atom):</a:t>
            </a:r>
          </a:p>
          <a:p>
            <a:pPr>
              <a:spcAft>
                <a:spcPts val="800"/>
              </a:spcAft>
              <a:defRPr sz="2000">
                <a:solidFill>
                  <a:srgbClr val="323232"/>
                </a:solidFill>
                <a:latin typeface="Calibri"/>
              </a:defRPr>
            </a:pPr>
            <a:r>
              <a:t>  1. Start: identifier = atom type + properties</a:t>
            </a:r>
          </a:p>
          <a:p>
            <a:pPr>
              <a:spcAft>
                <a:spcPts val="800"/>
              </a:spcAft>
              <a:defRPr sz="2000">
                <a:solidFill>
                  <a:srgbClr val="323232"/>
                </a:solidFill>
                <a:latin typeface="Calibri"/>
              </a:defRPr>
            </a:pPr>
            <a:r>
              <a:t>  2. Iteration 1: collect identifiers from radius-1 neighbors</a:t>
            </a:r>
          </a:p>
          <a:p>
            <a:pPr>
              <a:spcAft>
                <a:spcPts val="800"/>
              </a:spcAft>
              <a:defRPr sz="2000">
                <a:solidFill>
                  <a:srgbClr val="323232"/>
                </a:solidFill>
                <a:latin typeface="Calibri"/>
              </a:defRPr>
            </a:pPr>
            <a:r>
              <a:t>  3. Hash combined info → new identifier</a:t>
            </a:r>
          </a:p>
          <a:p>
            <a:pPr>
              <a:spcAft>
                <a:spcPts val="800"/>
              </a:spcAft>
              <a:defRPr sz="2000">
                <a:solidFill>
                  <a:srgbClr val="323232"/>
                </a:solidFill>
                <a:latin typeface="Calibri"/>
              </a:defRPr>
            </a:pPr>
            <a:r>
              <a:t>  4. Iteration 2: expand to radius-2, hash again</a:t>
            </a:r>
          </a:p>
          <a:p>
            <a:pPr>
              <a:spcAft>
                <a:spcPts val="800"/>
              </a:spcAft>
              <a:defRPr sz="2000">
                <a:solidFill>
                  <a:srgbClr val="323232"/>
                </a:solidFill>
                <a:latin typeface="Calibri"/>
              </a:defRPr>
            </a:pPr>
            <a:r>
              <a:t>  5. Map all identifiers to fixed-length bit vector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ECFP4 = radius 2  |  ECFP6 = radius 3</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Similarity: Tanimoto coefficient = |A∩B| / |A∪B|</a:t>
            </a:r>
          </a:p>
          <a:p>
            <a:pPr>
              <a:spcAft>
                <a:spcPts val="800"/>
              </a:spcAft>
              <a:defRPr sz="2000">
                <a:solidFill>
                  <a:srgbClr val="323232"/>
                </a:solidFill>
                <a:latin typeface="Calibri"/>
              </a:defRPr>
            </a:pPr>
            <a:r>
              <a:t>  Range: 0 (different) to 1 (identical)</a:t>
            </a:r>
          </a:p>
          <a:p>
            <a:pPr>
              <a:spcAft>
                <a:spcPts val="800"/>
              </a:spcAft>
              <a:defRPr sz="2000">
                <a:solidFill>
                  <a:srgbClr val="323232"/>
                </a:solidFill>
                <a:latin typeface="Calibri"/>
              </a:defRPr>
            </a:pPr>
            <a:r>
              <a:t>  Tanimoto &gt; 0.85 → likely similar activity (but exceptions exist!)</a:t>
            </a:r>
          </a:p>
          <a:p>
            <a:pPr>
              <a:spcAft>
                <a:spcPts val="800"/>
              </a:spcAft>
              <a:defRPr sz="2000">
                <a:solidFill>
                  <a:srgbClr val="323232"/>
                </a:solidFill>
                <a:latin typeface="Calibri"/>
              </a:defRPr>
            </a:pPr>
            <a:r>
              <a:t>  In RDKit: DataStructs.TanimotoSimilarity(fp1, fp2)</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Feature Engineering &amp; Lipinski's Rule of Five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Physicochemical descriptors:</a:t>
            </a:r>
          </a:p>
          <a:p>
            <a:pPr>
              <a:spcAft>
                <a:spcPts val="800"/>
              </a:spcAft>
              <a:defRPr sz="2000">
                <a:solidFill>
                  <a:srgbClr val="323232"/>
                </a:solidFill>
                <a:latin typeface="Calibri"/>
              </a:defRPr>
            </a:pPr>
            <a:r>
              <a:t>  MW, LogP (lipophilicity), HBD, HBA, TPSA, rotatable bonds, aromatic rings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Lipinski (Pfizer, 1997) — most cited paper in medicinal chemistry:</a:t>
            </a:r>
          </a:p>
          <a:p>
            <a:pPr>
              <a:spcAft>
                <a:spcPts val="800"/>
              </a:spcAft>
              <a:defRPr sz="2000">
                <a:solidFill>
                  <a:srgbClr val="323232"/>
                </a:solidFill>
                <a:latin typeface="Calibri"/>
              </a:defRPr>
            </a:pPr>
            <a:r>
              <a:t>  Orally bioavailable if: MW ≤ 500, LogP ≤ 5, HBD ≤ 5, HBA ≤ 10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For CNS drugs — crossing the blood-brain barrier (Pardridge 2005):</a:t>
            </a:r>
          </a:p>
          <a:p>
            <a:pPr>
              <a:spcAft>
                <a:spcPts val="800"/>
              </a:spcAft>
              <a:defRPr sz="2000">
                <a:solidFill>
                  <a:srgbClr val="323232"/>
                </a:solidFill>
                <a:latin typeface="Calibri"/>
              </a:defRPr>
            </a:pPr>
            <a:r>
              <a:t>  MW &lt; 450, LogP 1-3, HBD &lt; 3, TPSA &lt; 90 Å²</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Example: serotonin (MW=176, LogP=0.2) does NOT cross BBB well</a:t>
            </a:r>
          </a:p>
          <a:p>
            <a:pPr>
              <a:spcAft>
                <a:spcPts val="800"/>
              </a:spcAft>
              <a:defRPr sz="2000">
                <a:solidFill>
                  <a:srgbClr val="323232"/>
                </a:solidFill>
                <a:latin typeface="Calibri"/>
              </a:defRPr>
            </a:pPr>
            <a:r>
              <a:t>  → That's why we give SSRIs (which cross BBB) not serotonin itself</a:t>
            </a:r>
          </a:p>
          <a:p>
            <a:pPr>
              <a:spcAft>
                <a:spcPts val="800"/>
              </a:spcAft>
              <a:defRPr sz="2000">
                <a:solidFill>
                  <a:srgbClr val="323232"/>
                </a:solidFill>
                <a:latin typeface="Calibri"/>
              </a:defRPr>
            </a:pPr>
            <a:r>
              <a:t>  → L-DOPA crosses BBB, dopamine doesn't → Parkinson's treatment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RDKit: 200+ descriptors  |  Mordred: &gt;1800 descriptors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QSAR: Quantitative Structure-Activity Relationships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Core idea: molecular structure determines biological activity</a:t>
            </a:r>
          </a:p>
          <a:p>
            <a:pPr>
              <a:spcAft>
                <a:spcPts val="800"/>
              </a:spcAft>
              <a:defRPr sz="2000">
                <a:solidFill>
                  <a:srgbClr val="323232"/>
                </a:solidFill>
                <a:latin typeface="Calibri"/>
              </a:defRPr>
            </a:pPr>
            <a:r>
              <a:t>  Activity = f(molecular features)</a:t>
            </a:r>
          </a:p>
          <a:p>
            <a:pPr>
              <a:spcAft>
                <a:spcPts val="800"/>
              </a:spcAft>
              <a:defRPr sz="2000">
                <a:solidFill>
                  <a:srgbClr val="323232"/>
                </a:solidFill>
                <a:latin typeface="Calibri"/>
              </a:defRPr>
            </a:pPr>
            <a:r>
              <a:t>  Hansch (1964) — founded the field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Modern QSAR workflow:</a:t>
            </a:r>
          </a:p>
          <a:p>
            <a:pPr>
              <a:spcAft>
                <a:spcPts val="800"/>
              </a:spcAft>
              <a:defRPr sz="2000">
                <a:solidFill>
                  <a:srgbClr val="323232"/>
                </a:solidFill>
                <a:latin typeface="Calibri"/>
              </a:defRPr>
            </a:pPr>
            <a:r>
              <a:t>  1. Curate dataset from ChEMBL (target + activity data)</a:t>
            </a:r>
          </a:p>
          <a:p>
            <a:pPr>
              <a:spcAft>
                <a:spcPts val="800"/>
              </a:spcAft>
              <a:defRPr sz="2000">
                <a:solidFill>
                  <a:srgbClr val="323232"/>
                </a:solidFill>
                <a:latin typeface="Calibri"/>
              </a:defRPr>
            </a:pPr>
            <a:r>
              <a:t>  2. Generate features (fingerprints + descriptors)</a:t>
            </a:r>
          </a:p>
          <a:p>
            <a:pPr>
              <a:spcAft>
                <a:spcPts val="800"/>
              </a:spcAft>
              <a:defRPr sz="2000">
                <a:solidFill>
                  <a:srgbClr val="323232"/>
                </a:solidFill>
                <a:latin typeface="Calibri"/>
              </a:defRPr>
            </a:pPr>
            <a:r>
              <a:t>  3. Split data (scaffold split, NOT random!)</a:t>
            </a:r>
          </a:p>
          <a:p>
            <a:pPr>
              <a:spcAft>
                <a:spcPts val="800"/>
              </a:spcAft>
              <a:defRPr sz="2000">
                <a:solidFill>
                  <a:srgbClr val="323232"/>
                </a:solidFill>
                <a:latin typeface="Calibri"/>
              </a:defRPr>
            </a:pPr>
            <a:r>
              <a:t>  4. Train model (RF, XGBoost, GNN)</a:t>
            </a:r>
          </a:p>
          <a:p>
            <a:pPr>
              <a:spcAft>
                <a:spcPts val="800"/>
              </a:spcAft>
              <a:defRPr sz="2000">
                <a:solidFill>
                  <a:srgbClr val="323232"/>
                </a:solidFill>
                <a:latin typeface="Calibri"/>
              </a:defRPr>
            </a:pPr>
            <a:r>
              <a:t>  5. Evaluate rigorously (RMSE, R², AUC-ROC)</a:t>
            </a:r>
          </a:p>
          <a:p>
            <a:pPr>
              <a:spcAft>
                <a:spcPts val="800"/>
              </a:spcAft>
              <a:defRPr sz="2000">
                <a:solidFill>
                  <a:srgbClr val="323232"/>
                </a:solidFill>
                <a:latin typeface="Calibri"/>
              </a:defRPr>
            </a:pPr>
            <a:r>
              <a:t>  6. Interpret (SHAP, feature importance)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This is the core pipeline you'll use for your projects!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ML Baselines: Random Forest &amp; XGBoost</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Random Forest</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Ensemble of decision trees (Breiman 2001)</a:t>
            </a:r>
          </a:p>
          <a:p>
            <a:pPr>
              <a:spcAft>
                <a:spcPts val="800"/>
              </a:spcAft>
              <a:defRPr sz="1800">
                <a:solidFill>
                  <a:srgbClr val="323232"/>
                </a:solidFill>
                <a:latin typeface="Calibri"/>
              </a:defRPr>
            </a:pPr>
            <a:r>
              <a:t>Each tree trained on bootstrap sample</a:t>
            </a:r>
          </a:p>
          <a:p>
            <a:pPr>
              <a:spcAft>
                <a:spcPts val="800"/>
              </a:spcAft>
              <a:defRPr sz="1800">
                <a:solidFill>
                  <a:srgbClr val="323232"/>
                </a:solidFill>
                <a:latin typeface="Calibri"/>
              </a:defRPr>
            </a:pPr>
            <a:r>
              <a:t>Final prediction = average (regression) or vote</a:t>
            </a:r>
          </a:p>
          <a:p>
            <a:pPr>
              <a:spcAft>
                <a:spcPts val="800"/>
              </a:spcAft>
              <a:defRPr sz="1800">
                <a:solidFill>
                  <a:srgbClr val="323232"/>
                </a:solidFill>
                <a:latin typeface="Calibri"/>
              </a:defRPr>
            </a:pPr>
            <a:r>
              <a:t>Handles high-dimensional fingerprints well</a:t>
            </a:r>
          </a:p>
          <a:p>
            <a:pPr>
              <a:spcAft>
                <a:spcPts val="800"/>
              </a:spcAft>
              <a:defRPr sz="1800">
                <a:solidFill>
                  <a:srgbClr val="323232"/>
                </a:solidFill>
                <a:latin typeface="Calibri"/>
              </a:defRPr>
            </a:pPr>
            <a:r>
              <a:t>Resistant to overfitting</a:t>
            </a:r>
          </a:p>
          <a:p>
            <a:pPr>
              <a:spcAft>
                <a:spcPts val="800"/>
              </a:spcAft>
              <a:defRPr sz="1800">
                <a:solidFill>
                  <a:srgbClr val="323232"/>
                </a:solidFill>
                <a:latin typeface="Calibri"/>
              </a:defRPr>
            </a:pPr>
            <a:r>
              <a:t>Easy to interpret (feature importance)</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XGBoost</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Sequential trees correct errors (Chen &amp; Guestrin 2016)</a:t>
            </a:r>
          </a:p>
          <a:p>
            <a:pPr>
              <a:spcAft>
                <a:spcPts val="800"/>
              </a:spcAft>
              <a:defRPr sz="1800">
                <a:solidFill>
                  <a:srgbClr val="323232"/>
                </a:solidFill>
                <a:latin typeface="Calibri"/>
              </a:defRPr>
            </a:pPr>
            <a:r>
              <a:t>Often higher accuracy than RF</a:t>
            </a:r>
          </a:p>
          <a:p>
            <a:pPr>
              <a:spcAft>
                <a:spcPts val="800"/>
              </a:spcAft>
              <a:defRPr sz="1800">
                <a:solidFill>
                  <a:srgbClr val="323232"/>
                </a:solidFill>
                <a:latin typeface="Calibri"/>
              </a:defRPr>
            </a:pPr>
            <a:r>
              <a:t>Built-in regularization</a:t>
            </a:r>
          </a:p>
          <a:p>
            <a:pPr>
              <a:spcAft>
                <a:spcPts val="800"/>
              </a:spcAft>
              <a:defRPr sz="1800">
                <a:solidFill>
                  <a:srgbClr val="323232"/>
                </a:solidFill>
                <a:latin typeface="Calibri"/>
              </a:defRPr>
            </a:pPr>
            <a:r>
              <a:t>Handles missing values</a:t>
            </a:r>
          </a:p>
          <a:p>
            <a:pPr>
              <a:spcAft>
                <a:spcPts val="800"/>
              </a:spcAft>
              <a:defRPr sz="1800">
                <a:solidFill>
                  <a:srgbClr val="323232"/>
                </a:solidFill>
                <a:latin typeface="Calibri"/>
              </a:defRPr>
            </a:pPr>
            <a:r>
              <a:t>Dominant in Kaggle competitions</a:t>
            </a:r>
          </a:p>
          <a:p>
            <a:pPr>
              <a:spcAft>
                <a:spcPts val="800"/>
              </a:spcAft>
              <a:defRPr sz="1800">
                <a:solidFill>
                  <a:srgbClr val="323232"/>
                </a:solidFill>
                <a:latin typeface="Calibri"/>
              </a:defRPr>
            </a:pPr>
            <a:r>
              <a:t>Sheridan (2016, JCIM 56:2353-2360): XGBoost modestly &gt; RF for QSAR</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BREAK — 15 minutes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Practical 1 starts right after the break!</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1: Build a QSAR Model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day2_molecular_ml/Day2_Practical_QSAR.ipynb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Dataset: Delaney solubility (1,128 molecules, logS values)</a:t>
            </a:r>
          </a:p>
          <a:p>
            <a:pPr>
              <a:spcAft>
                <a:spcPts val="800"/>
              </a:spcAft>
              <a:defRPr sz="2000">
                <a:solidFill>
                  <a:srgbClr val="323232"/>
                </a:solidFill>
                <a:latin typeface="Calibri"/>
              </a:defRPr>
            </a:pPr>
            <a:r>
              <a:t>  Delaney (2004), J. Chem. Inf. Comput. Sci. 44:1000-1005</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dataset, parse SMILES with RDKit</a:t>
            </a:r>
          </a:p>
          <a:p>
            <a:pPr>
              <a:spcAft>
                <a:spcPts val="800"/>
              </a:spcAft>
              <a:defRPr sz="2000">
                <a:solidFill>
                  <a:srgbClr val="323232"/>
                </a:solidFill>
                <a:latin typeface="Calibri"/>
              </a:defRPr>
            </a:pPr>
            <a:r>
              <a:t>  2. Generate Morgan fingerprints (ECFP4, 2048 bits)</a:t>
            </a:r>
          </a:p>
          <a:p>
            <a:pPr>
              <a:spcAft>
                <a:spcPts val="800"/>
              </a:spcAft>
              <a:defRPr sz="2000">
                <a:solidFill>
                  <a:srgbClr val="323232"/>
                </a:solidFill>
                <a:latin typeface="Calibri"/>
              </a:defRPr>
            </a:pPr>
            <a:r>
              <a:t>  3. Calculate physicochemical descriptors</a:t>
            </a:r>
          </a:p>
          <a:p>
            <a:pPr>
              <a:spcAft>
                <a:spcPts val="800"/>
              </a:spcAft>
              <a:defRPr sz="2000">
                <a:solidFill>
                  <a:srgbClr val="323232"/>
                </a:solidFill>
                <a:latin typeface="Calibri"/>
              </a:defRPr>
            </a:pPr>
            <a:r>
              <a:t>  4. 80/20 train/test split</a:t>
            </a:r>
          </a:p>
          <a:p>
            <a:pPr>
              <a:spcAft>
                <a:spcPts val="800"/>
              </a:spcAft>
              <a:defRPr sz="2000">
                <a:solidFill>
                  <a:srgbClr val="323232"/>
                </a:solidFill>
                <a:latin typeface="Calibri"/>
              </a:defRPr>
            </a:pPr>
            <a:r>
              <a:t>  5. Train Random Forest regressor</a:t>
            </a:r>
          </a:p>
          <a:p>
            <a:pPr>
              <a:spcAft>
                <a:spcPts val="800"/>
              </a:spcAft>
              <a:defRPr sz="2000">
                <a:solidFill>
                  <a:srgbClr val="323232"/>
                </a:solidFill>
                <a:latin typeface="Calibri"/>
              </a:defRPr>
            </a:pPr>
            <a:r>
              <a:t>  6. Train XGBoost regressor</a:t>
            </a:r>
          </a:p>
          <a:p>
            <a:pPr>
              <a:spcAft>
                <a:spcPts val="800"/>
              </a:spcAft>
              <a:defRPr sz="2000">
                <a:solidFill>
                  <a:srgbClr val="323232"/>
                </a:solidFill>
                <a:latin typeface="Calibri"/>
              </a:defRPr>
            </a:pPr>
            <a:r>
              <a:t>  7. Compare: RMSE, R-squared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~50 min including code execution | Work in pairs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PRACTICAL 1 — Build Your QSAR Model</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50 minutes of coding — train your first molecular ML model!</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Afternoon Agenda (Units 5-8)</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7. Why standard evaluation fails for molecular data</a:t>
            </a:r>
          </a:p>
          <a:p>
            <a:pPr>
              <a:spcAft>
                <a:spcPts val="800"/>
              </a:spcAft>
              <a:defRPr sz="2000">
                <a:solidFill>
                  <a:srgbClr val="323232"/>
                </a:solidFill>
                <a:latin typeface="Calibri"/>
              </a:defRPr>
            </a:pPr>
            <a:r>
              <a:t>8. Activity cliffs and scaffold bias</a:t>
            </a:r>
          </a:p>
          <a:p>
            <a:pPr>
              <a:spcAft>
                <a:spcPts val="800"/>
              </a:spcAft>
              <a:defRPr sz="2000">
                <a:solidFill>
                  <a:srgbClr val="323232"/>
                </a:solidFill>
                <a:latin typeface="Calibri"/>
              </a:defRPr>
            </a:pPr>
            <a:r>
              <a:t>9. Proper validation: scaffold splits, temporal splits</a:t>
            </a:r>
          </a:p>
          <a:p>
            <a:pPr>
              <a:spcAft>
                <a:spcPts val="800"/>
              </a:spcAft>
              <a:defRPr sz="2000">
                <a:solidFill>
                  <a:srgbClr val="323232"/>
                </a:solidFill>
                <a:latin typeface="Calibri"/>
              </a:defRPr>
            </a:pPr>
            <a:r>
              <a:t>10. Metrics deep dive: RMSE, R², ROC-AUC, precision-recall</a:t>
            </a:r>
          </a:p>
          <a:p>
            <a:pPr>
              <a:spcAft>
                <a:spcPts val="800"/>
              </a:spcAft>
              <a:defRPr sz="2000">
                <a:solidFill>
                  <a:srgbClr val="323232"/>
                </a:solidFill>
                <a:latin typeface="Calibri"/>
              </a:defRPr>
            </a:pPr>
            <a:r>
              <a:t>11. Explainability with SHAP (Lundberg &amp; Lee 2017)</a:t>
            </a:r>
          </a:p>
          <a:p>
            <a:pPr>
              <a:spcAft>
                <a:spcPts val="800"/>
              </a:spcAft>
              <a:defRPr sz="2000">
                <a:solidFill>
                  <a:srgbClr val="323232"/>
                </a:solidFill>
                <a:latin typeface="Calibri"/>
              </a:defRPr>
            </a:pPr>
            <a:r>
              <a:t>12. PRACTICAL 2: Re-evaluate your morning model properly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BREAK after Unit 6 (after ~90 min afternoon)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message: the EVALUATION is more important than the model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640080"/>
          </a:xfrm>
          <a:prstGeom prst="rect">
            <a:avLst/>
          </a:prstGeom>
          <a:noFill/>
        </p:spPr>
        <p:txBody>
          <a:bodyPr wrap="square">
            <a:spAutoFit/>
          </a:bodyPr>
          <a:lstStyle/>
          <a:p>
            <a:pPr algn="l">
              <a:defRPr sz="2600" b="1">
                <a:solidFill>
                  <a:srgbClr val="27AE60"/>
                </a:solidFill>
                <a:latin typeface="Calibri"/>
              </a:defRPr>
            </a:pPr>
            <a:r>
              <a:t>The Hall of Shame: When Models Lie</a:t>
            </a:r>
          </a:p>
        </p:txBody>
      </p:sp>
      <p:sp>
        <p:nvSpPr>
          <p:cNvPr id="3" name="TextBox 2"/>
          <p:cNvSpPr txBox="1"/>
          <p:nvPr/>
        </p:nvSpPr>
        <p:spPr>
          <a:xfrm>
            <a:off x="1097280" y="1463040"/>
            <a:ext cx="9601200" cy="4754880"/>
          </a:xfrm>
          <a:prstGeom prst="rect">
            <a:avLst/>
          </a:prstGeom>
          <a:noFill/>
        </p:spPr>
        <p:txBody>
          <a:bodyPr wrap="square">
            <a:spAutoFit/>
          </a:bodyPr>
          <a:lstStyle/>
          <a:p>
            <a:pPr algn="l">
              <a:defRPr sz="2000" b="0">
                <a:solidFill>
                  <a:srgbClr val="FFFFFF"/>
                </a:solidFill>
                <a:latin typeface="Calibri"/>
              </a:defRPr>
            </a:pPr>
            <a:r>
              <a:t>Example 1: hERG toxicity model — 95% accuracy on random split. On novel scaffolds: 60%.</a:t>
            </a:r>
            <a:br/>
            <a:br/>
            <a:r>
              <a:t>Example 2: Published AUC-ROC 0.97. Remove duplicate compounds: 0.72.</a:t>
            </a:r>
            <a:br/>
            <a:br/>
            <a:r>
              <a:t>Example 3: Scaffold split vs random — AUROC dropped from 0.92 to 0.75.</a:t>
            </a:r>
            <a:br/>
            <a:br/>
            <a:r>
              <a:t>Example 4 (Neuroscience): A GABA-A binding model looked great, but it learned to recognize the benzodiazepine scaffold, not actual binding features. On novel chemotypes: near-random.</a:t>
            </a:r>
            <a:br/>
            <a:br/>
            <a:r>
              <a:t>Lesson: ALWAYS validate properly.</a:t>
            </a:r>
            <a:br/>
            <a:br/>
            <a:r>
              <a:t>Ref: Wallach &amp; Heifets (2018) — 'Most Ligand-Based Benchmarks Reward Memorization'</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Scaffold Bias and Proper Splitting</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Scaffold = core ring structure (Bemis-Murcko framework)</a:t>
            </a:r>
          </a:p>
          <a:p>
            <a:pPr>
              <a:spcAft>
                <a:spcPts val="800"/>
              </a:spcAft>
              <a:defRPr sz="2000">
                <a:solidFill>
                  <a:srgbClr val="323232"/>
                </a:solidFill>
                <a:latin typeface="Calibri"/>
              </a:defRPr>
            </a:pPr>
            <a:r>
              <a:t>Problem: random split → same scaffold in train AND test → memorization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Solutions:</a:t>
            </a:r>
          </a:p>
          <a:p>
            <a:pPr>
              <a:spcAft>
                <a:spcPts val="800"/>
              </a:spcAft>
              <a:defRPr sz="2000">
                <a:solidFill>
                  <a:srgbClr val="323232"/>
                </a:solidFill>
                <a:latin typeface="Calibri"/>
              </a:defRPr>
            </a:pPr>
            <a:r>
              <a:t>  Scaffold split: no scaffold overlap (Bemis &amp; Murcko 1996)</a:t>
            </a:r>
          </a:p>
          <a:p>
            <a:pPr>
              <a:spcAft>
                <a:spcPts val="800"/>
              </a:spcAft>
              <a:defRPr sz="2000">
                <a:solidFill>
                  <a:srgbClr val="323232"/>
                </a:solidFill>
                <a:latin typeface="Calibri"/>
              </a:defRPr>
            </a:pPr>
            <a:r>
              <a:t>  Temporal split: train on older, test on newer data</a:t>
            </a:r>
          </a:p>
          <a:p>
            <a:pPr>
              <a:spcAft>
                <a:spcPts val="800"/>
              </a:spcAft>
              <a:defRPr sz="2000">
                <a:solidFill>
                  <a:srgbClr val="323232"/>
                </a:solidFill>
                <a:latin typeface="Calibri"/>
              </a:defRPr>
            </a:pPr>
            <a:r>
              <a:t>  Cluster split: cluster molecules, split by cluster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MoleculeNet uses scaffold split as default (Wu et al. 2018)</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Activity cliffs: very similar molecules, very different activity</a:t>
            </a:r>
          </a:p>
          <a:p>
            <a:pPr>
              <a:spcAft>
                <a:spcPts val="800"/>
              </a:spcAft>
              <a:defRPr sz="2000">
                <a:solidFill>
                  <a:srgbClr val="323232"/>
                </a:solidFill>
                <a:latin typeface="Calibri"/>
              </a:defRPr>
            </a:pPr>
            <a:r>
              <a:t>  Changing one methyl → chlorine can change IC50 by 1000×</a:t>
            </a:r>
          </a:p>
          <a:p>
            <a:pPr>
              <a:spcAft>
                <a:spcPts val="800"/>
              </a:spcAft>
              <a:defRPr sz="2000">
                <a:solidFill>
                  <a:srgbClr val="323232"/>
                </a:solidFill>
                <a:latin typeface="Calibri"/>
              </a:defRPr>
            </a:pPr>
            <a:r>
              <a:t>  These are the hardest cases for ML!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Evaluation Metrics for Molecular ML</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Regression</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RMSE — root mean squared error</a:t>
            </a:r>
          </a:p>
          <a:p>
            <a:pPr>
              <a:spcAft>
                <a:spcPts val="800"/>
              </a:spcAft>
              <a:defRPr sz="1800">
                <a:solidFill>
                  <a:srgbClr val="323232"/>
                </a:solidFill>
                <a:latin typeface="Calibri"/>
              </a:defRPr>
            </a:pPr>
            <a:r>
              <a:t>  Penalizes large errors more</a:t>
            </a:r>
          </a:p>
          <a:p>
            <a:pPr>
              <a:spcAft>
                <a:spcPts val="800"/>
              </a:spcAft>
              <a:defRPr sz="1800">
                <a:solidFill>
                  <a:srgbClr val="323232"/>
                </a:solidFill>
                <a:latin typeface="Calibri"/>
              </a:defRPr>
            </a:pPr>
            <a:r>
              <a:t>R² — coefficient of determination</a:t>
            </a:r>
          </a:p>
          <a:p>
            <a:pPr>
              <a:spcAft>
                <a:spcPts val="800"/>
              </a:spcAft>
              <a:defRPr sz="1800">
                <a:solidFill>
                  <a:srgbClr val="323232"/>
                </a:solidFill>
                <a:latin typeface="Calibri"/>
              </a:defRPr>
            </a:pPr>
            <a:r>
              <a:t>  1.0 = perfect, &lt;0 = worse than mean</a:t>
            </a:r>
          </a:p>
          <a:p>
            <a:pPr>
              <a:spcAft>
                <a:spcPts val="800"/>
              </a:spcAft>
              <a:defRPr sz="1800">
                <a:solidFill>
                  <a:srgbClr val="323232"/>
                </a:solidFill>
                <a:latin typeface="Calibri"/>
              </a:defRPr>
            </a:pPr>
            <a:r>
              <a:t>MAE — mean absolute error</a:t>
            </a:r>
          </a:p>
          <a:p>
            <a:pPr>
              <a:spcAft>
                <a:spcPts val="800"/>
              </a:spcAft>
              <a:defRPr sz="1800">
                <a:solidFill>
                  <a:srgbClr val="323232"/>
                </a:solidFill>
                <a:latin typeface="Calibri"/>
              </a:defRPr>
            </a:pPr>
            <a:r>
              <a:t>  More robust to outliers</a:t>
            </a:r>
          </a:p>
          <a:p>
            <a:pPr>
              <a:spcAft>
                <a:spcPts val="800"/>
              </a:spcAft>
              <a:defRPr sz="1800">
                <a:solidFill>
                  <a:srgbClr val="323232"/>
                </a:solidFill>
                <a:latin typeface="Calibri"/>
              </a:defRPr>
            </a:pPr>
          </a:p>
          <a:p>
            <a:pPr>
              <a:spcAft>
                <a:spcPts val="800"/>
              </a:spcAft>
              <a:defRPr sz="1800">
                <a:solidFill>
                  <a:srgbClr val="323232"/>
                </a:solidFill>
                <a:latin typeface="Calibri"/>
              </a:defRPr>
            </a:pPr>
            <a:r>
              <a:t>Report ALL three, not just R²!</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Classification</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AUC-ROC — area under ROC curve</a:t>
            </a:r>
          </a:p>
          <a:p>
            <a:pPr>
              <a:spcAft>
                <a:spcPts val="800"/>
              </a:spcAft>
              <a:defRPr sz="1800">
                <a:solidFill>
                  <a:srgbClr val="323232"/>
                </a:solidFill>
                <a:latin typeface="Calibri"/>
              </a:defRPr>
            </a:pPr>
            <a:r>
              <a:t>  0.5 = random, 1.0 = perfect</a:t>
            </a:r>
          </a:p>
          <a:p>
            <a:pPr>
              <a:spcAft>
                <a:spcPts val="800"/>
              </a:spcAft>
              <a:defRPr sz="1800">
                <a:solidFill>
                  <a:srgbClr val="323232"/>
                </a:solidFill>
                <a:latin typeface="Calibri"/>
              </a:defRPr>
            </a:pPr>
            <a:r>
              <a:t>  Insensitive to class balance!</a:t>
            </a:r>
          </a:p>
          <a:p>
            <a:pPr>
              <a:spcAft>
                <a:spcPts val="800"/>
              </a:spcAft>
              <a:defRPr sz="1800">
                <a:solidFill>
                  <a:srgbClr val="323232"/>
                </a:solidFill>
                <a:latin typeface="Calibri"/>
              </a:defRPr>
            </a:pPr>
            <a:r>
              <a:t>Precision-Recall AUC</a:t>
            </a:r>
          </a:p>
          <a:p>
            <a:pPr>
              <a:spcAft>
                <a:spcPts val="800"/>
              </a:spcAft>
              <a:defRPr sz="1800">
                <a:solidFill>
                  <a:srgbClr val="323232"/>
                </a:solidFill>
                <a:latin typeface="Calibri"/>
              </a:defRPr>
            </a:pPr>
            <a:r>
              <a:t>  Better for imbalanced data (most drug data)</a:t>
            </a:r>
          </a:p>
          <a:p>
            <a:pPr>
              <a:spcAft>
                <a:spcPts val="800"/>
              </a:spcAft>
              <a:defRPr sz="1800">
                <a:solidFill>
                  <a:srgbClr val="323232"/>
                </a:solidFill>
                <a:latin typeface="Calibri"/>
              </a:defRPr>
            </a:pPr>
            <a:r>
              <a:t>Balanced accuracy</a:t>
            </a:r>
          </a:p>
          <a:p>
            <a:pPr>
              <a:spcAft>
                <a:spcPts val="800"/>
              </a:spcAft>
              <a:defRPr sz="1800">
                <a:solidFill>
                  <a:srgbClr val="323232"/>
                </a:solidFill>
                <a:latin typeface="Calibri"/>
              </a:defRPr>
            </a:pPr>
            <a:r>
              <a:t>  Average of sensitivity + specificity</a:t>
            </a:r>
          </a:p>
          <a:p>
            <a:pPr>
              <a:spcAft>
                <a:spcPts val="800"/>
              </a:spcAft>
              <a:defRPr sz="1800">
                <a:solidFill>
                  <a:srgbClr val="323232"/>
                </a:solidFill>
                <a:latin typeface="Calibri"/>
              </a:defRPr>
            </a:pPr>
          </a:p>
          <a:p>
            <a:pPr>
              <a:spcAft>
                <a:spcPts val="800"/>
              </a:spcAft>
              <a:defRPr sz="1800">
                <a:solidFill>
                  <a:srgbClr val="323232"/>
                </a:solidFill>
                <a:latin typeface="Calibri"/>
              </a:defRPr>
            </a:pPr>
            <a:r>
              <a:t>Report PR-AUC for imbalanced data!</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Model Interpretability</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Opening the black box — why does the model predict THIS?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Why Explainability Matters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Regulatory: FDA expects understanding of model behavior</a:t>
            </a:r>
          </a:p>
          <a:p>
            <a:pPr>
              <a:spcAft>
                <a:spcPts val="800"/>
              </a:spcAft>
              <a:defRPr sz="2000">
                <a:solidFill>
                  <a:srgbClr val="323232"/>
                </a:solidFill>
                <a:latin typeface="Calibri"/>
              </a:defRPr>
            </a:pPr>
            <a:r>
              <a:t>Scientific: chemists won't trust a model they can't understand</a:t>
            </a:r>
          </a:p>
          <a:p>
            <a:pPr>
              <a:spcAft>
                <a:spcPts val="800"/>
              </a:spcAft>
              <a:defRPr sz="2000">
                <a:solidFill>
                  <a:srgbClr val="323232"/>
                </a:solidFill>
                <a:latin typeface="Calibri"/>
              </a:defRPr>
            </a:pPr>
            <a:r>
              <a:t>Safety: unexplained predictions could mask dangerous failures</a:t>
            </a:r>
          </a:p>
          <a:p>
            <a:pPr>
              <a:spcAft>
                <a:spcPts val="800"/>
              </a:spcAft>
              <a:defRPr sz="2000">
                <a:solidFill>
                  <a:srgbClr val="323232"/>
                </a:solidFill>
                <a:latin typeface="Calibri"/>
              </a:defRPr>
            </a:pPr>
            <a:r>
              <a:t>Discovery: understanding features drives new hypotheses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Jimenez-Luna et al. (2020), Nature Machine Intelligence 2:573-584</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Types:</a:t>
            </a:r>
          </a:p>
          <a:p>
            <a:pPr>
              <a:spcAft>
                <a:spcPts val="800"/>
              </a:spcAft>
              <a:defRPr sz="2000">
                <a:solidFill>
                  <a:srgbClr val="323232"/>
                </a:solidFill>
                <a:latin typeface="Calibri"/>
              </a:defRPr>
            </a:pPr>
            <a:r>
              <a:t>  Global: which features are generally important?</a:t>
            </a:r>
          </a:p>
          <a:p>
            <a:pPr>
              <a:spcAft>
                <a:spcPts val="800"/>
              </a:spcAft>
              <a:defRPr sz="2000">
                <a:solidFill>
                  <a:srgbClr val="323232"/>
                </a:solidFill>
                <a:latin typeface="Calibri"/>
              </a:defRPr>
            </a:pPr>
            <a:r>
              <a:t>  Local: why did the model predict THIS for THIS molecule?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EU AI Act: medical AI = high-risk = requires transparency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SHAP: SHapley Additive exPlanations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Lundberg &amp; Lee (2017), NeurIPS</a:t>
            </a:r>
          </a:p>
          <a:p>
            <a:pPr>
              <a:spcAft>
                <a:spcPts val="800"/>
              </a:spcAft>
              <a:defRPr sz="2000">
                <a:solidFill>
                  <a:srgbClr val="323232"/>
                </a:solidFill>
                <a:latin typeface="Calibri"/>
              </a:defRPr>
            </a:pPr>
            <a:r>
              <a:t>Based on Shapley values from cooperative game theory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For each prediction, assign a contribution to each feature:</a:t>
            </a:r>
          </a:p>
          <a:p>
            <a:pPr>
              <a:spcAft>
                <a:spcPts val="800"/>
              </a:spcAft>
              <a:defRPr sz="2000">
                <a:solidFill>
                  <a:srgbClr val="323232"/>
                </a:solidFill>
                <a:latin typeface="Calibri"/>
              </a:defRPr>
            </a:pPr>
            <a:r>
              <a:t>  Positive SHAP → pushes prediction higher</a:t>
            </a:r>
          </a:p>
          <a:p>
            <a:pPr>
              <a:spcAft>
                <a:spcPts val="800"/>
              </a:spcAft>
              <a:defRPr sz="2000">
                <a:solidFill>
                  <a:srgbClr val="323232"/>
                </a:solidFill>
                <a:latin typeface="Calibri"/>
              </a:defRPr>
            </a:pPr>
            <a:r>
              <a:t>  Negative SHAP → pushes prediction lower</a:t>
            </a:r>
          </a:p>
          <a:p>
            <a:pPr>
              <a:spcAft>
                <a:spcPts val="800"/>
              </a:spcAft>
              <a:defRPr sz="2000">
                <a:solidFill>
                  <a:srgbClr val="323232"/>
                </a:solidFill>
                <a:latin typeface="Calibri"/>
              </a:defRPr>
            </a:pPr>
            <a:r>
              <a:t>  Sum of all SHAP values + baseline = predicted value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Advantages:</a:t>
            </a:r>
          </a:p>
          <a:p>
            <a:pPr>
              <a:spcAft>
                <a:spcPts val="800"/>
              </a:spcAft>
              <a:defRPr sz="2000">
                <a:solidFill>
                  <a:srgbClr val="323232"/>
                </a:solidFill>
                <a:latin typeface="Calibri"/>
              </a:defRPr>
            </a:pPr>
            <a:r>
              <a:t>  Mathematically grounded (unique solution with desirable properties)</a:t>
            </a:r>
          </a:p>
          <a:p>
            <a:pPr>
              <a:spcAft>
                <a:spcPts val="800"/>
              </a:spcAft>
              <a:defRPr sz="2000">
                <a:solidFill>
                  <a:srgbClr val="323232"/>
                </a:solidFill>
                <a:latin typeface="Calibri"/>
              </a:defRPr>
            </a:pPr>
            <a:r>
              <a:t>  Works for any model (model-agnostic)</a:t>
            </a:r>
          </a:p>
          <a:p>
            <a:pPr>
              <a:spcAft>
                <a:spcPts val="800"/>
              </a:spcAft>
              <a:defRPr sz="2000">
                <a:solidFill>
                  <a:srgbClr val="323232"/>
                </a:solidFill>
                <a:latin typeface="Calibri"/>
              </a:defRPr>
            </a:pPr>
            <a:r>
              <a:t>  Local AND global explanations</a:t>
            </a:r>
          </a:p>
          <a:p>
            <a:pPr>
              <a:spcAft>
                <a:spcPts val="800"/>
              </a:spcAft>
              <a:defRPr sz="2000">
                <a:solidFill>
                  <a:srgbClr val="323232"/>
                </a:solidFill>
                <a:latin typeface="Calibri"/>
              </a:defRPr>
            </a:pPr>
            <a:r>
              <a:t>  Beautiful visualizations (beeswarm, waterfall, force plots)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For fingerprints: important bit → decode to substructure → chemistry insight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Applicability Domain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model is only reliable within its training data distribution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Methods to define AD:</a:t>
            </a:r>
          </a:p>
          <a:p>
            <a:pPr>
              <a:spcAft>
                <a:spcPts val="800"/>
              </a:spcAft>
              <a:defRPr sz="2000">
                <a:solidFill>
                  <a:srgbClr val="323232"/>
                </a:solidFill>
                <a:latin typeface="Calibri"/>
              </a:defRPr>
            </a:pPr>
            <a:r>
              <a:t>  Distance-based: is the new molecule close to training data?</a:t>
            </a:r>
          </a:p>
          <a:p>
            <a:pPr>
              <a:spcAft>
                <a:spcPts val="800"/>
              </a:spcAft>
              <a:defRPr sz="2000">
                <a:solidFill>
                  <a:srgbClr val="323232"/>
                </a:solidFill>
                <a:latin typeface="Calibri"/>
              </a:defRPr>
            </a:pPr>
            <a:r>
              <a:t>  Descriptor range: are features within training bounds?</a:t>
            </a:r>
          </a:p>
          <a:p>
            <a:pPr>
              <a:spcAft>
                <a:spcPts val="800"/>
              </a:spcAft>
              <a:defRPr sz="2000">
                <a:solidFill>
                  <a:srgbClr val="323232"/>
                </a:solidFill>
                <a:latin typeface="Calibri"/>
              </a:defRPr>
            </a:pPr>
            <a:r>
              <a:t>  Conformal prediction: distribution-free prediction intervals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Sahigara et al. (2012), Molecules 17(5):4791-4810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practice: flag out-of-domain predictions as low confidence</a:t>
            </a:r>
          </a:p>
          <a:p>
            <a:pPr>
              <a:spcAft>
                <a:spcPts val="800"/>
              </a:spcAft>
              <a:defRPr sz="2000">
                <a:solidFill>
                  <a:srgbClr val="323232"/>
                </a:solidFill>
                <a:latin typeface="Calibri"/>
              </a:defRPr>
            </a:pPr>
            <a:r>
              <a:t>A confident wrong prediction is worse than an honest 'I don't know'</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BREAK — 15 minutes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Final practical of the day coming up!</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2: Evaluate &amp; Interpret Your QSAR Model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day2_molecular_ml/Day2_Practical_Evaluation.ipynb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your morning QSAR model (or re-train quickly)</a:t>
            </a:r>
          </a:p>
          <a:p>
            <a:pPr>
              <a:spcAft>
                <a:spcPts val="800"/>
              </a:spcAft>
              <a:defRPr sz="2000">
                <a:solidFill>
                  <a:srgbClr val="323232"/>
                </a:solidFill>
                <a:latin typeface="Calibri"/>
              </a:defRPr>
            </a:pPr>
            <a:r>
              <a:t>  2. Implement scaffold splitting (Bemis-Murcko)</a:t>
            </a:r>
          </a:p>
          <a:p>
            <a:pPr>
              <a:spcAft>
                <a:spcPts val="800"/>
              </a:spcAft>
              <a:defRPr sz="2000">
                <a:solidFill>
                  <a:srgbClr val="323232"/>
                </a:solidFill>
                <a:latin typeface="Calibri"/>
              </a:defRPr>
            </a:pPr>
            <a:r>
              <a:t>  3. Compare: random split vs. scaffold split performance</a:t>
            </a:r>
          </a:p>
          <a:p>
            <a:pPr>
              <a:spcAft>
                <a:spcPts val="800"/>
              </a:spcAft>
              <a:defRPr sz="2000">
                <a:solidFill>
                  <a:srgbClr val="323232"/>
                </a:solidFill>
                <a:latin typeface="Calibri"/>
              </a:defRPr>
            </a:pPr>
            <a:r>
              <a:t>  4. Compute ROC curve, precision-recall curve</a:t>
            </a:r>
          </a:p>
          <a:p>
            <a:pPr>
              <a:spcAft>
                <a:spcPts val="800"/>
              </a:spcAft>
              <a:defRPr sz="2000">
                <a:solidFill>
                  <a:srgbClr val="323232"/>
                </a:solidFill>
                <a:latin typeface="Calibri"/>
              </a:defRPr>
            </a:pPr>
            <a:r>
              <a:t>  5. Calculate SHAP values for your RF model</a:t>
            </a:r>
          </a:p>
          <a:p>
            <a:pPr>
              <a:spcAft>
                <a:spcPts val="800"/>
              </a:spcAft>
              <a:defRPr sz="2000">
                <a:solidFill>
                  <a:srgbClr val="323232"/>
                </a:solidFill>
                <a:latin typeface="Calibri"/>
              </a:defRPr>
            </a:pPr>
            <a:r>
              <a:t>  6. Create SHAP beeswarm plot: which features matter most?</a:t>
            </a:r>
          </a:p>
          <a:p>
            <a:pPr>
              <a:spcAft>
                <a:spcPts val="800"/>
              </a:spcAft>
              <a:defRPr sz="2000">
                <a:solidFill>
                  <a:srgbClr val="323232"/>
                </a:solidFill>
                <a:latin typeface="Calibri"/>
              </a:defRPr>
            </a:pPr>
            <a:r>
              <a:t>  7. Decode important fingerprint bits to substructures</a:t>
            </a:r>
          </a:p>
          <a:p>
            <a:pPr>
              <a:spcAft>
                <a:spcPts val="800"/>
              </a:spcAft>
              <a:defRPr sz="2000">
                <a:solidFill>
                  <a:srgbClr val="323232"/>
                </a:solidFill>
                <a:latin typeface="Calibri"/>
              </a:defRPr>
            </a:pPr>
            <a:r>
              <a:t>  8. Define applicability domain using Tanimoto distance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~50 min | The 'aha moment': watch performance DROP with scaffold split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PRACTICAL 2 — Evaluate &amp; Interpret</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50 minutes — discover what your model really knows!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A model achieves AUC-ROC 0.95 on the test set.</a:t>
            </a:r>
            <a:br/>
            <a:r>
              <a:t>Would you trust it to guide a $100M drug campaign?</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What kind of split was used? Random or scaffold?</a:t>
            </a:r>
          </a:p>
          <a:p>
            <a:pPr>
              <a:spcAft>
                <a:spcPts val="800"/>
              </a:spcAft>
              <a:defRPr sz="1800">
                <a:solidFill>
                  <a:srgbClr val="F0F0F0"/>
                </a:solidFill>
                <a:latin typeface="Calibri"/>
              </a:defRPr>
            </a:pPr>
            <a:r>
              <a:t>How imbalanced is the dataset? (Use PR-AUC instead!)</a:t>
            </a:r>
          </a:p>
          <a:p>
            <a:pPr>
              <a:spcAft>
                <a:spcPts val="800"/>
              </a:spcAft>
              <a:defRPr sz="1800">
                <a:solidFill>
                  <a:srgbClr val="F0F0F0"/>
                </a:solidFill>
                <a:latin typeface="Calibri"/>
              </a:defRPr>
            </a:pPr>
            <a:r>
              <a:t>Has it been validated prospectively on truly new chemical series?</a:t>
            </a:r>
          </a:p>
          <a:p>
            <a:pPr>
              <a:spcAft>
                <a:spcPts val="800"/>
              </a:spcAft>
              <a:defRPr sz="1800">
                <a:solidFill>
                  <a:srgbClr val="F0F0F0"/>
                </a:solidFill>
                <a:latin typeface="Calibri"/>
              </a:defRPr>
            </a:pPr>
            <a:r>
              <a:t>What is the applicability domain?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2800" b="1">
                <a:solidFill>
                  <a:srgbClr val="FFFFFF"/>
                </a:solidFill>
                <a:latin typeface="Calibri"/>
              </a:defRPr>
            </a:pPr>
            <a:r>
              <a:t>KEY TAKEAWAYS — DAY 2</a:t>
            </a:r>
          </a:p>
        </p:txBody>
      </p:sp>
      <p:sp>
        <p:nvSpPr>
          <p:cNvPr id="3" name="TextBox 2"/>
          <p:cNvSpPr txBox="1"/>
          <p:nvPr/>
        </p:nvSpPr>
        <p:spPr>
          <a:xfrm>
            <a:off x="1371600" y="1645920"/>
            <a:ext cx="9144000" cy="4572000"/>
          </a:xfrm>
          <a:prstGeom prst="rect">
            <a:avLst/>
          </a:prstGeom>
          <a:noFill/>
        </p:spPr>
        <p:txBody>
          <a:bodyPr wrap="square">
            <a:spAutoFit/>
          </a:bodyPr>
          <a:lstStyle/>
          <a:p>
            <a:pPr>
              <a:spcAft>
                <a:spcPts val="800"/>
              </a:spcAft>
              <a:defRPr sz="2200">
                <a:solidFill>
                  <a:srgbClr val="FFFFFF"/>
                </a:solidFill>
                <a:latin typeface="Calibri"/>
              </a:defRPr>
            </a:pPr>
            <a:r>
              <a:t>Morgan/ECFP fingerprints convert molecules to bit vectors</a:t>
            </a:r>
          </a:p>
          <a:p>
            <a:pPr>
              <a:spcAft>
                <a:spcPts val="800"/>
              </a:spcAft>
              <a:defRPr sz="2200">
                <a:solidFill>
                  <a:srgbClr val="FFFFFF"/>
                </a:solidFill>
                <a:latin typeface="Calibri"/>
              </a:defRPr>
            </a:pPr>
            <a:r>
              <a:t>QSAR: predicting activity from structure (since 1964!)</a:t>
            </a:r>
          </a:p>
          <a:p>
            <a:pPr>
              <a:spcAft>
                <a:spcPts val="800"/>
              </a:spcAft>
              <a:defRPr sz="2200">
                <a:solidFill>
                  <a:srgbClr val="FFFFFF"/>
                </a:solidFill>
                <a:latin typeface="Calibri"/>
              </a:defRPr>
            </a:pPr>
            <a:r>
              <a:t>RF and XGBoost: strong, production-ready QSAR baselines</a:t>
            </a:r>
          </a:p>
          <a:p>
            <a:pPr>
              <a:spcAft>
                <a:spcPts val="800"/>
              </a:spcAft>
              <a:defRPr sz="2200">
                <a:solidFill>
                  <a:srgbClr val="FFFFFF"/>
                </a:solidFill>
                <a:latin typeface="Calibri"/>
              </a:defRPr>
            </a:pPr>
            <a:r>
              <a:t>Scaffold splits prevent data leakage (Wallach &amp; Heifets 2018)</a:t>
            </a:r>
          </a:p>
          <a:p>
            <a:pPr>
              <a:spcAft>
                <a:spcPts val="800"/>
              </a:spcAft>
              <a:defRPr sz="2200">
                <a:solidFill>
                  <a:srgbClr val="FFFFFF"/>
                </a:solidFill>
                <a:latin typeface="Calibri"/>
              </a:defRPr>
            </a:pPr>
            <a:r>
              <a:t>SHAP: mathematically grounded explanations for any model</a:t>
            </a:r>
          </a:p>
          <a:p>
            <a:pPr>
              <a:spcAft>
                <a:spcPts val="800"/>
              </a:spcAft>
              <a:defRPr sz="2200">
                <a:solidFill>
                  <a:srgbClr val="FFFFFF"/>
                </a:solidFill>
                <a:latin typeface="Calibri"/>
              </a:defRPr>
            </a:pPr>
            <a:r>
              <a:t>Applicability domain: know your model's limits</a:t>
            </a:r>
          </a:p>
          <a:p>
            <a:pPr>
              <a:spcAft>
                <a:spcPts val="800"/>
              </a:spcAft>
              <a:defRPr sz="2200">
                <a:solidFill>
                  <a:srgbClr val="FFFFFF"/>
                </a:solidFill>
                <a:latin typeface="Calibri"/>
              </a:defRPr>
            </a:pPr>
            <a:r>
              <a:t>The evaluation is more important than the model!</a:t>
            </a:r>
          </a:p>
          <a:p>
            <a:pPr>
              <a:spcAft>
                <a:spcPts val="800"/>
              </a:spcAft>
              <a:defRPr sz="2200">
                <a:solidFill>
                  <a:srgbClr val="FFFFFF"/>
                </a:solidFill>
                <a:latin typeface="Calibri"/>
              </a:defRPr>
            </a:pPr>
            <a:r>
              <a:t>Next (Day 3, 5 May): Deep learning, GNNs, generative AI, AlphaFold</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Coming Up: Day 3 — 5 May 2026</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Morning: Deep Learning &amp; Graph Neural Networks</a:t>
            </a:r>
          </a:p>
          <a:p>
            <a:pPr>
              <a:spcAft>
                <a:spcPts val="800"/>
              </a:spcAft>
              <a:defRPr sz="2000">
                <a:solidFill>
                  <a:srgbClr val="323232"/>
                </a:solidFill>
                <a:latin typeface="Calibri"/>
              </a:defRPr>
            </a:pPr>
            <a:r>
              <a:t>  Molecules as graphs → message passing → GNNs</a:t>
            </a:r>
          </a:p>
          <a:p>
            <a:pPr>
              <a:spcAft>
                <a:spcPts val="800"/>
              </a:spcAft>
              <a:defRPr sz="2000">
                <a:solidFill>
                  <a:srgbClr val="323232"/>
                </a:solidFill>
                <a:latin typeface="Calibri"/>
              </a:defRPr>
            </a:pPr>
            <a:r>
              <a:t>  Practical: train a GNN on MoleculeNet data</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Afternoon: Generative AI &amp; Protein Targets</a:t>
            </a:r>
          </a:p>
          <a:p>
            <a:pPr>
              <a:spcAft>
                <a:spcPts val="800"/>
              </a:spcAft>
              <a:defRPr sz="2000">
                <a:solidFill>
                  <a:srgbClr val="323232"/>
                </a:solidFill>
                <a:latin typeface="Calibri"/>
              </a:defRPr>
            </a:pPr>
            <a:r>
              <a:t>  Generate new molecules (VAE, diffusion)</a:t>
            </a:r>
          </a:p>
          <a:p>
            <a:pPr>
              <a:spcAft>
                <a:spcPts val="800"/>
              </a:spcAft>
              <a:defRPr sz="2000">
                <a:solidFill>
                  <a:srgbClr val="323232"/>
                </a:solidFill>
                <a:latin typeface="Calibri"/>
              </a:defRPr>
            </a:pPr>
            <a:r>
              <a:t>  AlphaFold for drug targets</a:t>
            </a:r>
          </a:p>
          <a:p>
            <a:pPr>
              <a:spcAft>
                <a:spcPts val="800"/>
              </a:spcAft>
              <a:defRPr sz="2000">
                <a:solidFill>
                  <a:srgbClr val="323232"/>
                </a:solidFill>
                <a:latin typeface="Calibri"/>
              </a:defRPr>
            </a:pPr>
            <a:r>
              <a:t>  Practical: explore generative models or AlphaFold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Preparation:</a:t>
            </a:r>
          </a:p>
          <a:p>
            <a:pPr>
              <a:spcAft>
                <a:spcPts val="800"/>
              </a:spcAft>
              <a:defRPr sz="2000">
                <a:solidFill>
                  <a:srgbClr val="323232"/>
                </a:solidFill>
                <a:latin typeface="Calibri"/>
              </a:defRPr>
            </a:pPr>
            <a:r>
              <a:t>  Review today's SHAP analysis — understand your model</a:t>
            </a:r>
          </a:p>
          <a:p>
            <a:pPr>
              <a:spcAft>
                <a:spcPts val="800"/>
              </a:spcAft>
              <a:defRPr sz="2000">
                <a:solidFill>
                  <a:srgbClr val="323232"/>
                </a:solidFill>
                <a:latin typeface="Calibri"/>
              </a:defRPr>
            </a:pPr>
            <a:r>
              <a:t>  Start discussing project approach with your group</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