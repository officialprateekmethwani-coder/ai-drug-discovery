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0-10 min (Unit 1 start)</a:t>
            </a:r>
          </a:p>
          <a:p/>
          <a:p>
            <a:r>
              <a:t>Welcome back! Quick check-in: how did the Day 1 practical go? Who finished the Hodgkin-Huxley simulation? Today is a BIG day — 8 units. By the end, you will have trained, evaluated, and interpreted ML models on real molecular data.</a:t>
            </a:r>
          </a:p>
          <a:p/>
          <a:p>
            <a:r>
              <a:t>Agenda:</a:t>
            </a:r>
          </a:p>
          <a:p>
            <a:r>
              <a:t>Morning (Units 1-4, ~180 min): SMILES deep dive, fingerprints, QSAR, RF/XGBoost, Practical 1</a:t>
            </a:r>
          </a:p>
          <a:p>
            <a:r>
              <a:t>Afternoon (Units 5-8, ~180 min): Evaluation, scaffold splits, SHAP, Practical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10-12 min</a:t>
            </a:r>
          </a:p>
          <a:p/>
          <a:p>
            <a:r>
              <a:t>Quick overview. Emphasize the logical flow: represent molecules (SMILES → fingerprints → descriptors) → framework for prediction (QSAR) → ML tools (RF, XGBoost). Practical uses the Delaney solubility dataset.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12-15 min</a:t>
            </a:r>
          </a:p>
          <a:p/>
          <a:p>
            <a:r>
              <a:t>Transition to SMILES syntax. Weininger (1988) 'SMILES, a Chemical Language and Information System. 1. Introduction to Methodology and Encoding Rules.' J. Chem. Inf. Comput. Sci. 28:31-36.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15-25 min</a:t>
            </a:r>
          </a:p>
          <a:p/>
          <a:p>
            <a:r>
              <a:t>Spend 7 min on syntax with board examples. Build from simple (ethanol CCO) to complex (benzene c1ccccc1). Key point about canonical SMILES: OCC and CCO are both valid for ethanol, but canonical is CCO. Mention alternatives briefly — SELFIES will return on Day 3 for generative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25-30 min</a:t>
            </a:r>
          </a:p>
          <a:p/>
          <a:p>
            <a:r>
              <a:t>5 min interactive. Reveal answers one by one. Neuroscience SMILES walkthrough:</a:t>
            </a:r>
          </a:p>
          <a:p>
            <a:r>
              <a:t>1. SEROTONIN: indole ring + ethylamine + hydroxyl. Targeted by SSRIs.</a:t>
            </a:r>
          </a:p>
          <a:p>
            <a:r>
              <a:t>2. DOPAMINE: catechol ring + ethylamine. Targeted by L-DOPA, antipsychotics.</a:t>
            </a:r>
          </a:p>
          <a:p>
            <a:r>
              <a:t>3. GABA: simplest — amine + 4C + carboxyl. GABA-A = same superfamily as GluCl!</a:t>
            </a:r>
          </a:p>
          <a:p>
            <a:r>
              <a:t>4. ASPIRIN: acetyl + salicylic acid. COX inhibitor.</a:t>
            </a:r>
          </a:p>
          <a:p>
            <a:r>
              <a:t>5. CAFFEINE: purine xanthine. Adenosine A1/A2A antagonist.</a:t>
            </a:r>
          </a:p>
          <a:p/>
          <a:p>
            <a:r>
              <a:t>Ask: notice how simple GABA is vs serotonin? Structure ≠ biological importance.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30-32 min</a:t>
            </a:r>
          </a:p>
          <a:p/>
          <a:p>
            <a:r>
              <a:t>Transition: SMILES = text. For ML, we need numerical vectors. Enter fingerprints.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32-40 min</a:t>
            </a:r>
          </a:p>
          <a:p/>
          <a:p>
            <a:r>
              <a:t>Spend 5 min. Barcode analogy. Morgan/ECFP captures local atom neighborhoods at increasing radius. ECFP4 (radius=2, 2048 bits) is the standard. CITATION: Rogers &amp; Hahn (2010) 'Extended-Connectivity Fingerprints.' J. Chem. Inf. Model. 50:742-754. This is the foundational paper that formalized ECFP as Morgan fingerprints.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40-50 min</a:t>
            </a:r>
          </a:p>
          <a:p/>
          <a:p>
            <a:r>
              <a:t>Spend 7 min with board diagram. Draw a molecule, pick one atom, show radius-1 and radius-2 neighborhoods. The connection to message passing (Day 3) is important — same idea, but hashed instead of learned.</a:t>
            </a:r>
          </a:p>
          <a:p/>
          <a:p>
            <a:r>
              <a:t>Tanimoto: Jaccard index. The 0.85 threshold is heuristic (Similar Property Principle). Exceptions = activity cliffs (covered later today).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50-60 min</a:t>
            </a:r>
          </a:p>
          <a:p/>
          <a:p>
            <a:r>
              <a:t>7 min. CITATION: Lipinski et al. (1997) 'Experimental and computational approaches to estimate solubility and permeability in drug discovery and development settings.' Adv. Drug Deliv. Rev. 23(1-3):3-25. One of the most cited papers in medicinal chemistry. For CNS drugs, BBB adds constraints. Pardridge (2005) 'The blood-brain barrier: Bottleneck in brain drug development.' NeuroRx 2:3-14.</a:t>
            </a:r>
          </a:p>
          <a:p/>
          <a:p>
            <a:r>
              <a:t>The serotonin/dopamine BBB example is powerful: explains why Parkinson's patients take L-DOPA, not dopamine. This is a PERFECT ML task: predict BBB permeability from descriptors.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60-68 min</a:t>
            </a:r>
          </a:p>
          <a:p/>
          <a:p>
            <a:r>
              <a:t>5 min overview. QSAR was formalized by Corwin Hansch in 1964 — over 60 years old! The modern version adds ML, but the fundamental idea is unchanged: structure → activity. Emphasize that steps 3-6 are critical and often done poorly.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68-78 min</a:t>
            </a:r>
          </a:p>
          <a:p/>
          <a:p>
            <a:r>
              <a:t>7 min. RF: ensemble of independent trees. XGBoost: sequential boosting. CITATION: Chen &amp; Guestrin (2016) 'XGBoost: A Scalable Tree Boosting System.' KDD '16, pp. 785-794. Won Best Paper at KDD 2016. Breiman (2001) 'Random forests.' Machine Learning 45:5-32 defined Random Forest. For tabular data (which molecular features are), XGBoost is still king.</a:t>
            </a:r>
          </a:p>
          <a:p/>
          <a:p>
            <a:r>
              <a:t>Key message: ALWAYS try RF and XGBoost as baselines before jumping to deep learning. They often match or beat GNNs on small datasets.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78-93 min (after Unit 2)</a:t>
            </a:r>
          </a:p>
          <a:p/>
          <a:p>
            <a:r>
              <a:t>Break! Students should stretch. Morning practical is coming up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93-95 min (intro) then 95-145 min (practical)</a:t>
            </a:r>
          </a:p>
          <a:p/>
          <a:p>
            <a:r>
              <a:t>2 min intro then hands-on. The Delaney dataset is a classic benchmark. Solubility matters because ~40% of drug candidates have issues. Expected: RF RMSE ~0.6-0.8 logS, R² ~0.85-0.90. XGBoost slightly better.</a:t>
            </a:r>
          </a:p>
          <a:p/>
          <a:p>
            <a:r>
              <a:t>IMPORTANT: Note that this initial split is RANDOM. In the afternoon, we'll show why this overestimates performance!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95-145 min (Units 3-4, ~50 min coding)</a:t>
            </a:r>
          </a:p>
          <a:p/>
          <a:p>
            <a:r>
              <a:t>Walk around, help students. Ensure everyone gets RF and XGBoost trained. They'll need these models for the afternoon evaluation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145-148 min (Unit 5 start)</a:t>
            </a:r>
          </a:p>
          <a:p/>
          <a:p>
            <a:r>
              <a:t>Quick 3-min overview. This afternoon is about rigor. In pharmaceutical companies, a model that looks great on paper but fails in practice costs millions. By the end of today, students will understand why their morning models might be misleading.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148-155 min</a:t>
            </a:r>
          </a:p>
          <a:p/>
          <a:p>
            <a:r>
              <a:t>5 min cautionary tales. CITATION: Wallach &amp; Heifets (2018) 'Most Ligand-Based Classification Benchmarks Reward Memorization Rather than Generalization.' JCIM 58:916-932. Showed many published models memorize molecular series rather than learning generalizable chemical features.</a:t>
            </a:r>
          </a:p>
          <a:p/>
          <a:p>
            <a:r>
              <a:t>GABA-A example: GABA-A is same Cys-loop family as GluCl (Dr. Serbe-Kamp's research). A dataset dominated by benzodiazepines (all sharing 1,4-benzodiazepine core) will train models that recognize scaffolds, not binding mechanisms. On random split: great (benzodiazepines in both sets). On scaffold split: fails for novel chemotypes (neurosteroids, barbiturates, Z-drugs).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155-163 min</a:t>
            </a:r>
          </a:p>
          <a:p/>
          <a:p>
            <a:r>
              <a:t>5 min. Draw Bemis-Murcko framework: strip molecule to ring systems + linkers. If train and test share scaffolds, the model memorizes scaffolds. CITATION: Wu et al. (2018) 'MoleculeNet: A Benchmark for Molecular Machine Learning.' Chemical Science 9:513-530. Made scaffold splitting the standard for evaluation.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163-170 min</a:t>
            </a:r>
          </a:p>
          <a:p/>
          <a:p>
            <a:r>
              <a:t>5 min reference slide. Key point: AUC-ROC can be misleading for imbalanced data (common in drug discovery: many inactives, few actives). PR-AUC is more informative. For regression, report all three metrics.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170-172 min</a:t>
            </a:r>
          </a:p>
          <a:p/>
          <a:p>
            <a:r>
              <a:t>Transition: We've evaluated quantitatively. Can we understand WHY?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172-177 min</a:t>
            </a:r>
          </a:p>
          <a:p/>
          <a:p>
            <a:r>
              <a:t>3 min. CITATION: Jiménez-Luna et al. (2020) 'Drug discovery with explainable artificial intelligence.' Nature Machine Intelligence 2:573-584. The best review for drug discovery interpretability. If a model says a molecule is toxic but can't explain why, the chemist will be skeptical. If it can say 'the nitro group at position 3 drives the toxicity prediction,' the chemist engages.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177-185 min</a:t>
            </a:r>
          </a:p>
          <a:p/>
          <a:p>
            <a:r>
              <a:t>5 min. Shapley value: each feature is a 'player' in a prediction 'game'. CITATION: Lundberg &amp; Lee (2017) 'A Unified Approach to Interpreting Model Predictions.' NeurIPS 30:4765-4774. TreeSHAP (Lundberg et al. 2020, Nature MI 2:56-67) is exact and fast for RF/XGBoost.</a:t>
            </a:r>
          </a:p>
          <a:p/>
          <a:p>
            <a:r>
              <a:t>For molecular fingerprints: if bit 847 is most important and corresponds to a pyridine ring, we learn actual chemistry. RDKit GetMorganFingerprintBitInfo() decodes bits.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185-190 min</a:t>
            </a:r>
          </a:p>
          <a:p/>
          <a:p>
            <a:r>
              <a:t>3 min. A model trained on kinase inhibitors shouldn't predict GPCR ligands. Conformal prediction is gaining popularity for guaranteed coverage.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190-205 min (after Unit 6)</a:t>
            </a:r>
          </a:p>
          <a:p/>
          <a:p>
            <a:r>
              <a:t>Second break of the day. Practical 2 coming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205-210 min (intro) then 210-260 min (practical)</a:t>
            </a:r>
          </a:p>
          <a:p/>
          <a:p>
            <a:r>
              <a:t>2 min overview, then hands-on. THE KEY LEARNING MOMENT: students see their R² drop from ~0.85-0.90 (random) to ~0.70-0.80 (scaffold). That's the real performance. The SHAP analysis is the fun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210-260 min (Units 7-8, ~50 min coding)</a:t>
            </a:r>
          </a:p>
          <a:p/>
          <a:p>
            <a:r>
              <a:t>Walk around. Make sure everyone sees the scaffold split effect. Help with SHAP plots.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260-270 min</a:t>
            </a:r>
          </a:p>
          <a:p/>
          <a:p>
            <a:r>
              <a:t>7-min discussion. The answer is NO — not without more info. Key questions: What split? What balance? Prospective validation? In pharma, models go through extensive validation before 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270-275 min</a:t>
            </a:r>
          </a:p>
          <a:p/>
          <a:p>
            <a:r>
              <a:t>Quick recap. The RF/XGBoost + ECFP + scaffold split + SHAP pipeline is production-ready — used in real pharma companies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275-278 min</a:t>
            </a:r>
          </a:p>
          <a:p/>
          <a:p>
            <a:r>
              <a:t>Quick preview. Day 3 moves from classical ML to deep learning. Encourage students to discuss project approaches with their groups between now and then.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7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F77B4"/>
                </a:solidFill>
                <a:latin typeface="Calibri"/>
              </a:defRPr>
            </a:pPr>
            <a:r>
              <a:t>DAY 2 — 22 April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Molecular ML: From Fingerprints to Predictions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0F0F0"/>
                </a:solidFill>
                <a:latin typeface="Calibri"/>
              </a:defRPr>
            </a:pPr>
            <a:r>
              <a:t>Represent molecules, train models, evaluate properly, and explain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1F77B4"/>
                </a:solidFill>
                <a:latin typeface="Calibri"/>
              </a:defRPr>
            </a:pPr>
            <a:r>
              <a:t>AI for Drug Discovery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Morning Agenda (Units 1-4)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1. SMILES deep dive — syntax rules, practice, limitations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2. Molecular fingerprints — Morgan/ECFP, Tanimoto similarity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3. Feature engineering — descriptors, Lipinski, BBB rules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4. QSAR: Quantitative Structure-Activity Relationships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5. ML baselines: Random Forest &amp; XGBoost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6. PRACTICAL 1: Build a QSAR model for solubility prediction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☕ BREAK after Unit 2 (after ~90 min)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CNS drug focus: blood-brain barrier penetration, neuroscience targets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77B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SMILES: Deep Dive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Weininger (1988), J. Chem. Inf. Comput. Sci. 28:31-36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SMILES Syntax 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Atoms: C, N, O, S, P, F, Cl, Br, I (organic subset, implicit H)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Single bond: implicit (CC = ethane)  |  Double: = (C=O)  |  Triple: # (C#N)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Aromatic: lowercase (c1ccccc1 = benzene)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Branches: parentheses — CC(=O)O = acetic acid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Rings: matching digits — C1CCCCC1 = cyclohexane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Charges: [NH4+], [O-]  |  Stereochemistry: / \ for E/Z, @ @@ for R/S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Canonical SMILES: unique representation (RDKit Chem.MolToSmiles())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Alternatives: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SELFIES — 100% valid strings (Krenn et al. 2020) — great for generative AI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InChI — IUPAC standard  |  DeepSMILES — neural network friendly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SMILES Practice: Can You Read These?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1. NCCc1c[nH]c2ccc(O)cc12  →  ?  (hint: neurotransmitter, mood)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2. NCCc1ccc(O)c(O)c1  →  ?  (hint: reward pathway)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3. NCCCC(=O)O  →  ?  (hint: main inhibitory NT in the brain)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4. CC(=O)Oc1ccccc1C(=O)O  →  ?  (hint: common painkiller)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5. Cn1c(=O)c2c(ncn2C)n(C)c1=O  →  ?  (hint: in your coffee)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Answers: 1) Serotonin  2) Dopamine  3) GABA  4) Aspirin  5) Caffeine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Note: GABA is simpler than serotonin, but both are critical NTs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GABA-A receptor is in the same Cys-loop superfamily as GluCl (ivermectin target)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77B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Molecular Fingerprints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From molecular structure to numerical vectors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Molecular Fingerprints: The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A fingerprint converts a molecule into a fixed-length bit vector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Each bit indicates presence/absence of a substructure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Types: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Structural keys (MACCS, 166 bits) — predefined patterns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Topological (RDKit FP) — paths through molecular graph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Circular (Morgan/ECFP) — local atom environments at radius r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Morgan fingerprints are the most widely used today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Rogers &amp; Hahn (2010), JCIM 50:742-754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ECFP4 = radius 2, 2048 bits = default starting point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In RDKit: AllChem.GetMorganFingerprintAsBitVect(mol, radius=2, nBits=2048)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Morgan / ECFP: How They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Algorithm (for each atom):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1. Start: identifier = atom type + properties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2. Iteration 1: collect identifiers from radius-1 neighbors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3. Hash combined info → new identifier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4. Iteration 2: expand to radius-2, hash again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5. Map all identifiers to fixed-length bit vector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ECFP4 = radius 2  |  ECFP6 = radius 3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Similarity: Tanimoto coefficient = |A∩B| / |A∪B|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Range: 0 (different) to 1 (identical)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Tanimoto &gt; 0.85 → likely similar activity (but exceptions exist!)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In RDKit: DataStructs.TanimotoSimilarity(fp1, fp2)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Feature Engineering &amp; Lipinski's Rule of Five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Physicochemical descriptors: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MW, LogP (lipophilicity), HBD, HBA, TPSA, rotatable bonds, aromatic rings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Lipinski (Pfizer, 1997) — most cited paper in medicinal chemistry: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Orally bioavailable if: MW ≤ 500, LogP ≤ 5, HBD ≤ 5, HBA ≤ 10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For CNS drugs — crossing the blood-brain barrier (Pardridge 2005):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MW &lt; 450, LogP 1-3, HBD &lt; 3, TPSA &lt; 90 Å²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Example: serotonin (MW=176, LogP=0.2) does NOT cross BBB well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→ That's why we give SSRIs (which cross BBB) not serotonin itself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→ L-DOPA crosses BBB, dopamine doesn't → Parkinson's treatment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RDKit: 200+ descriptors  |  Mordred: &gt;1800 descriptors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QSAR: Quantitative Structure-Activity Relationships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Core idea: molecular structure determines biological activity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Activity = f(molecular features)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Hansch (1964) — founded the field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Modern QSAR workflow: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1. Curate dataset from ChEMBL (target + activity data)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2. Generate features (fingerprints + descriptors)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3. Split data (scaffold split, NOT random!)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4. Train model (RF, XGBoost, GNN)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5. Evaluate rigorously (RMSE, R², AUC-ROC)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6. Interpret (SHAP, feature importance)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This is the core pipeline you'll use for your projects!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ML Baselines: Random Forest &amp; XGBoost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F77B4"/>
                </a:solidFill>
                <a:latin typeface="Calibri"/>
              </a:defRPr>
            </a:pPr>
            <a:r>
              <a:t>Random Forest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Ensemble of decision trees (Breiman 2001)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Each tree trained on bootstrap sample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Final prediction = average (regression) or vote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Handles high-dimensional fingerprints well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Resistant to overfitting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Easy to interpret (feature importance)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F77B4"/>
                </a:solidFill>
                <a:latin typeface="Calibri"/>
              </a:defRPr>
            </a:pPr>
            <a:r>
              <a:t>XGBoost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73736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Sequential trees correct errors (Chen &amp; Guestrin 2016)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Often higher accuracy than RF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Built-in regularization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Handles missing values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Dominant in Kaggle competitions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Sheridan (2016, JCIM 56:2353-2360): XGBoost modestly &gt; RF for QSAR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77B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☕ BREAK — 15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Practical 1 starts right after the break!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Practical 1: Build a QSAR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Open: day2_molecular_ml/Day2_Practical_QSAR.ipynb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Dataset: Delaney solubility (1,128 molecules, logS values)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Delaney (2004), J. Chem. Inf. Comput. Sci. 44:1000-1005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Steps: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1. Load dataset, parse SMILES with RDKit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2. Generate Morgan fingerprints (ECFP4, 2048 bits)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3. Calculate physicochemical descriptors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4. 80/20 train/test split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5. Train Random Forest regressor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6. Train XGBoost regressor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7. Compare: RMSE, R-squared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Time: ~50 min including code execution | Work in pairs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77B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🔬 PRACTICAL 1 — Build Your QSAR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50 minutes of coding — train your first molecular ML model!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Afternoon Agenda (Units 5-8)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7. Why standard evaluation fails for molecular data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8. Activity cliffs and scaffold bias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9. Proper validation: scaffold splits, temporal splits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10. Metrics deep dive: RMSE, R², ROC-AUC, precision-recall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11. Explainability with SHAP (Lundberg &amp; Lee 2017)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12. PRACTICAL 2: Re-evaluate your morning model properly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☕ BREAK after Unit 6 (after ~90 min afternoon)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Key message: the EVALUATION is more important than the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3E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7AE60"/>
                </a:solidFill>
                <a:latin typeface="Calibri"/>
              </a:defRPr>
            </a:pPr>
            <a:r>
              <a:t>The Hall of Shame: When Models Lie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9601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Calibri"/>
              </a:defRPr>
            </a:pPr>
            <a:r>
              <a:t>Example 1: hERG toxicity model — 95% accuracy on random split. On novel scaffolds: 60%.</a:t>
            </a:r>
            <a:br/>
            <a:br/>
            <a:r>
              <a:t>Example 2: Published AUC-ROC 0.97. Remove duplicate compounds: 0.72.</a:t>
            </a:r>
            <a:br/>
            <a:br/>
            <a:r>
              <a:t>Example 3: Scaffold split vs random — AUROC dropped from 0.92 to 0.75.</a:t>
            </a:r>
            <a:br/>
            <a:br/>
            <a:r>
              <a:t>Example 4 (Neuroscience): A GABA-A binding model looked great, but it learned to recognize the benzodiazepine scaffold, not actual binding features. On novel chemotypes: near-random.</a:t>
            </a:r>
            <a:br/>
            <a:br/>
            <a:r>
              <a:t>Lesson: ALWAYS validate properly.</a:t>
            </a:r>
            <a:br/>
            <a:br/>
            <a:r>
              <a:t>Ref: Wallach &amp; Heifets (2018) — 'Most Ligand-Based Benchmarks Reward Memorization'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Scaffold Bias and Proper Splitting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Scaffold = core ring structure (Bemis-Murcko framework)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Problem: random split → same scaffold in train AND test → memorization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Solutions: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Scaffold split: no scaffold overlap (Bemis &amp; Murcko 1996)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Temporal split: train on older, test on newer data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Cluster split: cluster molecules, split by cluster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MoleculeNet uses scaffold split as default (Wu et al. 2018)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Activity cliffs: very similar molecules, very different activity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Changing one methyl → chlorine can change IC50 by 1000×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These are the hardest cases for ML!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Evaluation Metrics for Molecular 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F77B4"/>
                </a:solidFill>
                <a:latin typeface="Calibri"/>
              </a:defRPr>
            </a:pPr>
            <a:r>
              <a:t>Regression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RMSE — root mean squared error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  Penalizes large errors more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R² — coefficient of determination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  1.0 = perfect, &lt;0 = worse than mean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MAE — mean absolute error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  More robust to outliers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Report ALL three, not just R²!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F77B4"/>
                </a:solidFill>
                <a:latin typeface="Calibri"/>
              </a:defRPr>
            </a:pPr>
            <a:r>
              <a:t>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73736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AUC-ROC — area under ROC curve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  0.5 = random, 1.0 = perfect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  Insensitive to class balance!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Precision-Recall AUC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  Better for imbalanced data (most drug data)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Balanced accuracy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  Average of sensitivity + specificity</a:t>
            </a: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Report PR-AUC for imbalanced data!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77B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Model Interpretability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Opening the black box — why does the model predict THIS?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Why Explainability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Regulatory: FDA expects understanding of model behavior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Scientific: chemists won't trust a model they can't understand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Safety: unexplained predictions could mask dangerous failures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Discovery: understanding features drives new hypotheses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Jimenez-Luna et al. (2020), Nature Machine Intelligence 2:573-584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Types: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Global: which features are generally important?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Local: why did the model predict THIS for THIS molecule?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EU AI Act: medical AI = high-risk = requires transparency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SHAP: SHapley Additive exPlanations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Lundberg &amp; Lee (2017), NeurIPS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Based on Shapley values from cooperative game theory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For each prediction, assign a contribution to each feature: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Positive SHAP → pushes prediction higher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Negative SHAP → pushes prediction lower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Sum of all SHAP values + baseline = predicted value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Advantages: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Mathematically grounded (unique solution with desirable properties)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Works for any model (model-agnostic)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Local AND global explanations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Beautiful visualizations (beeswarm, waterfall, force plots)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For fingerprints: important bit → decode to substructure → chemistry insight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Applicability Domain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A model is only reliable within its training data distribution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Methods to define AD: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Distance-based: is the new molecule close to training data?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Descriptor range: are features within training bounds?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Conformal prediction: distribution-free prediction intervals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Sahigara et al. (2012), Molecules 17(5):4791-4810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In practice: flag out-of-domain predictions as low confidence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A confident wrong prediction is worse than an honest 'I don't know'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77B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☕ BREAK — 15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Final practical of the day coming up!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Practical 2: Evaluate &amp; Interpret Your QSAR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Open: day2_molecular_ml/Day2_Practical_Evaluation.ipynb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Steps: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1. Load your morning QSAR model (or re-train quickly)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2. Implement scaffold splitting (Bemis-Murcko)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3. Compare: random split vs. scaffold split performance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4. Compute ROC curve, precision-recall curve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5. Calculate SHAP values for your RF model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6. Create SHAP beeswarm plot: which features matter most?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7. Decode important fingerprint bits to substructures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8. Define applicability domain using Tanimoto distance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Time: ~50 min | The 'aha moment': watch performance DROP with scaffold split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77B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🔬 PRACTICAL 2 — Evaluate &amp; Interpret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50 minutes — discover what your model really knows!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3E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F77B4"/>
                </a:solidFill>
                <a:latin typeface="Calibri"/>
              </a:defRPr>
            </a:pPr>
            <a:r>
              <a:t>DISCUSSION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  <a:latin typeface="Calibri"/>
              </a:defRPr>
            </a:pPr>
            <a:r>
              <a:t>A model achieves AUC-ROC 0.95 on the test set.</a:t>
            </a:r>
            <a:br/>
            <a:r>
              <a:t>Would you trust it to guide a $100M drug campaign?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657600"/>
            <a:ext cx="9144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0F0F0"/>
                </a:solidFill>
                <a:latin typeface="Calibri"/>
              </a:defRPr>
            </a:pPr>
            <a:r>
              <a:t>What kind of split was used? Random or scaffold?</a:t>
            </a:r>
          </a:p>
          <a:p>
            <a:pPr>
              <a:spcAft>
                <a:spcPts val="800"/>
              </a:spcAft>
              <a:defRPr sz="1800">
                <a:solidFill>
                  <a:srgbClr val="F0F0F0"/>
                </a:solidFill>
                <a:latin typeface="Calibri"/>
              </a:defRPr>
            </a:pPr>
            <a:r>
              <a:t>How imbalanced is the dataset? (Use PR-AUC instead!)</a:t>
            </a:r>
          </a:p>
          <a:p>
            <a:pPr>
              <a:spcAft>
                <a:spcPts val="800"/>
              </a:spcAft>
              <a:defRPr sz="1800">
                <a:solidFill>
                  <a:srgbClr val="F0F0F0"/>
                </a:solidFill>
                <a:latin typeface="Calibri"/>
              </a:defRPr>
            </a:pPr>
            <a:r>
              <a:t>Has it been validated prospectively on truly new chemical series?</a:t>
            </a:r>
          </a:p>
          <a:p>
            <a:pPr>
              <a:spcAft>
                <a:spcPts val="800"/>
              </a:spcAft>
              <a:defRPr sz="1800">
                <a:solidFill>
                  <a:srgbClr val="F0F0F0"/>
                </a:solidFill>
                <a:latin typeface="Calibri"/>
              </a:defRPr>
            </a:pPr>
            <a:r>
              <a:t>What is the applicability domain?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37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KEY TAKEAWAYS — DAY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144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Calibri"/>
              </a:defRPr>
            </a:pPr>
            <a:r>
              <a:t>Morgan/ECFP fingerprints convert molecules to bit vectors</a:t>
            </a:r>
          </a:p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Calibri"/>
              </a:defRPr>
            </a:pPr>
            <a:r>
              <a:t>QSAR: predicting activity from structure (since 1964!)</a:t>
            </a:r>
          </a:p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Calibri"/>
              </a:defRPr>
            </a:pPr>
            <a:r>
              <a:t>RF and XGBoost: strong, production-ready QSAR baselines</a:t>
            </a:r>
          </a:p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Calibri"/>
              </a:defRPr>
            </a:pPr>
            <a:r>
              <a:t>Scaffold splits prevent data leakage (Wallach &amp; Heifets 2018)</a:t>
            </a:r>
          </a:p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Calibri"/>
              </a:defRPr>
            </a:pPr>
            <a:r>
              <a:t>SHAP: mathematically grounded explanations for any model</a:t>
            </a:r>
          </a:p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Calibri"/>
              </a:defRPr>
            </a:pPr>
            <a:r>
              <a:t>Applicability domain: know your model's limits</a:t>
            </a:r>
          </a:p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Calibri"/>
              </a:defRPr>
            </a:pPr>
            <a:r>
              <a:t>The evaluation is more important than the model!</a:t>
            </a:r>
          </a:p>
          <a:p>
            <a:pPr>
              <a:spcAft>
                <a:spcPts val="800"/>
              </a:spcAft>
              <a:defRPr sz="2200">
                <a:solidFill>
                  <a:srgbClr val="FFFFFF"/>
                </a:solidFill>
                <a:latin typeface="Calibri"/>
              </a:defRPr>
            </a:pPr>
            <a:r>
              <a:t>Next (Day 3, 5 May): Deep learning, GNNs, generative AI, AlphaFold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Coming Up: Day 3 — 5 May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Morning: Deep Learning &amp; Graph Neural Networks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Molecules as graphs → message passing → GNNs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Practical: train a GNN on MoleculeNet data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Afternoon: Generative AI &amp; Protein Targets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Generate new molecules (VAE, diffusion)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AlphaFold for drug targets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Practical: explore generative models or AlphaFold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Preparation: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Review today's SHAP analysis — understand your model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  Start discussing project approach with your group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69696"/>
                </a:solidFill>
                <a:latin typeface="Calibri"/>
              </a:defRPr>
            </a:pPr>
            <a:r>
              <a:t>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