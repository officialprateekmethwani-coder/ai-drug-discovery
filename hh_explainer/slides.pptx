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WHO IS THIS DECK FOR?</a:t>
            </a:r>
          </a:p>
          <a:p>
            <a:r>
              <a:t>This deck is for instructors or students who want to understand the Hodgkin-Huxley model deeply. It assumes basic calculus (what a derivative is) and basic chemistry (ions, concentrations, gradients). No prior neuroscience required.</a:t>
            </a:r>
          </a:p>
          <a:p/>
          <a:p>
            <a:r>
              <a:t>WHAT IS COVERED:</a:t>
            </a:r>
          </a:p>
          <a:p>
            <a:r>
              <a:t>1. Biological context: the neuron as an electrical circuit</a:t>
            </a:r>
          </a:p>
          <a:p>
            <a:r>
              <a:t>2. The 4 HH ODEs — each explained line by line</a:t>
            </a:r>
          </a:p>
          <a:p>
            <a:r>
              <a:t>3. Gating variables m, h, n — physical meaning and kinetics</a:t>
            </a:r>
          </a:p>
          <a:p>
            <a:r>
              <a:t>4. How voltage-clamp experiments led to the model</a:t>
            </a:r>
          </a:p>
          <a:p>
            <a:r>
              <a:t>5. Channel extensions: A-current (Kv4), Cav (Ca2+ channels), Ih (HCN), persistent Nav</a:t>
            </a:r>
          </a:p>
          <a:p>
            <a:r>
              <a:t>6. Synaptic conductances: AMPA, NMDA, GABA-A</a:t>
            </a:r>
          </a:p>
          <a:p>
            <a:r>
              <a:t>7. Multicompartment models and cable theory</a:t>
            </a:r>
          </a:p>
          <a:p>
            <a:r>
              <a:t>8. Drug targets at every level</a:t>
            </a:r>
          </a:p>
          <a:p>
            <a:r>
              <a:t>9. Python code snippets (numpy / scipy ODE solver)</a:t>
            </a:r>
          </a:p>
          <a:p>
            <a:r>
              <a:t>10. Connection to QSAR: why HH helps interpret predictions</a:t>
            </a:r>
          </a:p>
          <a:p/>
          <a:p>
            <a:r>
              <a:t>HOW TO USE:</a:t>
            </a:r>
          </a:p>
          <a:p>
            <a:r>
              <a:t>Work through this deck alongside the Day 2 physiology intro. The presenter notes contain the full explanation of every concept. The slides show the key equations and terms.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MEMBRANE CAPACITOR:</a:t>
            </a:r>
          </a:p>
          <a:p>
            <a:r>
              <a:t>A capacitor stores charge by separating two conductors with an insulator. The cell membrane is exactly this: conducting cytoplasm | insulating lipid bilayer (5 nm) | conducting extracellular fluid. Membrane capacitance = 1 µF/cm². This is a universal constant — all biological membranes have ~1 µF/cm² regardless of cell type or species.</a:t>
            </a:r>
          </a:p>
          <a:p/>
          <a:p>
            <a:r>
              <a:t>What does Cm = 1 µF/cm² mean physically? Q = Cm × V. If V changes by 100 mV (as in an action potential), the charge that moved is: ΔQ = 1 µF/cm² × 0.1 V = 0.1 µC/cm² = 1e-7 C/cm². Since one Na+ ion carries 1.6e-19 C, this is 0.1e-6 / 1.6e-19 = 6.25e11 ions/cm² = ~625,000 ions/µm². Sounds like a lot, but the bulk Na+ concentration barely changes (the gradient is maintained).</a:t>
            </a:r>
          </a:p>
          <a:p/>
          <a:p>
            <a:r>
              <a:t>THE ION CHANNEL CONDUCTANCES:</a:t>
            </a:r>
          </a:p>
          <a:p>
            <a:r>
              <a:t>Conductance g (unit: Siemens = A/V = 1/Ohm). Current through a channel type: I = g × (V - E_reversal). E_reversal is the reversal potential (the voltage where no net current flows despite the channel being open). For Na+: E_Na ≈ +55 mV. For K+: E_K ≈ -90 mV. If V = -70 mV and Na+ channels open: driving force = V - E_Na = -70 - 55 = -125 mV. Current = g_Na × (-125 mV) = large inward current.</a:t>
            </a:r>
          </a:p>
          <a:p/>
          <a:p>
            <a:r>
              <a:t>THE NERNST POTENTIAL (battery voltage):</a:t>
            </a:r>
          </a:p>
          <a:p>
            <a:r>
              <a:t>E_ion = (RT/zF) × ln([ion]_out / [ion]_in)</a:t>
            </a:r>
          </a:p>
          <a:p>
            <a:r>
              <a:t>At 37°C: RT/F = 26.7 mV</a:t>
            </a:r>
          </a:p>
          <a:p>
            <a:r>
              <a:t>E_Na = 26.7 × ln(145/12) = 26.7 × 2.5 = +66 mV (approximated as +55 mV in HH)</a:t>
            </a:r>
          </a:p>
          <a:p>
            <a:r>
              <a:t>E_K = 26.7 × ln(4/155) = 26.7 × (-3.65) = -97 mV (approximated as -77 mV in HH)</a:t>
            </a:r>
          </a:p>
          <a:p>
            <a:r>
              <a:t>E_L = -54.4 mV (empirical, includes all non-Nav/Kv channels)</a:t>
            </a:r>
          </a:p>
          <a:p/>
          <a:p>
            <a:r>
              <a:t>KIRCHHOFF'S CURRENT LAW:</a:t>
            </a:r>
          </a:p>
          <a:p>
            <a:r>
              <a:t>The sum of all currents at a node = 0. Currents flowing into the membrane patch:</a:t>
            </a:r>
          </a:p>
          <a:p>
            <a:r>
              <a:t>- Injected current I_ext (from electrode or previous compartment)</a:t>
            </a:r>
          </a:p>
          <a:p>
            <a:r>
              <a:t>- Capacitive current I_cap = Cm × dV/dt (charges/discharges the capacitor)</a:t>
            </a:r>
          </a:p>
          <a:p>
            <a:r>
              <a:t>- Ionic currents (Na+, K+, leak, etc.)</a:t>
            </a:r>
          </a:p>
          <a:p>
            <a:r>
              <a:t>Setting sum = 0: Cm × dV/dt + I_Na + I_K + I_L = I_ext</a:t>
            </a:r>
          </a:p>
          <a:p>
            <a:r>
              <a:t>→ Cm × dV/dt = I_ext - I_Na - I_K - I_L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EQUATION 1 — MEMBRANE VOLTAGE:</a:t>
            </a:r>
          </a:p>
          <a:p>
            <a:r>
              <a:t>Cm × dV/dt = I_ext - g_Na×m³h×(V-E_Na) - g_K×n⁴×(V-E_K) - g_L×(V-E_L)</a:t>
            </a:r>
          </a:p>
          <a:p/>
          <a:p>
            <a:r>
              <a:t>Breaking it down:</a:t>
            </a:r>
          </a:p>
          <a:p>
            <a:r>
              <a:t>- Cm × dV/dt: rate of change of voltage × capacitance = the capacitive current. This is how fast the membrane is charging up or discharging.</a:t>
            </a:r>
          </a:p>
          <a:p>
            <a:r>
              <a:t>- I_ext: injected current (from an electrode, or from a neighboring compartment in a cable model). This is the "input" that drives the neuron.</a:t>
            </a:r>
          </a:p>
          <a:p>
            <a:r>
              <a:t>- g_Na×m³h: the instantaneous Na+ conductance. m³ means THREE activation gates must be open. h is the inactivation gate (must also be open = not inactivated). g_Na = 120 mS/cm² is the maximum possible Na+ conductance (when all channels are open).</a:t>
            </a:r>
          </a:p>
          <a:p>
            <a:r>
              <a:t>- g_K×n⁴: instantaneous K+ conductance. FOUR activation gates (n⁴). g_K = 36 mS/cm².</a:t>
            </a:r>
          </a:p>
          <a:p>
            <a:r>
              <a:t>- g_L = 0.3 mS/cm² is the leak conductance (constant — it doesn't change with voltage).</a:t>
            </a:r>
          </a:p>
          <a:p/>
          <a:p>
            <a:r>
              <a:t>Why m³ and n⁴?</a:t>
            </a:r>
          </a:p>
          <a:p>
            <a:r>
              <a:t>Hodgkin &amp; Huxley fit the kinetics empirically. The Na+ activation data fitted best with a third-order process (three independent gates). We now know why: the Nav channel has 4 domains, each with a voltage sensor (S4 helix), but not all 4 need to move simultaneously. The effective kinetics appear as m³. The K+ channel (Kv) has 4 identical subunits, each contributing one gate → n⁴.</a:t>
            </a:r>
          </a:p>
          <a:p/>
          <a:p>
            <a:r>
              <a:t>EQUATION 2 — Na+ ACTIVATION GATE (m):</a:t>
            </a:r>
          </a:p>
          <a:p>
            <a:r>
              <a:t>dm/dt = αm(V)×(1-m) - βm(V)×m</a:t>
            </a:r>
          </a:p>
          <a:p/>
          <a:p>
            <a:r>
              <a:t>Physical meaning:</a:t>
            </a:r>
          </a:p>
          <a:p>
            <a:r>
              <a:t>- m = fraction of activation gates that are in the OPEN state (ranges 0 to 1)</a:t>
            </a:r>
          </a:p>
          <a:p>
            <a:r>
              <a:t>- (1-m) = fraction that are CLOSED</a:t>
            </a:r>
          </a:p>
          <a:p>
            <a:r>
              <a:t>- αm(V) = rate constant for OPENING (per ms), depends on voltage</a:t>
            </a:r>
          </a:p>
          <a:p>
            <a:r>
              <a:t>- βm(V) = rate constant for CLOSING (per ms), depends on voltage</a:t>
            </a:r>
          </a:p>
          <a:p>
            <a:r>
              <a:t>- dm/dt = (rate of opening × currently closed) - (rate of closing × currently open)</a:t>
            </a:r>
          </a:p>
          <a:p/>
          <a:p>
            <a:r>
              <a:t>At steady state (dm/dt = 0):</a:t>
            </a:r>
          </a:p>
          <a:p>
            <a:r>
              <a:t>m∞(V) = αm / (αm + βm)   [steady-state open probability]</a:t>
            </a:r>
          </a:p>
          <a:p>
            <a:r>
              <a:t>τm(V) = 1 / (αm + βm)     [time constant of equilibration]</a:t>
            </a:r>
          </a:p>
          <a:p/>
          <a:p>
            <a:r>
              <a:t>Empirical functions (Hodgkin &amp; Huxley 1952, adjusted for V shifted by -65 mV):</a:t>
            </a:r>
          </a:p>
          <a:p>
            <a:r>
              <a:t>αm(V) = 0.1 × (V+40) / (1 - exp(-(V+40)/10))  [if V ≠ -40 mV]</a:t>
            </a:r>
          </a:p>
          <a:p>
            <a:r>
              <a:t>βm(V) = 4 × exp(-(V+65)/18)</a:t>
            </a:r>
          </a:p>
          <a:p>
            <a:r>
              <a:t>At -65 mV: m∞ ≈ 0.05 (5% of channels activated), τm ≈ 0.4 ms</a:t>
            </a:r>
          </a:p>
          <a:p>
            <a:r>
              <a:t>At +20 mV: m∞ ≈ 0.99 (99% activated), τm ≈ 0.1 ms  ← very fast!</a:t>
            </a:r>
          </a:p>
          <a:p/>
          <a:p>
            <a:r>
              <a:t>EQUATION 3 — Na+ INACTIVATION GATE (h):</a:t>
            </a:r>
          </a:p>
          <a:p>
            <a:r>
              <a:t>Same structure, BUT:</a:t>
            </a:r>
          </a:p>
          <a:p>
            <a:r>
              <a:t>- h = fraction of inactivation gates in the NON-INACTIVATED (= permissive) state</a:t>
            </a:r>
          </a:p>
          <a:p>
            <a:r>
              <a:t>- h DECREASES when the cell is depolarized (inactivation gates CLOSE at depolarized voltages)</a:t>
            </a:r>
          </a:p>
          <a:p>
            <a:r>
              <a:t>- At rest (-65 mV): h∞ ≈ 0.60 (most channels not inactivated)</a:t>
            </a:r>
          </a:p>
          <a:p>
            <a:r>
              <a:t>- At +20 mV: h∞ ≈ 0.02 (almost all inactivated)  ← slow process, τh ≈ 8 ms</a:t>
            </a:r>
          </a:p>
          <a:p>
            <a:r>
              <a:t>The refractory period: after the spike, h is near 0 (inactivated). Even though m wants to be near 1, h × m³ ≈ 0 → no Na+ current → neuron cannot fire again until h recovers.</a:t>
            </a:r>
          </a:p>
          <a:p/>
          <a:p>
            <a:r>
              <a:t>αh(V) = 0.07 × exp(-(V+65)/20)</a:t>
            </a:r>
          </a:p>
          <a:p>
            <a:r>
              <a:t>βh(V) = 1 / (exp(-(V+35)/10) + 1)</a:t>
            </a:r>
          </a:p>
          <a:p/>
          <a:p>
            <a:r>
              <a:t>EQUATION 4 — K+ ACTIVATION GATE (n):</a:t>
            </a:r>
          </a:p>
          <a:p>
            <a:r>
              <a:t>Same structure as m, but:</a:t>
            </a:r>
          </a:p>
          <a:p>
            <a:r>
              <a:t>- n opens more slowly than m (τn ≈ 1-5 ms vs τm ≈ 0.1-0.5 ms)</a:t>
            </a:r>
          </a:p>
          <a:p>
            <a:r>
              <a:t>- n⁴ means ALL FOUR gates must be open for K+ current</a:t>
            </a:r>
          </a:p>
          <a:p>
            <a:r>
              <a:t>- n∞(V): sigmoidal, half-activated at about -15 mV</a:t>
            </a:r>
          </a:p>
          <a:p>
            <a:r>
              <a:t>- At rest: n∞ ≈ 0.32 → n⁴ ≈ 0.01 (very little K+ current at rest)</a:t>
            </a:r>
          </a:p>
          <a:p>
            <a:r>
              <a:t>- After spike peak (+40 mV): n∞ ≈ 0.75 → n⁴ ≈ 0.32 (repolarizing K+ current)</a:t>
            </a:r>
          </a:p>
          <a:p/>
          <a:p>
            <a:r>
              <a:t>αn(V) = 0.01 × (V+55) / (1 - exp(-(V+55)/10))</a:t>
            </a:r>
          </a:p>
          <a:p>
            <a:r>
              <a:t>βn(V) = 0.125 × exp(-(V+65)/80)</a:t>
            </a:r>
          </a:p>
          <a:p/>
          <a:p>
            <a:r>
              <a:t>COUPLING: All 4 equations are coupled. V drives m, h, n. m, h, n determine the conductances that drive V. This is a nonlinear dynamical system — its behavior (single spikes, burst firing, oscillations) depends on the parameters.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PHYSICAL INTERPRETATION OF m, h, n:</a:t>
            </a:r>
          </a:p>
          <a:p/>
          <a:p>
            <a:r>
              <a:t>These are not just mathematical variables — they have direct physical meaning as probabilities of conformational states of individual protein gates.</a:t>
            </a:r>
          </a:p>
          <a:p/>
          <a:p>
            <a:r>
              <a:t>THE m GATE (Na+ activation):</a:t>
            </a:r>
          </a:p>
          <a:p>
            <a:r>
              <a:t>Real structure: each Nav channel has 4 voltage-sensing domains (I-IV). Each has a positively-charged S4 helix that moves outward when the membrane depolarizes (positive charges move toward the outside = toward the positive side). When ~3 of the 4 S4 helices have moved, the channel activation gate opens (there is actually a physical gate — the S6 helices form the bottom of the pore, they move apart to open).</a:t>
            </a:r>
          </a:p>
          <a:p/>
          <a:p>
            <a:r>
              <a:t>m³ in HH: three independent gates each with probability m. For the channel to be open, all three must be open → probability m×m×m = m³.</a:t>
            </a:r>
          </a:p>
          <a:p/>
          <a:p>
            <a:r>
              <a:t>In reality there are 4 subunits in Nav (each contributing a voltage sensor), but the S4 of domain IV is slower and couples to the inactivation gate, so the effective kinetics is m³ not m⁴. (More modern models use m³ or sometimes different formulations.)</a:t>
            </a:r>
          </a:p>
          <a:p/>
          <a:p>
            <a:r>
              <a:t>THE h GATE (Na+ inactivation):</a:t>
            </a:r>
          </a:p>
          <a:p>
            <a:r>
              <a:t>Physical structure: a cytoplasmic loop (the "ball-and-chain" or "hinged lid") that physically blocks the open pore from the inside. At rest (-70 mV), the ball is floating freely and the pore is open to current (assuming m is also open). After depolarization (during the spike), the ball moves into the pore and plugs it — fast inactivation (the "ball" mechanism).</a:t>
            </a:r>
          </a:p>
          <a:p/>
          <a:p>
            <a:r>
              <a:t>Slower inactivation (C-type, P/C) involves the outer mouth of the pore collapsing.</a:t>
            </a:r>
          </a:p>
          <a:p/>
          <a:p>
            <a:r>
              <a:t>h = 1 means the inactivation gate is NOT blocking the pore (permissive). h = 0 means the pore is blocked (inactivated). So h = 1 at rest → h = 0 during sustained depolarization.</a:t>
            </a:r>
          </a:p>
          <a:p/>
          <a:p>
            <a:r>
              <a:t>REFRACTORY PERIOD MECHANISM (important!):</a:t>
            </a:r>
          </a:p>
          <a:p>
            <a:r>
              <a:t>During the rising phase: m shoots to ~1 (fast), h is still ~0.6 (slow to change)</a:t>
            </a:r>
          </a:p>
          <a:p>
            <a:r>
              <a:t>At the peak: m starts to decrease (Na+ channels inactivate — now h falls rapidly)</a:t>
            </a:r>
          </a:p>
          <a:p>
            <a:r>
              <a:t>During falling phase: K+ n⁴ is large (K+ flows out), m is falling, h is near 0</a:t>
            </a:r>
          </a:p>
          <a:p>
            <a:r>
              <a:t>After repolarization: h slowly recovers (τh at -70 mV ≈ 5-10 ms)</a:t>
            </a:r>
          </a:p>
          <a:p>
            <a:r>
              <a:t>During recovery: the cell cannot fire (absolute refractory) or needs larger stimulus (relative refractory)</a:t>
            </a:r>
          </a:p>
          <a:p/>
          <a:p>
            <a:r>
              <a:t>This refractory period limits maximum firing rate to ~100-500 Hz in most neurons.</a:t>
            </a:r>
          </a:p>
          <a:p/>
          <a:p>
            <a:r>
              <a:t>THE n GATE (K+ activation):</a:t>
            </a:r>
          </a:p>
          <a:p>
            <a:r>
              <a:t>Kv channels (voltage-gated K+) have 4 identical subunits, each with a voltage sensor (S4 helix). n represents the probability that ONE subunit's voltage sensor is in the activated (open) conformation. All 4 must be activated → n⁴.</a:t>
            </a:r>
          </a:p>
          <a:p/>
          <a:p>
            <a:r>
              <a:t>n opens more slowly than m: at the same voltage step, n lags behind m by ~1-2 ms. This delay means K+ current (n⁴) rises while the Na+ current (m³h) is already declining. The K+ current then repolarizes the membrane.</a:t>
            </a:r>
          </a:p>
          <a:p/>
          <a:p>
            <a:r>
              <a:t>DRUG TARGETING OF GATING:</a:t>
            </a:r>
          </a:p>
          <a:p>
            <a:r>
              <a:t>Local anesthetics (lidocaine, bupivacaine): bind inside the Nav pore when the channel is OPEN or INACTIVATED. They preferentially bind the inactivated state → stabilise h=0 → slower recovery from inactivation → use-dependent block (more block at higher firing rates). This is why they preferentially block rapidly-firing pain neurons.</a:t>
            </a:r>
          </a:p>
          <a:p>
            <a:r>
              <a:t>TEA (tetraethylammonium): blocks Kv channels (blocks n⁴ channels). Used in research to isolate Na+ currents by blocking K+ currents. Not used clinically (too non-selective).</a:t>
            </a:r>
          </a:p>
          <a:p>
            <a:r>
              <a:t>4-AP (4-aminopyridine): also Kv blocker. Clinically approved for multiple sclerosis (Ampyra) — improves walking by increasing AP duration in demyelinated axons.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HH SIMULATION WALKTHROUGH — NUMERICAL EXAMPLE:</a:t>
            </a:r>
          </a:p>
          <a:p/>
          <a:p>
            <a:r>
              <a:t>This slide traces a single action potential through the HH equations numerically. Knowing the sequence helps you debug a simulation and understand drug effects.</a:t>
            </a:r>
          </a:p>
          <a:p/>
          <a:p>
            <a:r>
              <a:t>RESTING STATE (t=0):</a:t>
            </a:r>
          </a:p>
          <a:p>
            <a:r>
              <a:t>V = -65 mV (HH original uses this; some textbooks use -70 mV — just a shift convention)</a:t>
            </a:r>
          </a:p>
          <a:p>
            <a:r>
              <a:t>m = m∞(-65) ≈ 0.05: only 5% of Na+ activation gates open</a:t>
            </a:r>
          </a:p>
          <a:p>
            <a:r>
              <a:t>h = h∞(-65) ≈ 0.60: 60% of Na+ channels not inactivated</a:t>
            </a:r>
          </a:p>
          <a:p>
            <a:r>
              <a:t>n = n∞(-65) ≈ 0.32: 32% of K+ gates open</a:t>
            </a:r>
          </a:p>
          <a:p/>
          <a:p>
            <a:r>
              <a:t>Na+ conductance: g_Na × m³h = 120 × (0.05)³ × 0.60 = 120 × 0.000125 × 0.60 = 0.009 mS/cm²</a:t>
            </a:r>
          </a:p>
          <a:p>
            <a:r>
              <a:t>K+ conductance: g_K × n⁴ = 36 × (0.32)⁴ = 36 × 0.0105 = 0.38 mS/cm²</a:t>
            </a:r>
          </a:p>
          <a:p>
            <a:r>
              <a:t>Leak: g_L = 0.3 mS/cm² (constant)</a:t>
            </a:r>
          </a:p>
          <a:p/>
          <a:p>
            <a:r>
              <a:t>At rest: total current = 0 (V is at a fixed point of the dynamical system). The numbers above are the steady-state solution.</a:t>
            </a:r>
          </a:p>
          <a:p/>
          <a:p>
            <a:r>
              <a:t>THE THRESHOLD (t ≈ 0.1 ms):</a:t>
            </a:r>
          </a:p>
          <a:p>
            <a:r>
              <a:t>When V reaches about -55 mV (the threshold), m∞(-55) ≈ 0.20. The m gate begins opening rapidly (τm ≈ 0.3 ms). If the driving current is large enough to bring V to -55 mV faster than m can open, threshold is crossed.</a:t>
            </a:r>
          </a:p>
          <a:p/>
          <a:p>
            <a:r>
              <a:t>Positive feedback loop (regenerative): V rises → m opens → more Na+ in → V rises more → m opens more... This is the all-or-nothing principle. Once past threshold, the spike fires to completion regardless.</a:t>
            </a:r>
          </a:p>
          <a:p/>
          <a:p>
            <a:r>
              <a:t>THE SPIKE PEAK (t ≈ 0.5-0.8 ms):</a:t>
            </a:r>
          </a:p>
          <a:p>
            <a:r>
              <a:t>V ≈ +30 to +40 mV (close to E_Na = +55 mV but not reaching it because inactivation and K+ current start kicking in)</a:t>
            </a:r>
          </a:p>
          <a:p>
            <a:r>
              <a:t>m ≈ 0.90 (almost fully activated)</a:t>
            </a:r>
          </a:p>
          <a:p>
            <a:r>
              <a:t>h ≈ 0.45 (starting to fall — slow τh at these voltages ≈ 5 ms)</a:t>
            </a:r>
          </a:p>
          <a:p>
            <a:r>
              <a:t>n ≈ 0.50 (rising — τn at +30 mV ≈ 1-2 ms)</a:t>
            </a:r>
          </a:p>
          <a:p/>
          <a:p>
            <a:r>
              <a:t>Na+ current: 120 × (0.90)³ × 0.45 = 120 × 0.73 × 0.45 = 39 mS/cm² × (V-E_Na) = 39 × (30-55) = -975 µA/cm² (huge inward current)</a:t>
            </a:r>
          </a:p>
          <a:p/>
          <a:p>
            <a:r>
              <a:t>THE FALL (t ≈ 1-2 ms):</a:t>
            </a:r>
          </a:p>
          <a:p>
            <a:r>
              <a:t>h → 0.05 (most channels inactivated)</a:t>
            </a:r>
          </a:p>
          <a:p>
            <a:r>
              <a:t>n → 0.70 (K+ gates open)</a:t>
            </a:r>
          </a:p>
          <a:p>
            <a:r>
              <a:t>Na+ current: 120 × (0.90)³ × 0.05 = ~4 mS/cm² (now much smaller — inactivation dominated)</a:t>
            </a:r>
          </a:p>
          <a:p>
            <a:r>
              <a:t>K+ current: 36 × (0.70)⁴ = 36 × 0.24 = 8.6 mS/cm² × (V-E_K) with V now at 0: = 8.6 × (0-(-77)) = 663 µA/cm² (large outward = repolarizing)</a:t>
            </a:r>
          </a:p>
          <a:p/>
          <a:p>
            <a:r>
              <a:t>THE UNDERSHOOT / AHP (t ≈ 2-3 ms):</a:t>
            </a:r>
          </a:p>
          <a:p>
            <a:r>
              <a:t>V dips to -80 mV (below rest). Why? n is still elevated (τn at -65 mV ≈ 5 ms). Extra K+ conductance hyperpolarises toward E_K (-77 mV). This is the absolute refractory period (h still near 0 AND V below rest — both prevent a new spike).</a:t>
            </a:r>
          </a:p>
          <a:p/>
          <a:p>
            <a:r>
              <a:t>RECOVERY (t &gt; 5 ms):</a:t>
            </a:r>
          </a:p>
          <a:p>
            <a:r>
              <a:t>h recovers at -80 mV (τh ≈ 5-10 ms at these voltages)</a:t>
            </a:r>
          </a:p>
          <a:p>
            <a:r>
              <a:t>n closes (τn ≈ 5 ms at rest)</a:t>
            </a:r>
          </a:p>
          <a:p>
            <a:r>
              <a:t>V returns to -65 mV</a:t>
            </a:r>
          </a:p>
          <a:p>
            <a:r>
              <a:t>After ~10 ms: cell can fire again (relative refractory → absolute refractory → recovered)</a:t>
            </a:r>
          </a:p>
          <a:p/>
          <a:p>
            <a:r>
              <a:t>PYTHON CODE (scipy ODE solver):</a:t>
            </a:r>
          </a:p>
          <a:p>
            <a:r>
              <a:t>from scipy.integrate import odeint</a:t>
            </a:r>
          </a:p>
          <a:p>
            <a:r>
              <a:t>import numpy as np</a:t>
            </a:r>
          </a:p>
          <a:p/>
          <a:p>
            <a:r>
              <a:t>def hh_odes(y, t, I_ext=0):</a:t>
            </a:r>
          </a:p>
          <a:p>
            <a:r>
              <a:t>    V, m, h, n = y</a:t>
            </a:r>
          </a:p>
          <a:p>
            <a:r>
              <a:t>    # rate functions</a:t>
            </a:r>
          </a:p>
          <a:p>
            <a:r>
              <a:t>    am = 0.1*(V+40)/(1-np.exp(-(V+40)/10)) if abs(V+40)&gt;1e-7 else 1.0</a:t>
            </a:r>
          </a:p>
          <a:p>
            <a:r>
              <a:t>    bm = 4*np.exp(-(V+65)/18)</a:t>
            </a:r>
          </a:p>
          <a:p>
            <a:r>
              <a:t>    ah = 0.07*np.exp(-(V+65)/20)</a:t>
            </a:r>
          </a:p>
          <a:p>
            <a:r>
              <a:t>    bh = 1/(np.exp(-(V+35)/10)+1)</a:t>
            </a:r>
          </a:p>
          <a:p>
            <a:r>
              <a:t>    an = 0.01*(V+55)/(1-np.exp(-(V+55)/10)) if abs(V+55)&gt;1e-7 else 0.1</a:t>
            </a:r>
          </a:p>
          <a:p>
            <a:r>
              <a:t>    bn = 0.125*np.exp(-(V+65)/80)</a:t>
            </a:r>
          </a:p>
          <a:p>
            <a:r>
              <a:t>    # conductances</a:t>
            </a:r>
          </a:p>
          <a:p>
            <a:r>
              <a:t>    gNa, gK, gL = 120, 36, 0.3</a:t>
            </a:r>
          </a:p>
          <a:p>
            <a:r>
              <a:t>    ENa, EK, EL = 55, -77, -54.4</a:t>
            </a:r>
          </a:p>
          <a:p>
            <a:r>
              <a:t>    Cm = 1.0</a:t>
            </a:r>
          </a:p>
          <a:p>
            <a:r>
              <a:t>    # currents</a:t>
            </a:r>
          </a:p>
          <a:p>
            <a:r>
              <a:t>    INa = gNa * m**3 * h * (V - ENa)</a:t>
            </a:r>
          </a:p>
          <a:p>
            <a:r>
              <a:t>    IK  = gK  * n**4     * (V - EK)</a:t>
            </a:r>
          </a:p>
          <a:p>
            <a:r>
              <a:t>    IL  = gL             * (V - EL)</a:t>
            </a:r>
          </a:p>
          <a:p>
            <a:r>
              <a:t>    # ODEs</a:t>
            </a:r>
          </a:p>
          <a:p>
            <a:r>
              <a:t>    dV = (I_ext - INa - IK - IL) / Cm</a:t>
            </a:r>
          </a:p>
          <a:p>
            <a:r>
              <a:t>    dm = am*(1-m) - bm*m</a:t>
            </a:r>
          </a:p>
          <a:p>
            <a:r>
              <a:t>    dh = ah*(1-h) - bh*h</a:t>
            </a:r>
          </a:p>
          <a:p>
            <a:r>
              <a:t>    dn = an*(1-n) - bn*n</a:t>
            </a:r>
          </a:p>
          <a:p>
            <a:r>
              <a:t>    return [dV, dm, dh, dn]</a:t>
            </a:r>
          </a:p>
          <a:p/>
          <a:p>
            <a:r>
              <a:t>t = np.arange(0, 50, 0.01)   # 50 ms, 0.01 ms steps</a:t>
            </a:r>
          </a:p>
          <a:p>
            <a:r>
              <a:t>y0 = [-65, 0.05, 0.60, 0.32] # initial conditions</a:t>
            </a:r>
          </a:p>
          <a:p>
            <a:r>
              <a:t>sol = odeint(hh_odes, y0, t, args=(10,))  # I_ext=10 µA/cm²</a:t>
            </a:r>
          </a:p>
          <a:p>
            <a:r>
              <a:t>V = sol[:, 0]  # membrane voltage trace</a:t>
            </a:r>
          </a:p>
          <a:p>
            <a:r>
              <a:t>This is essentially what the Day 1 notebook implements.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A-CURRENT — WHAT IT IS AND WHY IT MATTERS:</a:t>
            </a:r>
          </a:p>
          <a:p/>
          <a:p>
            <a:r>
              <a:t>The A-current was first described by Connor &amp; Stevens (1971) in molluscan neurons. It is a TRANSIENT outward K+ current — it turns on quickly when the membrane depolarizes, then inactivates within 10-100 ms, even if the membrane stays depolarized.</a:t>
            </a:r>
          </a:p>
          <a:p/>
          <a:p>
            <a:r>
              <a:t>GATING VARIABLES (similar to m/h in HH):</a:t>
            </a:r>
          </a:p>
          <a:p>
            <a:r>
              <a:t>a (activation): fast, voltage-dependent. Half-activated at ~-45 mV. τa ~ 1-5 ms.</a:t>
            </a:r>
          </a:p>
          <a:p>
            <a:r>
              <a:t>b (inactivation): fast. Half-inactivated at ~-80 mV. τb ~ 10-100 ms.</a:t>
            </a:r>
          </a:p>
          <a:p>
            <a:r>
              <a:t>At rest (-70 mV): b is near 1 (not inactivated). a is near 0 (not activated).</a:t>
            </a:r>
          </a:p>
          <a:p/>
          <a:p>
            <a:r>
              <a:t>THE CRITICAL FEATURE:</a:t>
            </a:r>
          </a:p>
          <a:p>
            <a:r>
              <a:t>After hyperpolarization (e.g., during the AHP at -80 mV):</a:t>
            </a:r>
          </a:p>
          <a:p>
            <a:r>
              <a:t>- b recovers fully (b → 1)</a:t>
            </a:r>
          </a:p>
          <a:p>
            <a:r>
              <a:t>- When the neuron is subsequently depolarized, a activates quickly at low voltages</a:t>
            </a:r>
          </a:p>
          <a:p>
            <a:r>
              <a:t>- This creates a transient outward K+ current that slows the rate of depolarization</a:t>
            </a:r>
          </a:p>
          <a:p>
            <a:r>
              <a:t>- The neuron takes longer to reach threshold → delayed first spike</a:t>
            </a:r>
          </a:p>
          <a:p/>
          <a:p>
            <a:r>
              <a:t>This mechanism controls how often a neuron fires. In neurons where I_A is strong, repeated stimuli generate spikes at a slow, regular rate. In neurons where I_A is weak, they burst fire (rapid succession of spikes).</a:t>
            </a:r>
          </a:p>
          <a:p/>
          <a:p>
            <a:r>
              <a:t>CABLE THEORY NOTE:</a:t>
            </a:r>
          </a:p>
          <a:p>
            <a:r>
              <a:t>I_A is particularly important in dendrites (the input branches of neurons). Kv4 channels are densely expressed in hippocampal and cortical pyramidal cell dendrites. They regulate how much of a synaptic input reaches the cell body (somatic depolarization). Drugs that block Kv4 in dendrites → larger EPSPs → more excitable neurons.</a:t>
            </a:r>
          </a:p>
          <a:p/>
          <a:p>
            <a:r>
              <a:t>CLINICAL RELEVANCE:</a:t>
            </a:r>
          </a:p>
          <a:p>
            <a:r>
              <a:t>Fampridine (4-aminopyridine, Ampyra): FDA-approved for multiple sclerosis. MS causes demyelination (loss of myelin sheath). Demyelinated axons conduct action potentials poorly — the AP amplitude decays as it travels. By blocking K+ channels (including A-type), fampridine prolongs the AP → more Na+ enters → AP is larger and travels further. Clinically: improves walking speed in ~35% of MS patients.</a:t>
            </a:r>
          </a:p>
          <a:p/>
          <a:p>
            <a:r>
              <a:t>DRUG DESIGN CHALLENGE:</a:t>
            </a:r>
          </a:p>
          <a:p>
            <a:r>
              <a:t>4-AP also blocks hERG (Kv11.1, cardiac K+ channel). hERG block → cardiac arrhythmia. For fampridine, the dose is low enough that cardiac risk is manageable. But designing SELECTIVE Kv4 blockers that don't touch hERG is a major medicinal chemistry challenge (and a potential QSAR project!).</a:t>
            </a:r>
          </a:p>
          <a:p/>
          <a:p>
            <a:r>
              <a:t>HH EXTENSION CODE:</a:t>
            </a:r>
          </a:p>
          <a:p>
            <a:r>
              <a:t># Add I_A to the HH model</a:t>
            </a:r>
          </a:p>
          <a:p>
            <a:r>
              <a:t>def ia_current(V, a, b, gA=20, EK=-77):</a:t>
            </a:r>
          </a:p>
          <a:p>
            <a:r>
              <a:t>    return gA * a**3 * b * (V - EK)</a:t>
            </a:r>
          </a:p>
          <a:p/>
          <a:p>
            <a:r>
              <a:t>def a_inf(V): return 1/(1+np.exp(-(V+50)/20))</a:t>
            </a:r>
          </a:p>
          <a:p>
            <a:r>
              <a:t>def tau_a(V): return 0.5 + 2/(1+np.exp((V+50)/15))</a:t>
            </a:r>
          </a:p>
          <a:p>
            <a:r>
              <a:t>def b_inf(V): return 1/(1+np.exp((V+80)/6))</a:t>
            </a:r>
          </a:p>
          <a:p>
            <a:r>
              <a:t>def tau_b(V): return 10 + 80/(1+np.exp(-(V+70)/10))</a:t>
            </a:r>
          </a:p>
          <a:p/>
          <a:p>
            <a:r>
              <a:t># Add da/dt and db/dt to the ODE system</a:t>
            </a:r>
          </a:p>
          <a:p>
            <a:r>
              <a:t>da = (a_inf(V) - a) / tau_a(V)</a:t>
            </a:r>
          </a:p>
          <a:p>
            <a:r>
              <a:t>db = (b_inf(V) - b) / tau_b(V)</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CALCIUM AS A SECOND MESSENGER:</a:t>
            </a:r>
          </a:p>
          <a:p>
            <a:r>
              <a:t>The term 'second messenger' refers to molecules inside cells that relay and amplify signals from the 'first messengers' (hormones, neurotransmitters). Ca2+ is used as a second messenger in virtually every cell type.</a:t>
            </a:r>
          </a:p>
          <a:p/>
          <a:p>
            <a:r>
              <a:t>WHY IS Ca2+ SPECIAL?</a:t>
            </a:r>
          </a:p>
          <a:p>
            <a:r>
              <a:t>At rest, cytoplasmic Ca2+ = ~100 nM (nanomolar). Extracellular Ca2+ = ~2 mM = 2,000,000 nM. The gradient is 20,000-fold. Any time a Ca2+ channel opens, a large Ca2+ current flows in. This large amplitude makes Ca2+ an excellent signal molecule — even a brief channel opening causes a detectable local concentration rise.</a:t>
            </a:r>
          </a:p>
          <a:p/>
          <a:p>
            <a:r>
              <a:t>CALCIUM-DEPENDENT PROCESSES:</a:t>
            </a:r>
          </a:p>
          <a:p>
            <a:r>
              <a:t>1. NT release: synaptotagmin detects Ca2+ → SNARE fusion → vesicle exocytosis</a:t>
            </a:r>
          </a:p>
          <a:p>
            <a:r>
              <a:t>2. Muscle contraction: Ca2+ binds troponin C → exposes actin binding sites for myosin</a:t>
            </a:r>
          </a:p>
          <a:p>
            <a:r>
              <a:t>3. Gene expression: Ca2+/calmodulin → CaM kinase II → CREB phosphorylation → gene transcription (long-term memory consolidation!)</a:t>
            </a:r>
          </a:p>
          <a:p>
            <a:r>
              <a:t>4. Cell death: excessive Ca2+ influx → mitochondrial damage → apoptosis or necrosis (relevant for stroke, neurodegeneration)</a:t>
            </a:r>
          </a:p>
          <a:p/>
          <a:p>
            <a:r>
              <a:t>CAV SUBTYPES:</a:t>
            </a:r>
          </a:p>
          <a:p>
            <a:r>
              <a:t>L-type (Cav1.1-1.4): Long-lasting, Large conductance. In cardiac muscle: drives the plateau phase of cardiac AP. In smooth muscle: causes vasoconstriction (blood pressure control). In neurons: somatodendritic; regulates gene expression.</a:t>
            </a:r>
          </a:p>
          <a:p>
            <a:r>
              <a:t>- Blockers: dihydropyridines (nifedipine, amlodipine) = arterial vasodilators = antihypertensives/antianginals. Phenylalkylamines (verapamil) = cardiac (slow heart rate, antiarrhythmic). Benzothiazepines (diltiazem) = mixed.</a:t>
            </a:r>
          </a:p>
          <a:p/>
          <a:p>
            <a:r>
              <a:t>P/Q-type (Cav2.1): Present and tightly coupled to SNARE proteins at most central synapses. Required for fast NT release.</a:t>
            </a:r>
          </a:p>
          <a:p>
            <a:r>
              <a:t>- Toxin: ω-agatoxin IVA (funnel-web spider) blocks Cav2.1. Research tool.</a:t>
            </a:r>
          </a:p>
          <a:p>
            <a:r>
              <a:t>- Clinical: mutations in Cav2.1 cause familial hemiplegic migraine (FHM) and spinocerebellar ataxia type 6 (SCA6).</a:t>
            </a:r>
          </a:p>
          <a:p/>
          <a:p>
            <a:r>
              <a:t>N-type (Cav2.2): Present at presynaptic terminals especially in dorsal horn (pain processing). Also in sympathetic neurons.</a:t>
            </a:r>
          </a:p>
          <a:p>
            <a:r>
              <a:t>- Blocker: ziconotide (Prialt, ω-conotoxin MVIIA from cone snail Conus magus). FDA-approved for severe chronic pain (intrathecal infusion). Very potent (IC50 ~ pM). Cannot be given IV (blocks neuromuscular junction globally). One of the most potent analgesics known.</a:t>
            </a:r>
          </a:p>
          <a:p/>
          <a:p>
            <a:r>
              <a:t>T-type (Cav3.1, 3.2, 3.3): Transient, Tiny, Low-threshold. Activates at low voltages (~-60 mV), inactivates quickly, contributes to rhythmic oscillations (pacemaking) in thalamic neurons, SA node of heart.</a:t>
            </a:r>
          </a:p>
          <a:p>
            <a:r>
              <a:t>- Blocker: ethosuximide (Zarontin) = first-line for absence epilepsy. Absence seizures involve pathological thalamocortical oscillations; T-type Cav in thalamic neurons drives these oscillations. Block T-type → reduce oscillations → fewer absence seizures.</a:t>
            </a:r>
          </a:p>
          <a:p/>
          <a:p>
            <a:r>
              <a:t>HH EXTENSION CODE:</a:t>
            </a:r>
          </a:p>
          <a:p>
            <a:r>
              <a:t># L-type Ca2+ channel (simplified, after Huguenard 1996)</a:t>
            </a:r>
          </a:p>
          <a:p>
            <a:r>
              <a:t>def ica_current(V, mCa, hCa, gCa=0.5, ECa=140):</a:t>
            </a:r>
          </a:p>
          <a:p>
            <a:r>
              <a:t>    return gCa * mCa**2 * hCa * (V - ECa)</a:t>
            </a:r>
          </a:p>
          <a:p/>
          <a:p>
            <a:r>
              <a:t># Note: ECa is dynamic because Ca2+ is a second messenger</a:t>
            </a:r>
          </a:p>
          <a:p>
            <a:r>
              <a:t># Full model uses Ca2+ concentration ODE:</a:t>
            </a:r>
          </a:p>
          <a:p>
            <a:r>
              <a:t># d[Ca]_i/dt = -I_Ca / (2*F*vol) - ([Ca]_i - [Ca]_rest) / tau_Ca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HCN CHANNELS — THE BACKWARDS CHANNEL:</a:t>
            </a:r>
          </a:p>
          <a:p/>
          <a:p>
            <a:r>
              <a:t>Most ion channels open when the membrane DEPOLARIZES. HCN channels are unique: they open when the membrane HYPERPOLARIZES. After a hyperpolarising input or the AHP following a spike, V dips below -60 mV → HCN opens → Na+ and K+ both flow → net current is slightly inward (depolarising) → pushes the membrane back toward rest.</a:t>
            </a:r>
          </a:p>
          <a:p/>
          <a:p>
            <a:r>
              <a:t>THE FOUR HCN SUBTYPES:</a:t>
            </a:r>
          </a:p>
          <a:p>
            <a:r>
              <a:t>HCN1: fast kinetics, expressed in cortex, hippocampus (CA1 dendrites), DRG. τ ~ 50-100 ms at -100 mV.</a:t>
            </a:r>
          </a:p>
          <a:p>
            <a:r>
              <a:t>HCN2: slower, widely expressed, strongly modulated by cAMP. τ ~ 200-500 ms.</a:t>
            </a:r>
          </a:p>
          <a:p>
            <a:r>
              <a:t>HCN3: slowest, limited expression.</a:t>
            </a:r>
          </a:p>
          <a:p>
            <a:r>
              <a:t>HCN4: dominant in SA node of heart, very slow. τ ~ 500-5000 ms. The cardiac pacemaker current (If = 'funny current').</a:t>
            </a:r>
          </a:p>
          <a:p/>
          <a:p>
            <a:r>
              <a:t>CYCLIC NUCLEOTIDE MODULATION:</a:t>
            </a:r>
          </a:p>
          <a:p>
            <a:r>
              <a:t>HCN channels have a cyclic nucleotide binding domain (CNBD) on the intracellular C-terminus. When cAMP binds, it SHIFTS the activation curve to more positive voltages (channels open more easily). This is how the sympathetic nervous system speeds up the heart: norepinephrine → β1-adrenergic receptor → Gs protein → adenylyl cyclase → more cAMP → HCN4 activates more → faster pacemaking → heart rate up.</a:t>
            </a:r>
          </a:p>
          <a:p/>
          <a:p>
            <a:r>
              <a:t>PARASYMPATHETIC (vagus): acetylcholine → M2 muscarinic → Gi → less cAMP → HCN4 activates less → slower heart rate.</a:t>
            </a:r>
          </a:p>
          <a:p/>
          <a:p>
            <a:r>
              <a:t>IVABRADINE (Coralan, Procoralan):</a:t>
            </a:r>
          </a:p>
          <a:p>
            <a:r>
              <a:t>The first selective If blocker. Mechanism: binds inside the HCN4 pore from the cytoplasmic side when the channel is open. Clinically: reduces resting heart rate by ~10-15 bpm without reducing contractility (unlike beta-blockers) and without affecting blood pressure.</a:t>
            </a:r>
          </a:p>
          <a:p>
            <a:r>
              <a:t>FDA approvals: (1) Heart failure with reduced ejection fraction (HFrEF) when heart rate ≥ 70 bpm and patient can't tolerate beta-blockers. (2) Stable angina (European approval).</a:t>
            </a:r>
          </a:p>
          <a:p>
            <a:r>
              <a:t>Side effects: visual phosphenes (brief light flashes) because HCN1 in retinal photoreceptors is also blocked.</a:t>
            </a:r>
          </a:p>
          <a:p/>
          <a:p>
            <a:r>
              <a:t>NEUROLOGICAL RELEVANCE:</a:t>
            </a:r>
          </a:p>
          <a:p>
            <a:r>
              <a:t>HCN2 mutations cause epilepsy. HCN1 mutations cause early-onset epileptic encephalopathy. Lamotrigine, gabapentin, and some other anticonvulsants may partially modulate HCN.</a:t>
            </a:r>
          </a:p>
          <a:p/>
          <a:p>
            <a:r>
              <a:t>SAG POTENTIAL (signature of HCN activity):</a:t>
            </a:r>
          </a:p>
          <a:p>
            <a:r>
              <a:t>If you inject a hyperpolarizing current pulse into a neuron with Ih: V first hyperpolarizes, then gradually sags back toward rest (even while the pulse is still on). This 'sag' is the signature of active Ih. When the pulse ends, V briefly depolarizes above rest (rebound depolarization) as Ih turns off. This can trigger a rebound spike (used in thalamic relay neurons for generating sleep spindles).</a:t>
            </a:r>
          </a:p>
          <a:p/>
          <a:p>
            <a:r>
              <a:t>HH EXTENSION CODE:</a:t>
            </a:r>
          </a:p>
          <a:p>
            <a:r>
              <a:t>def ih_current(V, q, gh=0.02, Eh=-30):</a:t>
            </a:r>
          </a:p>
          <a:p>
            <a:r>
              <a:t>    return gh * q * (V - Eh)</a:t>
            </a:r>
          </a:p>
          <a:p/>
          <a:p>
            <a:r>
              <a:t>def q_inf(V):   return 1/(1+np.exp((V+75)/5.5))   # opens at -60 to -100 mV</a:t>
            </a:r>
          </a:p>
          <a:p>
            <a:r>
              <a:t>def tau_q(V):   return 200 + 300/(1+np.exp((V+72)/4))  # very slow, 200-500 ms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PERSISTENT SODIUM CURRENT — SMALL BUT MIGHTY:</a:t>
            </a:r>
          </a:p>
          <a:p/>
          <a:p>
            <a:r>
              <a:t>The original HH model assumes ALL Nav channels completely inactivate (h → 0 on sustained depolarization). In reality, a small fraction (~0.5-2%) of Nav channels in most neurons never fully inactivate — they remain open (or rapidly reopen) even during sustained depolarization.</a:t>
            </a:r>
          </a:p>
          <a:p/>
          <a:p>
            <a:r>
              <a:t>MECHANISTIC BASIS:</a:t>
            </a:r>
          </a:p>
          <a:p>
            <a:r>
              <a:t>The persistent component comes from:</a:t>
            </a:r>
          </a:p>
          <a:p>
            <a:r>
              <a:t>1. Late openings of the transient Nav channel (the inactivation gate occasionally fails to close → 'window current' within a voltage range where m∞(V) × h∞(V) &gt; 0, typically -70 to -55 mV)</a:t>
            </a:r>
          </a:p>
          <a:p>
            <a:r>
              <a:t>2. A distinct isoform (Nav1.6 has prominent I_NaP in many neurons)</a:t>
            </a:r>
          </a:p>
          <a:p>
            <a:r>
              <a:t>3. Phosphorylation-dependent modulation of Nav inactivation</a:t>
            </a:r>
          </a:p>
          <a:p/>
          <a:p>
            <a:r>
              <a:t>THE WINDOW CURRENT:</a:t>
            </a:r>
          </a:p>
          <a:p>
            <a:r>
              <a:t>In the HH model, the 'window current' is the steady-state Na+ conductance at intermediate voltages where both m∞ and h∞ are nonzero. At -60 mV: m∞ ≈ 0.08, h∞ ≈ 0.55 → m³h ≈ 0.0003. Small but nonzero. This contributes a small inward current at subthreshold voltages.</a:t>
            </a:r>
          </a:p>
          <a:p/>
          <a:p>
            <a:r>
              <a:t>WHY A SMALL CURRENT MAKES A BIG DIFFERENCE:</a:t>
            </a:r>
          </a:p>
          <a:p>
            <a:r>
              <a:t>At subthreshold voltages (-70 to -55 mV), the net membrane resistance is very high (few channels open). A tiny current has a large voltage effect (V = I × R; high R means high ΔV for same I). I_NaP at -65 mV might be only 0.05 µA/cm² but the input resistance is ~50 MΩ → this creates mV-scale depolarization that amplifies synaptic inputs.</a:t>
            </a:r>
          </a:p>
          <a:p/>
          <a:p>
            <a:r>
              <a:t>BISTABILITY:</a:t>
            </a:r>
          </a:p>
          <a:p>
            <a:r>
              <a:t>With sufficient I_NaP, the neuron can have two stable resting states:</a:t>
            </a:r>
          </a:p>
          <a:p>
            <a:r>
              <a:t>1. Normal rest: -65 mV (I_NaP small)</a:t>
            </a:r>
          </a:p>
          <a:p>
            <a:r>
              <a:t>2. Depolarised plateau: -40 to -30 mV (I_NaP large, balanced by K+ currents)</a:t>
            </a:r>
          </a:p>
          <a:p>
            <a:r>
              <a:t>Transitions between these states are triggered by brief stimuli. This underlies 'plateau potentials' in spinal motor neurons (relevant to locomotion) and some pathological depolarized states.</a:t>
            </a:r>
          </a:p>
          <a:p/>
          <a:p>
            <a:r>
              <a:t>RILUZOLE (ALS DRUG):</a:t>
            </a:r>
          </a:p>
          <a:p>
            <a:r>
              <a:t>Riluzole was the first FDA-approved drug for ALS (1995). Mechanism: blocks I_NaP (and to a lesser extent, the transient Nav current). ALS motor neurons have increased I_NaP → excessive activity → glutamate excitotoxicity → cell death. By reducing I_NaP, riluzole reduces motor neuron hyperexcitability and glutamate release.</a:t>
            </a:r>
          </a:p>
          <a:p>
            <a:r>
              <a:t>Effect: extends survival by ~2-3 months on average. Not a cure, but the first disease-modifying treatment for ALS.</a:t>
            </a:r>
          </a:p>
          <a:p/>
          <a:p>
            <a:r>
              <a:t>RILUZOLE QSAR:</a:t>
            </a:r>
          </a:p>
          <a:p>
            <a:r>
              <a:t>Riluzole is a benzothiazole compound. SMILES: Nc1nc2c(s1)cc(OCC(F)(F)F)cc2.</a:t>
            </a:r>
          </a:p>
          <a:p>
            <a:r>
              <a:t>The 2-amino group and the thiazole ring are critical for Nav block. The CF3-OCH2 group provides metabolic stability and appropriate lipophilicity for CNS penetration (LogP ≈ 1.5, MW = 234 Da — fits all CNS rules).</a:t>
            </a:r>
          </a:p>
          <a:p/>
          <a:p>
            <a:r>
              <a:t>HH EXTENSION CODE:</a:t>
            </a:r>
          </a:p>
          <a:p>
            <a:r>
              <a:t>def inap_current(V, gNaP=0.1, ENa=55):</a:t>
            </a:r>
          </a:p>
          <a:p>
            <a:r>
              <a:t>    p_inf = 1/(1+np.exp(-(V+50)/3))  # activates ~-60 mV, no inactivation</a:t>
            </a:r>
          </a:p>
          <a:p>
            <a:r>
              <a:t>    return gNaP * p_inf * (V - ENa)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SYNAPTIC CONDUCTANCES IN THE HH FRAMEWORK:</a:t>
            </a:r>
          </a:p>
          <a:p/>
          <a:p>
            <a:r>
              <a:t>When a presynaptic neuron fires and releases NT, the postsynaptic neuron experiences a transient change in conductance. This is added to the HH equations as an additional current term:</a:t>
            </a:r>
          </a:p>
          <a:p/>
          <a:p>
            <a:r>
              <a:t>I_total = I_Na + I_K + I_L + I_A + I_Ca + I_h + I_NaP + I_AMPA + I_NMDA + I_GABAA + I_GABAB + ...</a:t>
            </a:r>
          </a:p>
          <a:p/>
          <a:p>
            <a:r>
              <a:t>Each synaptic current has the form: I_syn = g_syn(t) × (V - E_syn)</a:t>
            </a:r>
          </a:p>
          <a:p>
            <a:r>
              <a:t>where g_syn(t) is a time-dependent conductance that rises and decays (modelling the NT binding/unbinding kinetics).</a:t>
            </a:r>
          </a:p>
          <a:p/>
          <a:p>
            <a:r>
              <a:t>THE ALPHA FUNCTION (HH style): g(t) = g_max × (t/τ) × exp(1-t/τ) for t &gt; 0</a:t>
            </a:r>
          </a:p>
          <a:p>
            <a:r>
              <a:t>Simple, one time constant. Peak at t = τ.</a:t>
            </a:r>
          </a:p>
          <a:p/>
          <a:p>
            <a:r>
              <a:t>DOUBLE EXPONENTIAL (more biophysical): g(t) = g_max × (exp(-t/τ_decay) - exp(-t/τ_rise)) / norm</a:t>
            </a:r>
          </a:p>
          <a:p>
            <a:r>
              <a:t>Rise time constant τ_rise (fast, NT binding). Decay time constant τ_decay (slow, NT unbinding + channel gating).</a:t>
            </a:r>
          </a:p>
          <a:p/>
          <a:p>
            <a:r>
              <a:t>AMPA RECEPTORS:</a:t>
            </a:r>
          </a:p>
          <a:p>
            <a:r>
              <a:t>AMPA (α-amino-3-hydroxy-5-methyl-4-isoxazolepropionic acid receptor): fast excitatory. Opens Na+/K+ channel (E_rev ≈ 0 mV). τ_rise ~ 0.5 ms, τ_decay ~ 3-5 ms.</a:t>
            </a:r>
          </a:p>
          <a:p>
            <a:r>
              <a:t>How CS students can think about it: AMPA provides the fast, transient excitatory input. Like a brief clock pulse to a flip-flop.</a:t>
            </a:r>
          </a:p>
          <a:p>
            <a:r>
              <a:t>Drug targets:</a:t>
            </a:r>
          </a:p>
          <a:p>
            <a:r>
              <a:t>- CNQX (6-cyano-7-nitroquinoxaline-2,3-dione): competitive AMPA antagonist. Research tool.</a:t>
            </a:r>
          </a:p>
          <a:p>
            <a:r>
              <a:t>- Perampanel (Fycompa): non-competitive AMPA antagonist. FDA-approved anticonvulsant (focal seizures). Reduces fast excitation in hyperactive circuits.</a:t>
            </a:r>
          </a:p>
          <a:p/>
          <a:p>
            <a:r>
              <a:t>NMDA RECEPTORS:</a:t>
            </a:r>
          </a:p>
          <a:p>
            <a:r>
              <a:t>NMDA (N-methyl-D-aspartate receptor): slow excitatory. Opens Ca2+/Na+/K+ channel (E_rev ≈ 0 mV). But: requires TWO conditions simultaneously to open: (1) glutamate must be bound AND (2) membrane must be depolarized. Why? At rest, Mg2+ blocks the pore from the outside. When V is depolarized, Mg2+ is expelled. This voltage-dependent block makes NMDA a COINCIDENCE DETECTOR: input (glutamate) AND depolarization must occur together.</a:t>
            </a:r>
          </a:p>
          <a:p/>
          <a:p>
            <a:r>
              <a:t>Mg2+ block modelling: g_NMDA = g_max × (exp(-t/τ) - ...) × 1/(1 + [Mg]/3.57 × exp(-V/16.13))</a:t>
            </a:r>
          </a:p>
          <a:p/>
          <a:p>
            <a:r>
              <a:t>SIGNIFICANCE FOR LEARNING AND MEMORY:</a:t>
            </a:r>
          </a:p>
          <a:p>
            <a:r>
              <a:t>LTP (long-term potentiation) = the cellular mechanism of learning. When both pre AND postsynaptic neurons fire together, NMDA opens, Ca2+ enters, activates CaM kinase II → AMPA receptors inserted → synapse strengthened → Hebbian learning ('fire together, wire together').</a:t>
            </a:r>
          </a:p>
          <a:p/>
          <a:p>
            <a:r>
              <a:t>DRUG TARGETS OF NMDA:</a:t>
            </a:r>
          </a:p>
          <a:p>
            <a:r>
              <a:t>Ketamine: non-competitive open-channel NMDA blocker. At low doses: anesthetic. At sub-anesthetic doses: rapid antidepressant (mechanism still debated, but NMDA block → disinhibition → BDNF release → synaptogenesis). IV ketamine and intranasal esketamine (Spravato) FDA-approved for treatment-resistant depression.</a:t>
            </a:r>
          </a:p>
          <a:p>
            <a:r>
              <a:t>Memantine: low-affinity NMDA blocker. FDA-approved for moderate-to-severe Alzheimer's. Hypothesis: in Alzheimer's, excessive Glu release → chronic NMDA activation → Ca2+ excitotoxicity → neuron death. Memantine blocks this while allowing normal synaptic signaling.</a:t>
            </a:r>
          </a:p>
          <a:p>
            <a:r>
              <a:t>Phencyclidine (PCP, 'angel dust'): potent NMDA blocker. High abuse potential, causes psychosis. Historically: first demonstration that NMDA block causes schizophrenia-like symptoms → 'glutamate hypothesis of schizophrenia'.</a:t>
            </a:r>
          </a:p>
          <a:p/>
          <a:p>
            <a:r>
              <a:t>GABA-A (ionotropic, fast inhibition):</a:t>
            </a:r>
          </a:p>
          <a:p>
            <a:r>
              <a:t>E_syn = -70 to -75 mV (near resting potential). Fast: τ_rise ~ 0.5 ms, τ_decay ~ 5-25 ms. Cl- flows in → hyperpolarizes OR shunts excitatory currents.</a:t>
            </a:r>
          </a:p>
          <a:p/>
          <a:p>
            <a:r>
              <a:t>GABA-B (metabotropic, slow inhibition):</a:t>
            </a:r>
          </a:p>
          <a:p>
            <a:r>
              <a:t>GPCR (Gi-coupled). Activates GIRK (G-protein-inwardly-rectifying K+) channels. K+ flows out → hyperpolarization near E_K (~-90 mV). Very slow: onset 50-100 ms, duration 100-500 ms. </a:t>
            </a:r>
          </a:p>
          <a:p>
            <a:r>
              <a:t>Baclofen: GABA-B agonist. Used for: muscle spasticity (MS, spinal cord injury), alcohol withdrawal, trigeminal neuralgia. Intrathecal baclofen pump for severe spasticity.</a:t>
            </a:r>
          </a:p>
          <a:p/>
          <a:p>
            <a:r>
              <a:t>HH EXTENSION CODE:</a:t>
            </a:r>
          </a:p>
          <a:p>
            <a:r>
              <a:t>def ampa_current(V, t_syn, gAMPA=0.5, E_AMPA=0, tau_r=0.5, tau_d=5):</a:t>
            </a:r>
          </a:p>
          <a:p>
            <a:r>
              <a:t>    if t_syn &lt; 0:</a:t>
            </a:r>
          </a:p>
          <a:p>
            <a:r>
              <a:t>        return 0</a:t>
            </a:r>
          </a:p>
          <a:p>
            <a:r>
              <a:t>    norm = tau_d*tau_r/(tau_d-tau_r)</a:t>
            </a:r>
          </a:p>
          <a:p>
            <a:r>
              <a:t>    g = gAMPA * norm * (np.exp(-t_syn/tau_d) - np.exp(-t_syn/tau_r))</a:t>
            </a:r>
          </a:p>
          <a:p>
            <a:r>
              <a:t>    return max(0, g) * (V - E_AMPA)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SINGLE-COMPARTMENT HH IS NOT ENOUGH FOR REAL NEURONS:</a:t>
            </a:r>
          </a:p>
          <a:p/>
          <a:p>
            <a:r>
              <a:t>The HH equations (as presented) treat the entire neuron as a single point — all membrane sees the same voltage at the same time. This is the 'isopotential' approximation. It works for:</a:t>
            </a:r>
          </a:p>
          <a:p>
            <a:r>
              <a:t>- The squid giant axon cross-section (the axon is very long but uniform, and they recorded from one spot)</a:t>
            </a:r>
          </a:p>
          <a:p>
            <a:r>
              <a:t>- Small neurons (spinal interneurons, striatal medium spiny neurons)</a:t>
            </a:r>
          </a:p>
          <a:p>
            <a:r>
              <a:t>- Simplified network models where exact dendritic morphology doesn't matter</a:t>
            </a:r>
          </a:p>
          <a:p/>
          <a:p>
            <a:r>
              <a:t>But for PYRAMIDAL NEURONS (the main excitatory neurons in cortex and hippocampus), the dendritic tree extends up to 1 mm. A synaptic input to the distal end of a dendrite must travel 1 mm to reach the soma (cell body) where the spike is initiated. Voltage DECAYS exponentially along the dendrite.</a:t>
            </a:r>
          </a:p>
          <a:p/>
          <a:p>
            <a:r>
              <a:t>THE CABLE EQUATION:</a:t>
            </a:r>
          </a:p>
          <a:p>
            <a:r>
              <a:t>Hodgkin &amp; Huxley also wrote the cable equation (but it's not usually called 'the HH equation' — it's attributed to Kelvin from telegraph cable theory, adapted by Wilfrid Rall):</a:t>
            </a:r>
          </a:p>
          <a:p>
            <a:r>
              <a:t>Cm × ∂V/∂t = (d/(4Ra)) × ∂²V/∂x² - I_ion</a:t>
            </a:r>
          </a:p>
          <a:p/>
          <a:p>
            <a:r>
              <a:t>where:</a:t>
            </a:r>
          </a:p>
          <a:p>
            <a:r>
              <a:t>- d = dendrite diameter (µm)</a:t>
            </a:r>
          </a:p>
          <a:p>
            <a:r>
              <a:t>- Ra = axial resistivity (~100-150 Ω·cm for cytoplasm)</a:t>
            </a:r>
          </a:p>
          <a:p>
            <a:r>
              <a:t>- x = distance along dendrite</a:t>
            </a:r>
          </a:p>
          <a:p/>
          <a:p>
            <a:r>
              <a:t>KEY PARAMETERS:</a:t>
            </a:r>
          </a:p>
          <a:p>
            <a:r>
              <a:t>Space constant λ = sqrt(Rm × d / (4Ra)) where Rm is specific membrane resistance (Ω·cm²)</a:t>
            </a:r>
          </a:p>
          <a:p>
            <a:r>
              <a:t>- λ = distance over which voltage decays to 1/e (~37%) of its source amplitude</a:t>
            </a:r>
          </a:p>
          <a:p>
            <a:r>
              <a:t>- Typical λ for a dendrite: 0.1-0.5 mm</a:t>
            </a:r>
          </a:p>
          <a:p>
            <a:r>
              <a:t>- For a 1 mm dendrite: signal at the far end = e^(-1/0.3) = e^(-3.3) = only 4% of source amplitude!</a:t>
            </a:r>
          </a:p>
          <a:p/>
          <a:p>
            <a:r>
              <a:t>Time constant τm = Rm × Cm</a:t>
            </a:r>
          </a:p>
          <a:p>
            <a:r>
              <a:t>- Typical τm = 10-50 ms</a:t>
            </a:r>
          </a:p>
          <a:p>
            <a:r>
              <a:t>- Determines how fast the membrane responds to injected current (RC time constant)</a:t>
            </a:r>
          </a:p>
          <a:p/>
          <a:p>
            <a:r>
              <a:t>MULTICOMPARTMENT MODELS:</a:t>
            </a:r>
          </a:p>
          <a:p>
            <a:r>
              <a:t>Discretise the cable into N segments, each with its own HH equations plus current flow from neighbours:</a:t>
            </a:r>
          </a:p>
          <a:p>
            <a:r>
              <a:t>For compartment i: Cm × dVi/dt = I_ion_i + (V_{i-1} - Vi) / Ra_i + (V_{i+1} - Vi) / Ra_i+1</a:t>
            </a:r>
          </a:p>
          <a:p/>
          <a:p>
            <a:r>
              <a:t>Famous models:</a:t>
            </a:r>
          </a:p>
          <a:p>
            <a:r>
              <a:t>- Mainen-Sejnowski pyramidal cell (1996): first realistic compartmental model of a cortical L5 pyramidal neuron</a:t>
            </a:r>
          </a:p>
          <a:p>
            <a:r>
              <a:t>- Purkinje cell model (De Schutter &amp; Bower 1994): 1600 compartments, shows complex Ca2+-dependent bursting</a:t>
            </a:r>
          </a:p>
          <a:p>
            <a:r>
              <a:t>- NEURON simulator (Carnevale &amp; Hines 2006): standard software for multicompartment simulations</a:t>
            </a:r>
          </a:p>
          <a:p/>
          <a:p>
            <a:r>
              <a:t>DRUG EFFECTS IN MULTICOMPARTMENT CONTEXT:</a:t>
            </a:r>
          </a:p>
          <a:p>
            <a:r>
              <a:t>1. Axon hillock Nav block (local anesthetic): if Nav at the spike initiation zone is blocked, no AP is generated regardless of what happens in dendrites. This is the mechanism of local anesthesia.</a:t>
            </a:r>
          </a:p>
          <a:p>
            <a:r>
              <a:t>2. Dendritic Kv4 block (4-AP): reduces shunting inhibition in dendrites → EPSPs are larger when they reach the soma → neuron more excitable. This is one mechanism of 4-AP's pro-convulsant and anti-MS effects.</a:t>
            </a:r>
          </a:p>
          <a:p>
            <a:r>
              <a:t>3. Dendritic NMDA spikes: in distal dendrites, if AMPA + NMDA are activated strongly enough, a local 'dendritic spike' can be initiated even before the signal reaches the soma. NMDA receptor blockers (ketamine) prevent this → alter dendritic integration profoundly.</a:t>
            </a:r>
          </a:p>
          <a:p/>
          <a:p>
            <a:r>
              <a:t>FOR CS STUDENTS:</a:t>
            </a:r>
          </a:p>
          <a:p>
            <a:r>
              <a:t>A multicompartment model is essentially a graph neural network where each node is an HH model and each edge is a resistor (coupling adjacent compartments). The message passing is: currents flow between compartments according to Ohm's law. This is literally the same architecture as a GNN (Day 3)! The difference: in GNNs, we LEARN the message functions. In cable theory, the message function is Ohm's law (physics-based).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DRUG TARGET MAP — COMPLETE GUIDE:</a:t>
            </a:r>
          </a:p>
          <a:p/>
          <a:p>
            <a:r>
              <a:t>This slide shows the direct connection between the HH model components and real drugs. Every row represents a channel that is part of an HH-style model, the gene family that encodes it, and example drugs.</a:t>
            </a:r>
          </a:p>
          <a:p/>
          <a:p>
            <a:r>
              <a:t>HOW TO READ THIS TABLE:</a:t>
            </a:r>
          </a:p>
          <a:p>
            <a:r>
              <a:t>Column 1 (Channel/Current): This is the HH model component. All of these are ion channels that contribute current terms to the HH ODE.</a:t>
            </a:r>
          </a:p>
          <a:p>
            <a:r>
              <a:t>Column 2 (Gene family): The gene(s) encoding the channel. QSAR models are trained on experimental data (IC50 values) for each target. Each gene = one QSAR model.</a:t>
            </a:r>
          </a:p>
          <a:p>
            <a:r>
              <a:t>Column 3 (Drug targets): Approved drugs or important pharmacological tools that interact with this channel.</a:t>
            </a:r>
          </a:p>
          <a:p/>
          <a:p>
            <a:r>
              <a:t>KEY PATTERNS:</a:t>
            </a:r>
          </a:p>
          <a:p>
            <a:r>
              <a:t>1. ALMOST EVERY DRUG USED IN NEUROLOGY/PSYCHIATRY targets something in this table. This is because neurological diseases are diseases of electrical excitability.</a:t>
            </a:r>
          </a:p>
          <a:p/>
          <a:p>
            <a:r>
              <a:t>2. SELECTIVITY is the challenge. Lidocaine blocks Nav1.7 (pain), but also blocks Nav1.1 (heart), Nav1.5 (skeletal muscle). Selective Nav1.7 blockers have been sought for 20+ years for pain treatment (would avoid cardiac side effects). This is a major QSAR challenge.</a:t>
            </a:r>
          </a:p>
          <a:p/>
          <a:p>
            <a:r>
              <a:t>3. hERG (KCNH2) is the most dangerous off-target. Every drug candidate must be tested for hERG block. A dedicated QSAR model for hERG IC50 is one of the first models any pharmaceutical company builds.</a:t>
            </a:r>
          </a:p>
          <a:p/>
          <a:p>
            <a:r>
              <a:t>4. AI APPLICATIONS IN THIS TABLE:</a:t>
            </a:r>
          </a:p>
          <a:p>
            <a:r>
              <a:t>- Build QSAR models for each channel target</a:t>
            </a:r>
          </a:p>
          <a:p>
            <a:r>
              <a:t>- Predict which drugs have which off-target activities (polypharmacology)</a:t>
            </a:r>
          </a:p>
          <a:p>
            <a:r>
              <a:t>- Design selective compounds that hit the desired target but not others</a:t>
            </a:r>
          </a:p>
          <a:p>
            <a:r>
              <a:t>- Predict which patients will respond to which drug (pharmacogenomics — do they have the right Nav1.2 variant?)</a:t>
            </a:r>
          </a:p>
          <a:p/>
          <a:p>
            <a:r>
              <a:t>5. LACOSAMIDE (Vimpat): a newer anticonvulsant (Na channel modulator). Enhances slow inactivation of Nav channels. This is a distinct mechanism from the use-dependent fast inactivation stabilisation of lidocaine. Lacosamide has a unique interaction with a binding site at the inactivated Nav state.</a:t>
            </a:r>
          </a:p>
          <a:p/>
          <a:p>
            <a:r>
              <a:t>6. PERSONALIZED MEDICINE EXAMPLE: SCN1A mutations cause Dravet syndrome (severe childhood epilepsy). Loss-of-function in SCN1A (Nav1.1) reduces inhibitory neuron firing → network excitability → seizures. Treatment: AVOID sodium channel blockers (they would further reduce Nav1.1) → use valproate, clobazam, stiripentol. An AI model that predicts drug-Nav1.1 interaction AND knows the patient's SCN1A variant could guide personalized treatment choice.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COMMENTED PYTHON CODE FOR THE HH MODEL:</a:t>
            </a:r>
          </a:p>
          <a:p/>
          <a:p>
            <a:r>
              <a:t>import numpy as np</a:t>
            </a:r>
          </a:p>
          <a:p>
            <a:r>
              <a:t>from scipy.integrate import odeint</a:t>
            </a:r>
          </a:p>
          <a:p>
            <a:r>
              <a:t>import matplotlib.pyplot as plt</a:t>
            </a:r>
          </a:p>
          <a:p/>
          <a:p>
            <a:r>
              <a:t># ---- Rate functions ----</a:t>
            </a:r>
          </a:p>
          <a:p>
            <a:r>
              <a:t>def alpha_m(V):</a:t>
            </a:r>
          </a:p>
          <a:p>
            <a:r>
              <a:t>    # Opening rate for m gate (Na+ activation). Units: 1/ms</a:t>
            </a:r>
          </a:p>
          <a:p>
            <a:r>
              <a:t>    dV = V + 40  # shift by 40 (V=-40 is a singularity)</a:t>
            </a:r>
          </a:p>
          <a:p>
            <a:r>
              <a:t>    if abs(dV) &lt; 1e-7:</a:t>
            </a:r>
          </a:p>
          <a:p>
            <a:r>
              <a:t>        return 1.0  # L'Hopital limit at the singularity</a:t>
            </a:r>
          </a:p>
          <a:p>
            <a:r>
              <a:t>    return 0.1 * dV / (1 - np.exp(-dV / 10))</a:t>
            </a:r>
          </a:p>
          <a:p/>
          <a:p>
            <a:r>
              <a:t>def beta_m(V):</a:t>
            </a:r>
          </a:p>
          <a:p>
            <a:r>
              <a:t>    # Closing rate for m gate. Units: 1/ms</a:t>
            </a:r>
          </a:p>
          <a:p>
            <a:r>
              <a:t>    return 4 * np.exp(-(V + 65) / 18)</a:t>
            </a:r>
          </a:p>
          <a:p/>
          <a:p>
            <a:r>
              <a:t>def alpha_h(V):</a:t>
            </a:r>
          </a:p>
          <a:p>
            <a:r>
              <a:t>    # Opening rate for h gate (Na+ inactivation). Units: 1/ms</a:t>
            </a:r>
          </a:p>
          <a:p>
            <a:r>
              <a:t>    return 0.07 * np.exp(-(V + 65) / 20)</a:t>
            </a:r>
          </a:p>
          <a:p/>
          <a:p>
            <a:r>
              <a:t>def beta_h(V):</a:t>
            </a:r>
          </a:p>
          <a:p>
            <a:r>
              <a:t>    # Closing rate for h gate. Units: 1/ms</a:t>
            </a:r>
          </a:p>
          <a:p>
            <a:r>
              <a:t>    return 1 / (np.exp(-(V + 35) / 10) + 1)</a:t>
            </a:r>
          </a:p>
          <a:p/>
          <a:p>
            <a:r>
              <a:t>def alpha_n(V):</a:t>
            </a:r>
          </a:p>
          <a:p>
            <a:r>
              <a:t>    # Opening rate for n gate (K+ activation). Units: 1/ms</a:t>
            </a:r>
          </a:p>
          <a:p>
            <a:r>
              <a:t>    dV = V + 55</a:t>
            </a:r>
          </a:p>
          <a:p>
            <a:r>
              <a:t>    if abs(dV) &lt; 1e-7:</a:t>
            </a:r>
          </a:p>
          <a:p>
            <a:r>
              <a:t>        return 0.1</a:t>
            </a:r>
          </a:p>
          <a:p>
            <a:r>
              <a:t>    return 0.01 * dV / (1 - np.exp(-dV / 10))</a:t>
            </a:r>
          </a:p>
          <a:p/>
          <a:p>
            <a:r>
              <a:t>def beta_n(V):</a:t>
            </a:r>
          </a:p>
          <a:p>
            <a:r>
              <a:t>    # Closing rate for n gate. Units: 1/ms</a:t>
            </a:r>
          </a:p>
          <a:p>
            <a:r>
              <a:t>    return 0.125 * np.exp(-(V + 65) / 80)</a:t>
            </a:r>
          </a:p>
          <a:p/>
          <a:p>
            <a:r>
              <a:t># ---- Channel parameters ----</a:t>
            </a:r>
          </a:p>
          <a:p>
            <a:r>
              <a:t>gNa = 120.0   # Maximum Na+ conductance (mS/cm²)</a:t>
            </a:r>
          </a:p>
          <a:p>
            <a:r>
              <a:t>gK  =  36.0   # Maximum K+ conductance (mS/cm²)</a:t>
            </a:r>
          </a:p>
          <a:p>
            <a:r>
              <a:t>gL  =   0.3   # Leak conductance (mS/cm²)</a:t>
            </a:r>
          </a:p>
          <a:p>
            <a:r>
              <a:t>ENa =  55.0   # Na+ reversal potential (mV)</a:t>
            </a:r>
          </a:p>
          <a:p>
            <a:r>
              <a:t>EK  = -77.0   # K+ reversal potential (mV)</a:t>
            </a:r>
          </a:p>
          <a:p>
            <a:r>
              <a:t>EL  = -54.4   # Leak reversal potential (mV)</a:t>
            </a:r>
          </a:p>
          <a:p>
            <a:r>
              <a:t>Cm  =   1.0   # Membrane capacitance (µF/cm²)</a:t>
            </a:r>
          </a:p>
          <a:p/>
          <a:p>
            <a:r>
              <a:t># ---- ODE system ----</a:t>
            </a:r>
          </a:p>
          <a:p>
            <a:r>
              <a:t>def hodgkin_huxley(y, t, I_ext):</a:t>
            </a:r>
          </a:p>
          <a:p>
            <a:r>
              <a:t>    V, m, h, n = y</a:t>
            </a:r>
          </a:p>
          <a:p>
            <a:r>
              <a:t>    </a:t>
            </a:r>
          </a:p>
          <a:p>
            <a:r>
              <a:t>    # Ion currents</a:t>
            </a:r>
          </a:p>
          <a:p>
            <a:r>
              <a:t>    I_Na = gNa * m**3 * h * (V - ENa)   # Inward (typically negative in convention)</a:t>
            </a:r>
          </a:p>
          <a:p>
            <a:r>
              <a:t>    I_K  = gK  * n**4     * (V - EK)    # Outward</a:t>
            </a:r>
          </a:p>
          <a:p>
            <a:r>
              <a:t>    I_L  = gL             * (V - EL)    # Leak</a:t>
            </a:r>
          </a:p>
          <a:p>
            <a:r>
              <a:t>    </a:t>
            </a:r>
          </a:p>
          <a:p>
            <a:r>
              <a:t>    # Membrane voltage ODE</a:t>
            </a:r>
          </a:p>
          <a:p>
            <a:r>
              <a:t>    dV = (I_ext - I_Na - I_K - I_L) / Cm</a:t>
            </a:r>
          </a:p>
          <a:p>
            <a:r>
              <a:t>    </a:t>
            </a:r>
          </a:p>
          <a:p>
            <a:r>
              <a:t>    # Gating variable ODEs</a:t>
            </a:r>
          </a:p>
          <a:p>
            <a:r>
              <a:t>    dm = alpha_m(V) * (1 - m) - beta_m(V) * m</a:t>
            </a:r>
          </a:p>
          <a:p>
            <a:r>
              <a:t>    dh = alpha_h(V) * (1 - h) - beta_h(V) * h</a:t>
            </a:r>
          </a:p>
          <a:p>
            <a:r>
              <a:t>    dn = alpha_n(V) * (1 - n) - beta_n(V) * n</a:t>
            </a:r>
          </a:p>
          <a:p>
            <a:r>
              <a:t>    </a:t>
            </a:r>
          </a:p>
          <a:p>
            <a:r>
              <a:t>    return [dV, dm, dh, dn]</a:t>
            </a:r>
          </a:p>
          <a:p/>
          <a:p>
            <a:r>
              <a:t># ---- Simulation ----</a:t>
            </a:r>
          </a:p>
          <a:p>
            <a:r>
              <a:t>t = np.arange(0, 100, 0.01)            # 100 ms, 0.01 ms step</a:t>
            </a:r>
          </a:p>
          <a:p>
            <a:r>
              <a:t>y0 = [-65.0, 0.05, 0.60, 0.32]         # Initial conditions at rest</a:t>
            </a:r>
          </a:p>
          <a:p>
            <a:r>
              <a:t>I_ext = 10.0                           # Stimulus current (µA/cm²)</a:t>
            </a:r>
          </a:p>
          <a:p/>
          <a:p>
            <a:r>
              <a:t>solution = odeint(hodgkin_huxley, y0, t, args=(I_ext,))</a:t>
            </a:r>
          </a:p>
          <a:p>
            <a:r>
              <a:t>V = solution[:, 0]</a:t>
            </a:r>
          </a:p>
          <a:p>
            <a:r>
              <a:t>m = solution[:, 1]</a:t>
            </a:r>
          </a:p>
          <a:p>
            <a:r>
              <a:t>h = solution[:, 2]</a:t>
            </a:r>
          </a:p>
          <a:p>
            <a:r>
              <a:t>n = solution[:, 3]</a:t>
            </a:r>
          </a:p>
          <a:p/>
          <a:p>
            <a:r>
              <a:t># ---- Plot ----</a:t>
            </a:r>
          </a:p>
          <a:p>
            <a:r>
              <a:t>fig, (ax1, ax2) = plt.subplots(2, 1, figsize=(10, 6))</a:t>
            </a:r>
          </a:p>
          <a:p>
            <a:r>
              <a:t>ax1.plot(t, V, 'k'); ax1.set_ylabel('Voltage (mV)'); ax1.set_title('HH Action Potential')</a:t>
            </a:r>
          </a:p>
          <a:p>
            <a:r>
              <a:t>ax2.plot(t, m, label='m (Na act)'); ax2.plot(t, h, label='h (Na inact)')</a:t>
            </a:r>
          </a:p>
          <a:p>
            <a:r>
              <a:t>ax2.plot(t, n, label='n (K act)'); ax2.legend(); ax2.set_ylabel('Gate probability')</a:t>
            </a:r>
          </a:p>
          <a:p>
            <a:r>
              <a:t>ax2.set_xlabel('Time (ms)')</a:t>
            </a:r>
          </a:p>
          <a:p>
            <a:r>
              <a:t>plt.tight_layout()</a:t>
            </a:r>
          </a:p>
          <a:p>
            <a:r>
              <a:t>plt.savefig('hh_simulation.png', dpi=150)</a:t>
            </a:r>
          </a:p>
          <a:p/>
          <a:p>
            <a:r>
              <a:t>TO ADD DRUG EFFECTS:</a:t>
            </a:r>
          </a:p>
          <a:p>
            <a:r>
              <a:t># Simulate lidocaine (50% Nav block): set gNa = 60 (instead of 120)</a:t>
            </a:r>
          </a:p>
          <a:p>
            <a:r>
              <a:t># Simulate 4-AP (K+ channel block): set gK = 18 (instead of 36)</a:t>
            </a:r>
          </a:p>
          <a:p>
            <a:r>
              <a:t># Simulate GABA-A drug: add I_GABAA current with appropriate E_syn and g(t)</a:t>
            </a:r>
          </a:p>
          <a:p/>
          <a:p>
            <a:r>
              <a:t>The Day 1 notebook (day1_introduction/Day1_Practical_HH.ipynb) has a fully interactive version.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COMPLETE PIPELINE — CONNECTING HH TO AI DRUG DISCOVERY:</a:t>
            </a:r>
          </a:p>
          <a:p/>
          <a:p>
            <a:r>
              <a:t>STEP 1 — TARGET IDENTIFICATION:</a:t>
            </a:r>
          </a:p>
          <a:p>
            <a:r>
              <a:t>Which ion channel / receptor is dysfunctional in the disease?</a:t>
            </a:r>
          </a:p>
          <a:p>
            <a:r>
              <a:t>Example: SCN1A (Nav1.1) LOF mutation → Dravet syndrome (severe epilepsy)</a:t>
            </a:r>
          </a:p>
          <a:p>
            <a:r>
              <a:t>Example: CACNA1A (Cav2.1) GOF mutation → familial hemiplegic migraine</a:t>
            </a:r>
          </a:p>
          <a:p>
            <a:r>
              <a:t>Example: KCNH2 (hERG) drug block → drug-induced arrhythmia (MUST AVOID)</a:t>
            </a:r>
          </a:p>
          <a:p/>
          <a:p>
            <a:r>
              <a:t>STEP 2 — QSAR MODELING (today's lecture):</a:t>
            </a:r>
          </a:p>
          <a:p>
            <a:r>
              <a:t>Collect experimental IC50 data for the target channel from ChEMBL / internal databases.</a:t>
            </a:r>
          </a:p>
          <a:p>
            <a:r>
              <a:t>Train a QSAR model: molecular features (ECFP4 + descriptors) → predicted IC50.</a:t>
            </a:r>
          </a:p>
          <a:p>
            <a:r>
              <a:t>Evaluate with scaffold split.</a:t>
            </a:r>
          </a:p>
          <a:p>
            <a:r>
              <a:t>Interpret with SHAP → understand which molecular features drive potency.</a:t>
            </a:r>
          </a:p>
          <a:p/>
          <a:p>
            <a:r>
              <a:t>STEP 3 — HH SIMULATION (physiological impact prediction):</a:t>
            </a:r>
          </a:p>
          <a:p>
            <a:r>
              <a:t>Take the predicted IC50. Calculate what fraction of channels are blocked at a therapeutic concentration (using IC50 and plasma concentration estimates). Set g_channel = g_max × (1 - fraction_blocked) in the HH model. Simulate: does the neuron behave differently? Better (therapeutic)? Worse (side effect)?</a:t>
            </a:r>
          </a:p>
          <a:p/>
          <a:p>
            <a:r>
              <a:t>STEP 4 — SPIKERBOX VALIDATION (in vitro):</a:t>
            </a:r>
          </a:p>
          <a:p>
            <a:r>
              <a:t>Synthesise the top predicted compounds. Test on SpikerBox: add compound to preparation, observe neural firing change. Compare to HH prediction.</a:t>
            </a:r>
          </a:p>
          <a:p/>
          <a:p>
            <a:r>
              <a:t>STEP 5 — ANIMAL MODELS (in vivo):</a:t>
            </a:r>
          </a:p>
          <a:p>
            <a:r>
              <a:t>Test in rodent models of the disease (epilepsy: pentylenetetrazol seizure model; pain: von Frey test; arrhythmia: ECG QT measurement). Does the drug work? Are there side effects?</a:t>
            </a:r>
          </a:p>
          <a:p/>
          <a:p>
            <a:r>
              <a:t>STEP 6 — CLINICAL TRIALS (human):</a:t>
            </a:r>
          </a:p>
          <a:p>
            <a:r>
              <a:t>Phase I: safety in healthy volunteers. Phase II: dose-finding in patients. Phase III: efficacy vs. placebo in large trial. FDA/EMA approval.</a:t>
            </a:r>
          </a:p>
          <a:p/>
          <a:p>
            <a:r>
              <a:t>THE QSAR MODEL'S ROLE IN THIS PIPELINE:</a:t>
            </a:r>
          </a:p>
          <a:p>
            <a:r>
              <a:t>QSAR screens billions of virtual compounds at Step 2, filtering down to hundreds for synthesis and testing at Step 3-4. Without AI, Steps 2-3 would require synthesizing and testing every candidate — prohibitively expensive. With AI: test 10 × cheaper candidates, 10 × faster.</a:t>
            </a:r>
          </a:p>
          <a:p/>
          <a:p>
            <a:r>
              <a:t>FOR STUDENT PROJECTS:</a:t>
            </a:r>
          </a:p>
          <a:p>
            <a:r>
              <a:t>Project 1 (SpikerBot): You'll use the SpikerBox to validate QSAR predictions for Nav blockers in cockroach preparation.</a:t>
            </a:r>
          </a:p>
          <a:p>
            <a:r>
              <a:t>Project 2 (GABA-A): Train a QSAR model for GABA-A modulator IC50. Predict selectivity over other Cys-loop channels.</a:t>
            </a:r>
          </a:p>
          <a:p>
            <a:r>
              <a:t>Project 3 (Drug repurposing): Use HH simulation to predict which existing drugs could treat a neural channelopathy.</a:t>
            </a:r>
          </a:p>
          <a:p>
            <a:r>
              <a:t>Project 4 (Eye-tracking): Use the pupillary light reflex (controlled by M-current, Ih, Nav in EW neurons) as an in vivo readout of drug effects on these HH channels.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 of the HH Explainer deck. Students (or instructors) who have worked through this deck understand: (1) the 4 HH equations and what each term means physically, (2) the gating variables m, h, n and their biophysical basis, (3) extensions: A-current, Cav, Ih, I_NaP, synaptic conductances, cable theory, (4) drug targets at every level, (5) how HH connects to QSAR and AI drug discovery. This deck provides the theoretical foundation for interpreting all computational neuroscience results in the course.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375E"/>
        </a:solidFill>
        <a:effectLst/>
      </p:bgPr>
    </p:bg>
    <p:spTree>
      <p:nvGrpSpPr>
        <p:cNvPr id="1" name=""/>
        <p:cNvGrpSpPr/>
        <p:nvPr/>
      </p:nvGrpSpPr>
      <p:grpSpPr/>
      <p:sp>
        <p:nvSpPr>
          <p:cNvPr id="2" name="TextBox 1"/>
          <p:cNvSpPr txBox="1"/>
          <p:nvPr/>
        </p:nvSpPr>
        <p:spPr>
          <a:xfrm>
            <a:off x="731520" y="548640"/>
            <a:ext cx="4572000" cy="548640"/>
          </a:xfrm>
          <a:prstGeom prst="rect">
            <a:avLst/>
          </a:prstGeom>
          <a:noFill/>
        </p:spPr>
        <p:txBody>
          <a:bodyPr wrap="square">
            <a:spAutoFit/>
          </a:bodyPr>
          <a:lstStyle/>
          <a:p>
            <a:pPr algn="l">
              <a:defRPr sz="1600" b="1">
                <a:solidFill>
                  <a:srgbClr val="1F77B4"/>
                </a:solidFill>
                <a:latin typeface="Calibri"/>
              </a:defRPr>
            </a:pPr>
            <a:r>
              <a:t>DAY 1 — 22 April 2026</a:t>
            </a:r>
          </a:p>
        </p:txBody>
      </p:sp>
      <p:sp>
        <p:nvSpPr>
          <p:cNvPr id="3" name="TextBox 2"/>
          <p:cNvSpPr txBox="1"/>
          <p:nvPr/>
        </p:nvSpPr>
        <p:spPr>
          <a:xfrm>
            <a:off x="731520" y="1645920"/>
            <a:ext cx="10058400" cy="1828800"/>
          </a:xfrm>
          <a:prstGeom prst="rect">
            <a:avLst/>
          </a:prstGeom>
          <a:noFill/>
        </p:spPr>
        <p:txBody>
          <a:bodyPr wrap="square">
            <a:spAutoFit/>
          </a:bodyPr>
          <a:lstStyle/>
          <a:p>
            <a:pPr algn="l">
              <a:defRPr sz="4400" b="1">
                <a:solidFill>
                  <a:srgbClr val="FFFFFF"/>
                </a:solidFill>
                <a:latin typeface="Calibri"/>
              </a:defRPr>
            </a:pPr>
            <a:r>
              <a:t>The Hodgkin-Huxley Model — A Complete Guide</a:t>
            </a:r>
          </a:p>
        </p:txBody>
      </p:sp>
      <p:sp>
        <p:nvSpPr>
          <p:cNvPr id="4" name="TextBox 3"/>
          <p:cNvSpPr txBox="1"/>
          <p:nvPr/>
        </p:nvSpPr>
        <p:spPr>
          <a:xfrm>
            <a:off x="731520" y="3657600"/>
            <a:ext cx="10058400" cy="914400"/>
          </a:xfrm>
          <a:prstGeom prst="rect">
            <a:avLst/>
          </a:prstGeom>
          <a:noFill/>
        </p:spPr>
        <p:txBody>
          <a:bodyPr wrap="square">
            <a:spAutoFit/>
          </a:bodyPr>
          <a:lstStyle/>
          <a:p>
            <a:pPr algn="l">
              <a:defRPr sz="2200" b="0">
                <a:solidFill>
                  <a:srgbClr val="F0F0F0"/>
                </a:solidFill>
                <a:latin typeface="Calibri"/>
              </a:defRPr>
            </a:pPr>
            <a:r>
              <a:t>Understanding the equations of the action potential, channel extensions, and drug targets</a:t>
            </a:r>
          </a:p>
        </p:txBody>
      </p:sp>
      <p:sp>
        <p:nvSpPr>
          <p:cNvPr id="5" name="TextBox 4"/>
          <p:cNvSpPr txBox="1"/>
          <p:nvPr/>
        </p:nvSpPr>
        <p:spPr>
          <a:xfrm>
            <a:off x="731520" y="5669280"/>
            <a:ext cx="4572000" cy="457200"/>
          </a:xfrm>
          <a:prstGeom prst="rect">
            <a:avLst/>
          </a:prstGeom>
          <a:noFill/>
        </p:spPr>
        <p:txBody>
          <a:bodyPr wrap="square">
            <a:spAutoFit/>
          </a:bodyPr>
          <a:lstStyle/>
          <a:p>
            <a:pPr algn="l">
              <a:defRPr sz="1400" b="0">
                <a:solidFill>
                  <a:srgbClr val="1F77B4"/>
                </a:solidFill>
                <a:latin typeface="Calibri"/>
              </a:defRPr>
            </a:pPr>
            <a:r>
              <a:t>AI for Drug Discovery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The Neuron as an Electrical Circuit</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The HH model treats a patch of membrane as an electrical circuit:</a:t>
            </a:r>
          </a:p>
          <a:p>
            <a:pPr>
              <a:spcAft>
                <a:spcPts val="800"/>
              </a:spcAft>
              <a:defRPr sz="2000">
                <a:solidFill>
                  <a:srgbClr val="323232"/>
                </a:solidFill>
                <a:latin typeface="Calibri"/>
              </a:defRPr>
            </a:pPr>
            <a:r>
              <a:t>  Membrane (lipid bilayer) = CAPACITOR (stores charge)</a:t>
            </a:r>
          </a:p>
          <a:p>
            <a:pPr>
              <a:spcAft>
                <a:spcPts val="800"/>
              </a:spcAft>
              <a:defRPr sz="2000">
                <a:solidFill>
                  <a:srgbClr val="323232"/>
                </a:solidFill>
                <a:latin typeface="Calibri"/>
              </a:defRPr>
            </a:pPr>
            <a:r>
              <a:t>  Ion channels (Nav, Kv, leak) = RESISTORS in parallel</a:t>
            </a:r>
          </a:p>
          <a:p>
            <a:pPr>
              <a:spcAft>
                <a:spcPts val="800"/>
              </a:spcAft>
              <a:defRPr sz="2000">
                <a:solidFill>
                  <a:srgbClr val="323232"/>
                </a:solidFill>
                <a:latin typeface="Calibri"/>
              </a:defRPr>
            </a:pPr>
            <a:r>
              <a:t>  Ion pumps (Na+/K+ ATPase) = BATTERIES (maintain gradients)</a:t>
            </a:r>
          </a:p>
          <a:p>
            <a:pPr>
              <a:spcAft>
                <a:spcPts val="800"/>
              </a:spcAft>
              <a:defRPr sz="2000">
                <a:solidFill>
                  <a:srgbClr val="323232"/>
                </a:solidFill>
                <a:latin typeface="Calibri"/>
              </a:defRPr>
            </a:pPr>
            <a:r>
              <a:t>  Cytoplasm = conducting WIRE along the axon</a:t>
            </a:r>
          </a:p>
          <a:p>
            <a:pPr>
              <a:spcAft>
                <a:spcPts val="800"/>
              </a:spcAft>
              <a:defRPr sz="2000">
                <a:solidFill>
                  <a:srgbClr val="323232"/>
                </a:solidFill>
                <a:latin typeface="Calibri"/>
              </a:defRPr>
            </a:pPr>
          </a:p>
          <a:p>
            <a:pPr>
              <a:spcAft>
                <a:spcPts val="800"/>
              </a:spcAft>
              <a:defRPr sz="2000">
                <a:solidFill>
                  <a:srgbClr val="323232"/>
                </a:solidFill>
                <a:latin typeface="Calibri"/>
              </a:defRPr>
            </a:pPr>
            <a:r>
              <a:t>Key parameters:</a:t>
            </a:r>
          </a:p>
          <a:p>
            <a:pPr>
              <a:spcAft>
                <a:spcPts val="800"/>
              </a:spcAft>
              <a:defRPr sz="2000">
                <a:solidFill>
                  <a:srgbClr val="323232"/>
                </a:solidFill>
                <a:latin typeface="Calibri"/>
              </a:defRPr>
            </a:pPr>
            <a:r>
              <a:t>  Cm = membrane capacitance = 1 µF/cm² (universal for all neurons)</a:t>
            </a:r>
          </a:p>
          <a:p>
            <a:pPr>
              <a:spcAft>
                <a:spcPts val="800"/>
              </a:spcAft>
              <a:defRPr sz="2000">
                <a:solidFill>
                  <a:srgbClr val="323232"/>
                </a:solidFill>
                <a:latin typeface="Calibri"/>
              </a:defRPr>
            </a:pPr>
            <a:r>
              <a:t>  g_Na, g_K, g_L = maximum conductances (how many open channels)</a:t>
            </a:r>
          </a:p>
          <a:p>
            <a:pPr>
              <a:spcAft>
                <a:spcPts val="800"/>
              </a:spcAft>
              <a:defRPr sz="2000">
                <a:solidFill>
                  <a:srgbClr val="323232"/>
                </a:solidFill>
                <a:latin typeface="Calibri"/>
              </a:defRPr>
            </a:pPr>
            <a:r>
              <a:t>  E_Na, E_K, E_L = reversal potentials (the 'battery voltages')</a:t>
            </a:r>
          </a:p>
          <a:p>
            <a:pPr>
              <a:spcAft>
                <a:spcPts val="800"/>
              </a:spcAft>
              <a:defRPr sz="2000">
                <a:solidFill>
                  <a:srgbClr val="323232"/>
                </a:solidFill>
                <a:latin typeface="Calibri"/>
              </a:defRPr>
            </a:pPr>
          </a:p>
          <a:p>
            <a:pPr>
              <a:spcAft>
                <a:spcPts val="800"/>
              </a:spcAft>
              <a:defRPr sz="2000">
                <a:solidFill>
                  <a:srgbClr val="323232"/>
                </a:solidFill>
                <a:latin typeface="Calibri"/>
              </a:defRPr>
            </a:pPr>
            <a:r>
              <a:t>Kirchhoff's current law: total current in = total current out</a:t>
            </a:r>
          </a:p>
          <a:p>
            <a:pPr>
              <a:spcAft>
                <a:spcPts val="800"/>
              </a:spcAft>
              <a:defRPr sz="2000">
                <a:solidFill>
                  <a:srgbClr val="323232"/>
                </a:solidFill>
                <a:latin typeface="Calibri"/>
              </a:defRPr>
            </a:pPr>
            <a:r>
              <a:t>  Cm × dV/dt = external current - sum of ionic currents</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The Four Hodgkin-Huxley Equations</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Equation 1 — Membrane voltage V (in mV):</a:t>
            </a:r>
          </a:p>
          <a:p>
            <a:pPr>
              <a:spcAft>
                <a:spcPts val="800"/>
              </a:spcAft>
              <a:defRPr sz="2000">
                <a:solidFill>
                  <a:srgbClr val="323232"/>
                </a:solidFill>
                <a:latin typeface="Calibri"/>
              </a:defRPr>
            </a:pPr>
            <a:r>
              <a:t>  Cm × dV/dt = I_ext - g_Na×m³h×(V-E_Na) - g_K×n⁴×(V-E_K) - g_L×(V-E_L)</a:t>
            </a:r>
          </a:p>
          <a:p>
            <a:pPr>
              <a:spcAft>
                <a:spcPts val="800"/>
              </a:spcAft>
              <a:defRPr sz="2000">
                <a:solidFill>
                  <a:srgbClr val="323232"/>
                </a:solidFill>
                <a:latin typeface="Calibri"/>
              </a:defRPr>
            </a:pPr>
          </a:p>
          <a:p>
            <a:pPr>
              <a:spcAft>
                <a:spcPts val="800"/>
              </a:spcAft>
              <a:defRPr sz="2000">
                <a:solidFill>
                  <a:srgbClr val="323232"/>
                </a:solidFill>
                <a:latin typeface="Calibri"/>
              </a:defRPr>
            </a:pPr>
            <a:r>
              <a:t>Equation 2 — Na+ activation gate m (0 ≤ m ≤ 1):</a:t>
            </a:r>
          </a:p>
          <a:p>
            <a:pPr>
              <a:spcAft>
                <a:spcPts val="800"/>
              </a:spcAft>
              <a:defRPr sz="2000">
                <a:solidFill>
                  <a:srgbClr val="323232"/>
                </a:solidFill>
                <a:latin typeface="Calibri"/>
              </a:defRPr>
            </a:pPr>
            <a:r>
              <a:t>  dm/dt = αm(V)×(1-m) - βm(V)×m</a:t>
            </a:r>
          </a:p>
          <a:p>
            <a:pPr>
              <a:spcAft>
                <a:spcPts val="800"/>
              </a:spcAft>
              <a:defRPr sz="2000">
                <a:solidFill>
                  <a:srgbClr val="323232"/>
                </a:solidFill>
                <a:latin typeface="Calibri"/>
              </a:defRPr>
            </a:pPr>
          </a:p>
          <a:p>
            <a:pPr>
              <a:spcAft>
                <a:spcPts val="800"/>
              </a:spcAft>
              <a:defRPr sz="2000">
                <a:solidFill>
                  <a:srgbClr val="323232"/>
                </a:solidFill>
                <a:latin typeface="Calibri"/>
              </a:defRPr>
            </a:pPr>
            <a:r>
              <a:t>Equation 3 — Na+ inactivation gate h (0 ≤ h ≤ 1):</a:t>
            </a:r>
          </a:p>
          <a:p>
            <a:pPr>
              <a:spcAft>
                <a:spcPts val="800"/>
              </a:spcAft>
              <a:defRPr sz="2000">
                <a:solidFill>
                  <a:srgbClr val="323232"/>
                </a:solidFill>
                <a:latin typeface="Calibri"/>
              </a:defRPr>
            </a:pPr>
            <a:r>
              <a:t>  dh/dt = αh(V)×(1-h) - βh(V)×h</a:t>
            </a:r>
          </a:p>
          <a:p>
            <a:pPr>
              <a:spcAft>
                <a:spcPts val="800"/>
              </a:spcAft>
              <a:defRPr sz="2000">
                <a:solidFill>
                  <a:srgbClr val="323232"/>
                </a:solidFill>
                <a:latin typeface="Calibri"/>
              </a:defRPr>
            </a:pPr>
          </a:p>
          <a:p>
            <a:pPr>
              <a:spcAft>
                <a:spcPts val="800"/>
              </a:spcAft>
              <a:defRPr sz="2000">
                <a:solidFill>
                  <a:srgbClr val="323232"/>
                </a:solidFill>
                <a:latin typeface="Calibri"/>
              </a:defRPr>
            </a:pPr>
            <a:r>
              <a:t>Equation 4 — K+ activation gate n (0 ≤ n ≤ 1):</a:t>
            </a:r>
          </a:p>
          <a:p>
            <a:pPr>
              <a:spcAft>
                <a:spcPts val="800"/>
              </a:spcAft>
              <a:defRPr sz="2000">
                <a:solidFill>
                  <a:srgbClr val="323232"/>
                </a:solidFill>
                <a:latin typeface="Calibri"/>
              </a:defRPr>
            </a:pPr>
            <a:r>
              <a:t>  dn/dt = αn(V)×(1-n) - βn(V)×n</a:t>
            </a:r>
          </a:p>
          <a:p>
            <a:pPr>
              <a:spcAft>
                <a:spcPts val="800"/>
              </a:spcAft>
              <a:defRPr sz="2000">
                <a:solidFill>
                  <a:srgbClr val="323232"/>
                </a:solidFill>
                <a:latin typeface="Calibri"/>
              </a:defRPr>
            </a:pPr>
          </a:p>
          <a:p>
            <a:pPr>
              <a:spcAft>
                <a:spcPts val="800"/>
              </a:spcAft>
              <a:defRPr sz="2000">
                <a:solidFill>
                  <a:srgbClr val="323232"/>
                </a:solidFill>
                <a:latin typeface="Calibri"/>
              </a:defRPr>
            </a:pPr>
            <a:r>
              <a:t>Parameters: g_Na=120, g_K=36, g_L=0.3 mS/cm² | Cm=1 µF/cm²</a:t>
            </a:r>
          </a:p>
          <a:p>
            <a:pPr>
              <a:spcAft>
                <a:spcPts val="800"/>
              </a:spcAft>
              <a:defRPr sz="2000">
                <a:solidFill>
                  <a:srgbClr val="323232"/>
                </a:solidFill>
                <a:latin typeface="Calibri"/>
              </a:defRPr>
            </a:pPr>
            <a:r>
              <a:t>E_Na=+55, E_K=-77, E_L=-54.4 mV | V_rest=-65 mV</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Gating Variables m, h, n — Physical Meaning</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Each gating variable represents a protein conformation probability:</a:t>
            </a:r>
          </a:p>
          <a:p>
            <a:pPr>
              <a:spcAft>
                <a:spcPts val="800"/>
              </a:spcAft>
              <a:defRPr sz="2000">
                <a:solidFill>
                  <a:srgbClr val="323232"/>
                </a:solidFill>
                <a:latin typeface="Calibri"/>
              </a:defRPr>
            </a:pPr>
          </a:p>
          <a:p>
            <a:pPr>
              <a:spcAft>
                <a:spcPts val="800"/>
              </a:spcAft>
              <a:defRPr sz="2000">
                <a:solidFill>
                  <a:srgbClr val="323232"/>
                </a:solidFill>
                <a:latin typeface="Calibri"/>
              </a:defRPr>
            </a:pPr>
            <a:r>
              <a:t>  m = Na+ channel activation gate (OPEN = 1)</a:t>
            </a:r>
          </a:p>
          <a:p>
            <a:pPr>
              <a:spcAft>
                <a:spcPts val="800"/>
              </a:spcAft>
              <a:defRPr sz="2000">
                <a:solidFill>
                  <a:srgbClr val="323232"/>
                </a:solidFill>
                <a:latin typeface="Calibri"/>
              </a:defRPr>
            </a:pPr>
            <a:r>
              <a:t>     Fast opening on depolarization (τm ~ 0.1-0.5 ms)</a:t>
            </a:r>
          </a:p>
          <a:p>
            <a:pPr>
              <a:spcAft>
                <a:spcPts val="800"/>
              </a:spcAft>
              <a:defRPr sz="2000">
                <a:solidFill>
                  <a:srgbClr val="323232"/>
                </a:solidFill>
                <a:latin typeface="Calibri"/>
              </a:defRPr>
            </a:pPr>
            <a:r>
              <a:t>     m∞(V): sigmoidal, half-activated at ~-40 mV</a:t>
            </a:r>
          </a:p>
          <a:p>
            <a:pPr>
              <a:spcAft>
                <a:spcPts val="800"/>
              </a:spcAft>
              <a:defRPr sz="2000">
                <a:solidFill>
                  <a:srgbClr val="323232"/>
                </a:solidFill>
                <a:latin typeface="Calibri"/>
              </a:defRPr>
            </a:pPr>
          </a:p>
          <a:p>
            <a:pPr>
              <a:spcAft>
                <a:spcPts val="800"/>
              </a:spcAft>
              <a:defRPr sz="2000">
                <a:solidFill>
                  <a:srgbClr val="323232"/>
                </a:solidFill>
                <a:latin typeface="Calibri"/>
              </a:defRPr>
            </a:pPr>
            <a:r>
              <a:t>  h = Na+ channel inactivation gate (PERMISSIVE = 1, INACTIVATED = 0)</a:t>
            </a:r>
          </a:p>
          <a:p>
            <a:pPr>
              <a:spcAft>
                <a:spcPts val="800"/>
              </a:spcAft>
              <a:defRPr sz="2000">
                <a:solidFill>
                  <a:srgbClr val="323232"/>
                </a:solidFill>
                <a:latin typeface="Calibri"/>
              </a:defRPr>
            </a:pPr>
            <a:r>
              <a:t>     Slow closing on depolarization (τh ~ 5-10 ms at spike peak)</a:t>
            </a:r>
          </a:p>
          <a:p>
            <a:pPr>
              <a:spcAft>
                <a:spcPts val="800"/>
              </a:spcAft>
              <a:defRPr sz="2000">
                <a:solidFill>
                  <a:srgbClr val="323232"/>
                </a:solidFill>
                <a:latin typeface="Calibri"/>
              </a:defRPr>
            </a:pPr>
            <a:r>
              <a:t>     h∞(V): sigmoidal but DECREASING — starts near 1 at rest</a:t>
            </a:r>
          </a:p>
          <a:p>
            <a:pPr>
              <a:spcAft>
                <a:spcPts val="800"/>
              </a:spcAft>
              <a:defRPr sz="2000">
                <a:solidFill>
                  <a:srgbClr val="323232"/>
                </a:solidFill>
                <a:latin typeface="Calibri"/>
              </a:defRPr>
            </a:pPr>
            <a:r>
              <a:t>     Causes refractory period: h → 0 after spike → must recover</a:t>
            </a:r>
          </a:p>
          <a:p>
            <a:pPr>
              <a:spcAft>
                <a:spcPts val="800"/>
              </a:spcAft>
              <a:defRPr sz="2000">
                <a:solidFill>
                  <a:srgbClr val="323232"/>
                </a:solidFill>
                <a:latin typeface="Calibri"/>
              </a:defRPr>
            </a:pPr>
          </a:p>
          <a:p>
            <a:pPr>
              <a:spcAft>
                <a:spcPts val="800"/>
              </a:spcAft>
              <a:defRPr sz="2000">
                <a:solidFill>
                  <a:srgbClr val="323232"/>
                </a:solidFill>
                <a:latin typeface="Calibri"/>
              </a:defRPr>
            </a:pPr>
            <a:r>
              <a:t>  n = K+ channel activation gate (OPEN = 1)</a:t>
            </a:r>
          </a:p>
          <a:p>
            <a:pPr>
              <a:spcAft>
                <a:spcPts val="800"/>
              </a:spcAft>
              <a:defRPr sz="2000">
                <a:solidFill>
                  <a:srgbClr val="323232"/>
                </a:solidFill>
                <a:latin typeface="Calibri"/>
              </a:defRPr>
            </a:pPr>
            <a:r>
              <a:t>     Intermediate speed (τn ~ 1-5 ms)</a:t>
            </a:r>
          </a:p>
          <a:p>
            <a:pPr>
              <a:spcAft>
                <a:spcPts val="800"/>
              </a:spcAft>
              <a:defRPr sz="2000">
                <a:solidFill>
                  <a:srgbClr val="323232"/>
                </a:solidFill>
                <a:latin typeface="Calibri"/>
              </a:defRPr>
            </a:pPr>
            <a:r>
              <a:t>     n∞(V): sigmoidal, half-activated at ~-15 mV</a:t>
            </a:r>
          </a:p>
          <a:p>
            <a:pPr>
              <a:spcAft>
                <a:spcPts val="800"/>
              </a:spcAft>
              <a:defRPr sz="2000">
                <a:solidFill>
                  <a:srgbClr val="323232"/>
                </a:solidFill>
                <a:latin typeface="Calibri"/>
              </a:defRPr>
            </a:pPr>
          </a:p>
          <a:p>
            <a:pPr>
              <a:spcAft>
                <a:spcPts val="800"/>
              </a:spcAft>
              <a:defRPr sz="2000">
                <a:solidFill>
                  <a:srgbClr val="323232"/>
                </a:solidFill>
                <a:latin typeface="Calibri"/>
              </a:defRPr>
            </a:pPr>
            <a:r>
              <a:t>All three: two-state Markov chain. α = opening rate, β = closing rate</a:t>
            </a:r>
          </a:p>
          <a:p>
            <a:pPr>
              <a:spcAft>
                <a:spcPts val="800"/>
              </a:spcAft>
              <a:defRPr sz="2000">
                <a:solidFill>
                  <a:srgbClr val="323232"/>
                </a:solidFill>
                <a:latin typeface="Calibri"/>
              </a:defRPr>
            </a:pPr>
            <a:r>
              <a:t>Steady-state: x∞ = α/(α+β)  |  Time constant: τx = 1/(α+β)</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The Action Potential Step-by-Step (HH Simulation)</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t=0 ms: V = -65 mV, m=0.05, h=0.60, n=0.32</a:t>
            </a:r>
          </a:p>
          <a:p>
            <a:pPr>
              <a:spcAft>
                <a:spcPts val="800"/>
              </a:spcAft>
              <a:defRPr sz="2000">
                <a:solidFill>
                  <a:srgbClr val="323232"/>
                </a:solidFill>
                <a:latin typeface="Calibri"/>
              </a:defRPr>
            </a:pPr>
            <a:r>
              <a:t>  → m³h = 0.05³×0.60 = 0.0001 (tiny Na+ current)</a:t>
            </a:r>
          </a:p>
          <a:p>
            <a:pPr>
              <a:spcAft>
                <a:spcPts val="800"/>
              </a:spcAft>
              <a:defRPr sz="2000">
                <a:solidFill>
                  <a:srgbClr val="323232"/>
                </a:solidFill>
                <a:latin typeface="Calibri"/>
              </a:defRPr>
            </a:pPr>
            <a:r>
              <a:t>  → n⁴ = 0.32⁴ = 0.01 (small K+ current)</a:t>
            </a:r>
          </a:p>
          <a:p>
            <a:pPr>
              <a:spcAft>
                <a:spcPts val="800"/>
              </a:spcAft>
              <a:defRPr sz="2000">
                <a:solidFill>
                  <a:srgbClr val="323232"/>
                </a:solidFill>
                <a:latin typeface="Calibri"/>
              </a:defRPr>
            </a:pPr>
            <a:r>
              <a:t>  → Resting: balanced currents</a:t>
            </a:r>
          </a:p>
          <a:p>
            <a:pPr>
              <a:spcAft>
                <a:spcPts val="800"/>
              </a:spcAft>
              <a:defRPr sz="2000">
                <a:solidFill>
                  <a:srgbClr val="323232"/>
                </a:solidFill>
                <a:latin typeface="Calibri"/>
              </a:defRPr>
            </a:pPr>
          </a:p>
          <a:p>
            <a:pPr>
              <a:spcAft>
                <a:spcPts val="800"/>
              </a:spcAft>
              <a:defRPr sz="2000">
                <a:solidFill>
                  <a:srgbClr val="323232"/>
                </a:solidFill>
                <a:latin typeface="Calibri"/>
              </a:defRPr>
            </a:pPr>
            <a:r>
              <a:t>t=0.1 ms: I_ext steps up → V depolarises to -55 mV</a:t>
            </a:r>
          </a:p>
          <a:p>
            <a:pPr>
              <a:spcAft>
                <a:spcPts val="800"/>
              </a:spcAft>
              <a:defRPr sz="2000">
                <a:solidFill>
                  <a:srgbClr val="323232"/>
                </a:solidFill>
                <a:latin typeface="Calibri"/>
              </a:defRPr>
            </a:pPr>
            <a:r>
              <a:t>  → m∞(-55) ≈ 0.20 → m starts rising (τm ~ 0.3 ms)</a:t>
            </a:r>
          </a:p>
          <a:p>
            <a:pPr>
              <a:spcAft>
                <a:spcPts val="800"/>
              </a:spcAft>
              <a:defRPr sz="2000">
                <a:solidFill>
                  <a:srgbClr val="323232"/>
                </a:solidFill>
                <a:latin typeface="Calibri"/>
              </a:defRPr>
            </a:pPr>
          </a:p>
          <a:p>
            <a:pPr>
              <a:spcAft>
                <a:spcPts val="800"/>
              </a:spcAft>
              <a:defRPr sz="2000">
                <a:solidFill>
                  <a:srgbClr val="323232"/>
                </a:solidFill>
                <a:latin typeface="Calibri"/>
              </a:defRPr>
            </a:pPr>
            <a:r>
              <a:t>t=0.5 ms: m ≈ 0.8, V ≈ +20 mV (SPIKE PEAK)</a:t>
            </a:r>
          </a:p>
          <a:p>
            <a:pPr>
              <a:spcAft>
                <a:spcPts val="800"/>
              </a:spcAft>
              <a:defRPr sz="2000">
                <a:solidFill>
                  <a:srgbClr val="323232"/>
                </a:solidFill>
                <a:latin typeface="Calibri"/>
              </a:defRPr>
            </a:pPr>
            <a:r>
              <a:t>  → m³ = 0.51, h still ≈ 0.50 → I_Na huge (inward)</a:t>
            </a:r>
          </a:p>
          <a:p>
            <a:pPr>
              <a:spcAft>
                <a:spcPts val="800"/>
              </a:spcAft>
              <a:defRPr sz="2000">
                <a:solidFill>
                  <a:srgbClr val="323232"/>
                </a:solidFill>
                <a:latin typeface="Calibri"/>
              </a:defRPr>
            </a:pPr>
            <a:r>
              <a:t>  → n still rising slowly → I_K not yet large</a:t>
            </a:r>
          </a:p>
          <a:p>
            <a:pPr>
              <a:spcAft>
                <a:spcPts val="800"/>
              </a:spcAft>
              <a:defRPr sz="2000">
                <a:solidFill>
                  <a:srgbClr val="323232"/>
                </a:solidFill>
                <a:latin typeface="Calibri"/>
              </a:defRPr>
            </a:pPr>
          </a:p>
          <a:p>
            <a:pPr>
              <a:spcAft>
                <a:spcPts val="800"/>
              </a:spcAft>
              <a:defRPr sz="2000">
                <a:solidFill>
                  <a:srgbClr val="323232"/>
                </a:solidFill>
                <a:latin typeface="Calibri"/>
              </a:defRPr>
            </a:pPr>
            <a:r>
              <a:t>t=1.0 ms: h → 0.05 (inactivated), n → 0.70</a:t>
            </a:r>
          </a:p>
          <a:p>
            <a:pPr>
              <a:spcAft>
                <a:spcPts val="800"/>
              </a:spcAft>
              <a:defRPr sz="2000">
                <a:solidFill>
                  <a:srgbClr val="323232"/>
                </a:solidFill>
                <a:latin typeface="Calibri"/>
              </a:defRPr>
            </a:pPr>
            <a:r>
              <a:t>  → Na+ current collapses, K+ current dominates → REPOLARIZATION</a:t>
            </a:r>
          </a:p>
          <a:p>
            <a:pPr>
              <a:spcAft>
                <a:spcPts val="800"/>
              </a:spcAft>
              <a:defRPr sz="2000">
                <a:solidFill>
                  <a:srgbClr val="323232"/>
                </a:solidFill>
                <a:latin typeface="Calibri"/>
              </a:defRPr>
            </a:pPr>
          </a:p>
          <a:p>
            <a:pPr>
              <a:spcAft>
                <a:spcPts val="800"/>
              </a:spcAft>
              <a:defRPr sz="2000">
                <a:solidFill>
                  <a:srgbClr val="323232"/>
                </a:solidFill>
                <a:latin typeface="Calibri"/>
              </a:defRPr>
            </a:pPr>
            <a:r>
              <a:t>t=2.0 ms: V undershoots to -80 mV (after-hyperpolarisation, AHP)</a:t>
            </a:r>
          </a:p>
          <a:p>
            <a:pPr>
              <a:spcAft>
                <a:spcPts val="800"/>
              </a:spcAft>
              <a:defRPr sz="2000">
                <a:solidFill>
                  <a:srgbClr val="323232"/>
                </a:solidFill>
                <a:latin typeface="Calibri"/>
              </a:defRPr>
            </a:pPr>
            <a:r>
              <a:t>  → n still elevated (slow to close) → extra K+ out</a:t>
            </a:r>
          </a:p>
          <a:p>
            <a:pPr>
              <a:spcAft>
                <a:spcPts val="800"/>
              </a:spcAft>
              <a:defRPr sz="2000">
                <a:solidFill>
                  <a:srgbClr val="323232"/>
                </a:solidFill>
                <a:latin typeface="Calibri"/>
              </a:defRPr>
            </a:pPr>
          </a:p>
          <a:p>
            <a:pPr>
              <a:spcAft>
                <a:spcPts val="800"/>
              </a:spcAft>
              <a:defRPr sz="2000">
                <a:solidFill>
                  <a:srgbClr val="323232"/>
                </a:solidFill>
                <a:latin typeface="Calibri"/>
              </a:defRPr>
            </a:pPr>
            <a:r>
              <a:t>t=5+ ms: h recovers → n closes → V returns to -65 mV</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Extension 1: The A-Current (Kv4, I_A)</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The original HH model has: I_Na (Nav), I_K (Kv), I_L (leak)</a:t>
            </a:r>
          </a:p>
          <a:p>
            <a:pPr>
              <a:spcAft>
                <a:spcPts val="800"/>
              </a:spcAft>
              <a:defRPr sz="2000">
                <a:solidFill>
                  <a:srgbClr val="323232"/>
                </a:solidFill>
                <a:latin typeface="Calibri"/>
              </a:defRPr>
            </a:pPr>
            <a:r>
              <a:t>Real neurons have many more channel types. Extensions ADD currents.</a:t>
            </a:r>
          </a:p>
          <a:p>
            <a:pPr>
              <a:spcAft>
                <a:spcPts val="800"/>
              </a:spcAft>
              <a:defRPr sz="2000">
                <a:solidFill>
                  <a:srgbClr val="323232"/>
                </a:solidFill>
                <a:latin typeface="Calibri"/>
              </a:defRPr>
            </a:pPr>
          </a:p>
          <a:p>
            <a:pPr>
              <a:spcAft>
                <a:spcPts val="800"/>
              </a:spcAft>
              <a:defRPr sz="2000">
                <a:solidFill>
                  <a:srgbClr val="323232"/>
                </a:solidFill>
                <a:latin typeface="Calibri"/>
              </a:defRPr>
            </a:pPr>
            <a:r>
              <a:t>I_A (A-type K+ current, Kv4.1/4.2/4.3):</a:t>
            </a:r>
          </a:p>
          <a:p>
            <a:pPr>
              <a:spcAft>
                <a:spcPts val="800"/>
              </a:spcAft>
              <a:defRPr sz="2000">
                <a:solidFill>
                  <a:srgbClr val="323232"/>
                </a:solidFill>
                <a:latin typeface="Calibri"/>
              </a:defRPr>
            </a:pPr>
            <a:r>
              <a:t>  I_A = g_A × a³ × b × (V - E_K)</a:t>
            </a:r>
          </a:p>
          <a:p>
            <a:pPr>
              <a:spcAft>
                <a:spcPts val="800"/>
              </a:spcAft>
              <a:defRPr sz="2000">
                <a:solidFill>
                  <a:srgbClr val="323232"/>
                </a:solidFill>
                <a:latin typeface="Calibri"/>
              </a:defRPr>
            </a:pPr>
            <a:r>
              <a:t>  a = activation gate (fast, like m)</a:t>
            </a:r>
          </a:p>
          <a:p>
            <a:pPr>
              <a:spcAft>
                <a:spcPts val="800"/>
              </a:spcAft>
              <a:defRPr sz="2000">
                <a:solidFill>
                  <a:srgbClr val="323232"/>
                </a:solidFill>
                <a:latin typeface="Calibri"/>
              </a:defRPr>
            </a:pPr>
            <a:r>
              <a:t>  b = inactivation gate (fast — completely inactivates within ~50 ms)</a:t>
            </a:r>
          </a:p>
          <a:p>
            <a:pPr>
              <a:spcAft>
                <a:spcPts val="800"/>
              </a:spcAft>
              <a:defRPr sz="2000">
                <a:solidFill>
                  <a:srgbClr val="323232"/>
                </a:solidFill>
                <a:latin typeface="Calibri"/>
              </a:defRPr>
            </a:pPr>
          </a:p>
          <a:p>
            <a:pPr>
              <a:spcAft>
                <a:spcPts val="800"/>
              </a:spcAft>
              <a:defRPr sz="2000">
                <a:solidFill>
                  <a:srgbClr val="323232"/>
                </a:solidFill>
                <a:latin typeface="Calibri"/>
              </a:defRPr>
            </a:pPr>
            <a:r>
              <a:t>Biophysical role:</a:t>
            </a:r>
          </a:p>
          <a:p>
            <a:pPr>
              <a:spcAft>
                <a:spcPts val="800"/>
              </a:spcAft>
              <a:defRPr sz="2000">
                <a:solidFill>
                  <a:srgbClr val="323232"/>
                </a:solidFill>
                <a:latin typeface="Calibri"/>
              </a:defRPr>
            </a:pPr>
            <a:r>
              <a:t>  Activates near rest (-70 to -60 mV) — low threshold</a:t>
            </a:r>
          </a:p>
          <a:p>
            <a:pPr>
              <a:spcAft>
                <a:spcPts val="800"/>
              </a:spcAft>
              <a:defRPr sz="2000">
                <a:solidFill>
                  <a:srgbClr val="323232"/>
                </a:solidFill>
                <a:latin typeface="Calibri"/>
              </a:defRPr>
            </a:pPr>
            <a:r>
              <a:t>  Transiently delays the FIRST spike after hyperpolarisation</a:t>
            </a:r>
          </a:p>
          <a:p>
            <a:pPr>
              <a:spcAft>
                <a:spcPts val="800"/>
              </a:spcAft>
              <a:defRPr sz="2000">
                <a:solidFill>
                  <a:srgbClr val="323232"/>
                </a:solidFill>
                <a:latin typeface="Calibri"/>
              </a:defRPr>
            </a:pPr>
            <a:r>
              <a:t>  Controls inter-spike interval and firing rate</a:t>
            </a:r>
          </a:p>
          <a:p>
            <a:pPr>
              <a:spcAft>
                <a:spcPts val="800"/>
              </a:spcAft>
              <a:defRPr sz="2000">
                <a:solidFill>
                  <a:srgbClr val="323232"/>
                </a:solidFill>
                <a:latin typeface="Calibri"/>
              </a:defRPr>
            </a:pPr>
            <a:r>
              <a:t>  'Anti-burst' function: prevents rapid re-firing</a:t>
            </a:r>
          </a:p>
          <a:p>
            <a:pPr>
              <a:spcAft>
                <a:spcPts val="800"/>
              </a:spcAft>
              <a:defRPr sz="2000">
                <a:solidFill>
                  <a:srgbClr val="323232"/>
                </a:solidFill>
                <a:latin typeface="Calibri"/>
              </a:defRPr>
            </a:pPr>
          </a:p>
          <a:p>
            <a:pPr>
              <a:spcAft>
                <a:spcPts val="800"/>
              </a:spcAft>
              <a:defRPr sz="2000">
                <a:solidFill>
                  <a:srgbClr val="323232"/>
                </a:solidFill>
                <a:latin typeface="Calibri"/>
              </a:defRPr>
            </a:pPr>
            <a:r>
              <a:t>Drug relevance: Kv4 blockers (4-AP, fampridine) slow K+ repolarisation</a:t>
            </a:r>
          </a:p>
          <a:p>
            <a:pPr>
              <a:spcAft>
                <a:spcPts val="800"/>
              </a:spcAft>
              <a:defRPr sz="2000">
                <a:solidFill>
                  <a:srgbClr val="323232"/>
                </a:solidFill>
                <a:latin typeface="Calibri"/>
              </a:defRPr>
            </a:pPr>
            <a:r>
              <a:t>  Clinical: fampridine (Ampyra) for MS — improves walking</a:t>
            </a:r>
          </a:p>
          <a:p>
            <a:pPr>
              <a:spcAft>
                <a:spcPts val="800"/>
              </a:spcAft>
              <a:defRPr sz="2000">
                <a:solidFill>
                  <a:srgbClr val="323232"/>
                </a:solidFill>
                <a:latin typeface="Calibri"/>
              </a:defRPr>
            </a:pPr>
            <a:r>
              <a:t>  Problem: 4-AP also blocks hERG (cardiac risk!)</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Extension 2: Voltage-Gated Calcium Channels (Cav)</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Ca2+ is the universal second messenger in the nervous system</a:t>
            </a:r>
          </a:p>
          <a:p>
            <a:pPr>
              <a:spcAft>
                <a:spcPts val="800"/>
              </a:spcAft>
              <a:defRPr sz="2000">
                <a:solidFill>
                  <a:srgbClr val="323232"/>
                </a:solidFill>
                <a:latin typeface="Calibri"/>
              </a:defRPr>
            </a:pPr>
            <a:r>
              <a:t>  Triggers: NT release, muscle contraction, gene expression</a:t>
            </a:r>
          </a:p>
          <a:p>
            <a:pPr>
              <a:spcAft>
                <a:spcPts val="800"/>
              </a:spcAft>
              <a:defRPr sz="2000">
                <a:solidFill>
                  <a:srgbClr val="323232"/>
                </a:solidFill>
                <a:latin typeface="Calibri"/>
              </a:defRPr>
            </a:pPr>
            <a:r>
              <a:t>  Intracellular Ca2+ at rest: ~100 nM | Extracellular: ~2 mM</a:t>
            </a:r>
          </a:p>
          <a:p>
            <a:pPr>
              <a:spcAft>
                <a:spcPts val="800"/>
              </a:spcAft>
              <a:defRPr sz="2000">
                <a:solidFill>
                  <a:srgbClr val="323232"/>
                </a:solidFill>
                <a:latin typeface="Calibri"/>
              </a:defRPr>
            </a:pPr>
            <a:r>
              <a:t>  → 20,000x gradient PLUS electrical gradient → huge driving force</a:t>
            </a:r>
          </a:p>
          <a:p>
            <a:pPr>
              <a:spcAft>
                <a:spcPts val="800"/>
              </a:spcAft>
              <a:defRPr sz="2000">
                <a:solidFill>
                  <a:srgbClr val="323232"/>
                </a:solidFill>
                <a:latin typeface="Calibri"/>
              </a:defRPr>
            </a:pPr>
          </a:p>
          <a:p>
            <a:pPr>
              <a:spcAft>
                <a:spcPts val="800"/>
              </a:spcAft>
              <a:defRPr sz="2000">
                <a:solidFill>
                  <a:srgbClr val="323232"/>
                </a:solidFill>
                <a:latin typeface="Calibri"/>
              </a:defRPr>
            </a:pPr>
            <a:r>
              <a:t>HH extension: I_Ca = g_Ca × m² × h_Ca × (V - E_Ca)</a:t>
            </a:r>
          </a:p>
          <a:p>
            <a:pPr>
              <a:spcAft>
                <a:spcPts val="800"/>
              </a:spcAft>
              <a:defRPr sz="2000">
                <a:solidFill>
                  <a:srgbClr val="323232"/>
                </a:solidFill>
                <a:latin typeface="Calibri"/>
              </a:defRPr>
            </a:pPr>
            <a:r>
              <a:t>  E_Ca ≈ +140 mV (high because of the extreme concentration gradient)</a:t>
            </a:r>
          </a:p>
          <a:p>
            <a:pPr>
              <a:spcAft>
                <a:spcPts val="800"/>
              </a:spcAft>
              <a:defRPr sz="2000">
                <a:solidFill>
                  <a:srgbClr val="323232"/>
                </a:solidFill>
                <a:latin typeface="Calibri"/>
              </a:defRPr>
            </a:pPr>
          </a:p>
          <a:p>
            <a:pPr>
              <a:spcAft>
                <a:spcPts val="800"/>
              </a:spcAft>
              <a:defRPr sz="2000">
                <a:solidFill>
                  <a:srgbClr val="323232"/>
                </a:solidFill>
                <a:latin typeface="Calibri"/>
              </a:defRPr>
            </a:pPr>
            <a:r>
              <a:t>Cav subtypes and drug targets:</a:t>
            </a:r>
          </a:p>
          <a:p>
            <a:pPr>
              <a:spcAft>
                <a:spcPts val="800"/>
              </a:spcAft>
              <a:defRPr sz="2000">
                <a:solidFill>
                  <a:srgbClr val="323232"/>
                </a:solidFill>
                <a:latin typeface="Calibri"/>
              </a:defRPr>
            </a:pPr>
            <a:r>
              <a:t>  Cav1 (L-type): heart, muscle, dendrites</a:t>
            </a:r>
          </a:p>
          <a:p>
            <a:pPr>
              <a:spcAft>
                <a:spcPts val="800"/>
              </a:spcAft>
              <a:defRPr sz="2000">
                <a:solidFill>
                  <a:srgbClr val="323232"/>
                </a:solidFill>
                <a:latin typeface="Calibri"/>
              </a:defRPr>
            </a:pPr>
            <a:r>
              <a:t>    → Ca2+ channel blockers (nifedipine, verapamil) for hypertension/angina</a:t>
            </a:r>
          </a:p>
          <a:p>
            <a:pPr>
              <a:spcAft>
                <a:spcPts val="800"/>
              </a:spcAft>
              <a:defRPr sz="2000">
                <a:solidFill>
                  <a:srgbClr val="323232"/>
                </a:solidFill>
                <a:latin typeface="Calibri"/>
              </a:defRPr>
            </a:pPr>
            <a:r>
              <a:t>  Cav2.1 (P/Q-type): presynaptic NT release</a:t>
            </a:r>
          </a:p>
          <a:p>
            <a:pPr>
              <a:spcAft>
                <a:spcPts val="800"/>
              </a:spcAft>
              <a:defRPr sz="2000">
                <a:solidFill>
                  <a:srgbClr val="323232"/>
                </a:solidFill>
                <a:latin typeface="Calibri"/>
              </a:defRPr>
            </a:pPr>
            <a:r>
              <a:t>    → Omega-agatoxin (spider toxin) research tool</a:t>
            </a:r>
          </a:p>
          <a:p>
            <a:pPr>
              <a:spcAft>
                <a:spcPts val="800"/>
              </a:spcAft>
              <a:defRPr sz="2000">
                <a:solidFill>
                  <a:srgbClr val="323232"/>
                </a:solidFill>
                <a:latin typeface="Calibri"/>
              </a:defRPr>
            </a:pPr>
            <a:r>
              <a:t>  Cav2.2 (N-type): presynaptic, pain pathways</a:t>
            </a:r>
          </a:p>
          <a:p>
            <a:pPr>
              <a:spcAft>
                <a:spcPts val="800"/>
              </a:spcAft>
              <a:defRPr sz="2000">
                <a:solidFill>
                  <a:srgbClr val="323232"/>
                </a:solidFill>
                <a:latin typeface="Calibri"/>
              </a:defRPr>
            </a:pPr>
            <a:r>
              <a:t>    → Ziconotide (Prialt) for severe pain (cone snail venom)</a:t>
            </a:r>
          </a:p>
          <a:p>
            <a:pPr>
              <a:spcAft>
                <a:spcPts val="800"/>
              </a:spcAft>
              <a:defRPr sz="2000">
                <a:solidFill>
                  <a:srgbClr val="323232"/>
                </a:solidFill>
                <a:latin typeface="Calibri"/>
              </a:defRPr>
            </a:pPr>
            <a:r>
              <a:t>  Cav3 (T-type): pacemaking, low-threshold oscillations</a:t>
            </a:r>
          </a:p>
          <a:p>
            <a:pPr>
              <a:spcAft>
                <a:spcPts val="800"/>
              </a:spcAft>
              <a:defRPr sz="2000">
                <a:solidFill>
                  <a:srgbClr val="323232"/>
                </a:solidFill>
                <a:latin typeface="Calibri"/>
              </a:defRPr>
            </a:pPr>
            <a:r>
              <a:t>    → Ethosuximide for absence epilepsy</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Extension 3: The Ih Current (HCN Channels)</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HCN = Hyperpolarization-activated Cyclic Nucleotide-gated channel</a:t>
            </a:r>
          </a:p>
          <a:p>
            <a:pPr>
              <a:spcAft>
                <a:spcPts val="800"/>
              </a:spcAft>
              <a:defRPr sz="2000">
                <a:solidFill>
                  <a:srgbClr val="323232"/>
                </a:solidFill>
                <a:latin typeface="Calibri"/>
              </a:defRPr>
            </a:pPr>
            <a:r>
              <a:t>  Carries: mixed Na+/K+ current (both flow, net reversal ~-30 mV)</a:t>
            </a:r>
          </a:p>
          <a:p>
            <a:pPr>
              <a:spcAft>
                <a:spcPts val="800"/>
              </a:spcAft>
              <a:defRPr sz="2000">
                <a:solidFill>
                  <a:srgbClr val="323232"/>
                </a:solidFill>
                <a:latin typeface="Calibri"/>
              </a:defRPr>
            </a:pPr>
            <a:r>
              <a:t>  ACTIVATED by HYPERPOLARIZATION (opposite of most channels!)</a:t>
            </a:r>
          </a:p>
          <a:p>
            <a:pPr>
              <a:spcAft>
                <a:spcPts val="800"/>
              </a:spcAft>
              <a:defRPr sz="2000">
                <a:solidFill>
                  <a:srgbClr val="323232"/>
                </a:solidFill>
                <a:latin typeface="Calibri"/>
              </a:defRPr>
            </a:pPr>
          </a:p>
          <a:p>
            <a:pPr>
              <a:spcAft>
                <a:spcPts val="800"/>
              </a:spcAft>
              <a:defRPr sz="2000">
                <a:solidFill>
                  <a:srgbClr val="323232"/>
                </a:solidFill>
                <a:latin typeface="Calibri"/>
              </a:defRPr>
            </a:pPr>
            <a:r>
              <a:t>HH extension: I_h = g_h × q × (V - E_h)</a:t>
            </a:r>
          </a:p>
          <a:p>
            <a:pPr>
              <a:spcAft>
                <a:spcPts val="800"/>
              </a:spcAft>
              <a:defRPr sz="2000">
                <a:solidFill>
                  <a:srgbClr val="323232"/>
                </a:solidFill>
                <a:latin typeface="Calibri"/>
              </a:defRPr>
            </a:pPr>
            <a:r>
              <a:t>  q = activation gate, opens when V &lt; -60 mV (slow, τq ~ 50-500 ms)</a:t>
            </a:r>
          </a:p>
          <a:p>
            <a:pPr>
              <a:spcAft>
                <a:spcPts val="800"/>
              </a:spcAft>
              <a:defRPr sz="2000">
                <a:solidFill>
                  <a:srgbClr val="323232"/>
                </a:solidFill>
                <a:latin typeface="Calibri"/>
              </a:defRPr>
            </a:pPr>
            <a:r>
              <a:t>  E_h ≈ -30 mV (depolarizing at rest)</a:t>
            </a:r>
          </a:p>
          <a:p>
            <a:pPr>
              <a:spcAft>
                <a:spcPts val="800"/>
              </a:spcAft>
              <a:defRPr sz="2000">
                <a:solidFill>
                  <a:srgbClr val="323232"/>
                </a:solidFill>
                <a:latin typeface="Calibri"/>
              </a:defRPr>
            </a:pPr>
            <a:r>
              <a:t>  q∞(V): activation at -60 to -120 mV</a:t>
            </a:r>
          </a:p>
          <a:p>
            <a:pPr>
              <a:spcAft>
                <a:spcPts val="800"/>
              </a:spcAft>
              <a:defRPr sz="2000">
                <a:solidFill>
                  <a:srgbClr val="323232"/>
                </a:solidFill>
                <a:latin typeface="Calibri"/>
              </a:defRPr>
            </a:pPr>
          </a:p>
          <a:p>
            <a:pPr>
              <a:spcAft>
                <a:spcPts val="800"/>
              </a:spcAft>
              <a:defRPr sz="2000">
                <a:solidFill>
                  <a:srgbClr val="323232"/>
                </a:solidFill>
                <a:latin typeface="Calibri"/>
              </a:defRPr>
            </a:pPr>
            <a:r>
              <a:t>Functions in neurons:</a:t>
            </a:r>
          </a:p>
          <a:p>
            <a:pPr>
              <a:spcAft>
                <a:spcPts val="800"/>
              </a:spcAft>
              <a:defRPr sz="2000">
                <a:solidFill>
                  <a:srgbClr val="323232"/>
                </a:solidFill>
                <a:latin typeface="Calibri"/>
              </a:defRPr>
            </a:pPr>
            <a:r>
              <a:t>  'Pacemaker current': drives rhythmic firing in SA node, thalamus, DRG</a:t>
            </a:r>
          </a:p>
          <a:p>
            <a:pPr>
              <a:spcAft>
                <a:spcPts val="800"/>
              </a:spcAft>
              <a:defRPr sz="2000">
                <a:solidFill>
                  <a:srgbClr val="323232"/>
                </a:solidFill>
                <a:latin typeface="Calibri"/>
              </a:defRPr>
            </a:pPr>
            <a:r>
              <a:t>  'Sag potential': after hyperpolarization, Ih activates → depolarising 'sag'</a:t>
            </a:r>
          </a:p>
          <a:p>
            <a:pPr>
              <a:spcAft>
                <a:spcPts val="800"/>
              </a:spcAft>
              <a:defRPr sz="2000">
                <a:solidFill>
                  <a:srgbClr val="323232"/>
                </a:solidFill>
                <a:latin typeface="Calibri"/>
              </a:defRPr>
            </a:pPr>
            <a:r>
              <a:t>  Stabilises resting potential (prevents runaway hyperpolarization)</a:t>
            </a:r>
          </a:p>
          <a:p>
            <a:pPr>
              <a:spcAft>
                <a:spcPts val="800"/>
              </a:spcAft>
              <a:defRPr sz="2000">
                <a:solidFill>
                  <a:srgbClr val="323232"/>
                </a:solidFill>
                <a:latin typeface="Calibri"/>
              </a:defRPr>
            </a:pPr>
            <a:r>
              <a:t>  Modulated by cAMP: β-adrenergic stimulation → faster heart rate</a:t>
            </a:r>
          </a:p>
          <a:p>
            <a:pPr>
              <a:spcAft>
                <a:spcPts val="800"/>
              </a:spcAft>
              <a:defRPr sz="2000">
                <a:solidFill>
                  <a:srgbClr val="323232"/>
                </a:solidFill>
                <a:latin typeface="Calibri"/>
              </a:defRPr>
            </a:pPr>
          </a:p>
          <a:p>
            <a:pPr>
              <a:spcAft>
                <a:spcPts val="800"/>
              </a:spcAft>
              <a:defRPr sz="2000">
                <a:solidFill>
                  <a:srgbClr val="323232"/>
                </a:solidFill>
                <a:latin typeface="Calibri"/>
              </a:defRPr>
            </a:pPr>
            <a:r>
              <a:t>Drug relevance: Ivabradine (Coralan) = selective If (cardiac HCN) blocker</a:t>
            </a:r>
          </a:p>
          <a:p>
            <a:pPr>
              <a:spcAft>
                <a:spcPts val="800"/>
              </a:spcAft>
              <a:defRPr sz="2000">
                <a:solidFill>
                  <a:srgbClr val="323232"/>
                </a:solidFill>
                <a:latin typeface="Calibri"/>
              </a:defRPr>
            </a:pPr>
            <a:r>
              <a:t>  Reduces heart rate WITHOUT reducing contractility</a:t>
            </a:r>
          </a:p>
          <a:p>
            <a:pPr>
              <a:spcAft>
                <a:spcPts val="800"/>
              </a:spcAft>
              <a:defRPr sz="2000">
                <a:solidFill>
                  <a:srgbClr val="323232"/>
                </a:solidFill>
                <a:latin typeface="Calibri"/>
              </a:defRPr>
            </a:pPr>
            <a:r>
              <a:t>  FDA-approved for heart failure and stable angina</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Extension 4: Persistent Na+ Current (I_NaP)</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A small fraction of Nav channels never inactivate:</a:t>
            </a:r>
          </a:p>
          <a:p>
            <a:pPr>
              <a:spcAft>
                <a:spcPts val="800"/>
              </a:spcAft>
              <a:defRPr sz="2000">
                <a:solidFill>
                  <a:srgbClr val="323232"/>
                </a:solidFill>
                <a:latin typeface="Calibri"/>
              </a:defRPr>
            </a:pPr>
            <a:r>
              <a:t>  I_NaP = g_NaP × p∞(V) × (V - E_Na)</a:t>
            </a:r>
          </a:p>
          <a:p>
            <a:pPr>
              <a:spcAft>
                <a:spcPts val="800"/>
              </a:spcAft>
              <a:defRPr sz="2000">
                <a:solidFill>
                  <a:srgbClr val="323232"/>
                </a:solidFill>
                <a:latin typeface="Calibri"/>
              </a:defRPr>
            </a:pPr>
            <a:r>
              <a:t>  p = activation (no inactivation gate)</a:t>
            </a:r>
          </a:p>
          <a:p>
            <a:pPr>
              <a:spcAft>
                <a:spcPts val="800"/>
              </a:spcAft>
              <a:defRPr sz="2000">
                <a:solidFill>
                  <a:srgbClr val="323232"/>
                </a:solidFill>
                <a:latin typeface="Calibri"/>
              </a:defRPr>
            </a:pPr>
            <a:r>
              <a:t>  g_NaP ~ 0.1 - 1% of g_Na (small but crucial!)</a:t>
            </a:r>
          </a:p>
          <a:p>
            <a:pPr>
              <a:spcAft>
                <a:spcPts val="800"/>
              </a:spcAft>
              <a:defRPr sz="2000">
                <a:solidFill>
                  <a:srgbClr val="323232"/>
                </a:solidFill>
                <a:latin typeface="Calibri"/>
              </a:defRPr>
            </a:pPr>
            <a:r>
              <a:t>  Activates at subthreshold voltages: -70 to -55 mV</a:t>
            </a:r>
          </a:p>
          <a:p>
            <a:pPr>
              <a:spcAft>
                <a:spcPts val="800"/>
              </a:spcAft>
              <a:defRPr sz="2000">
                <a:solidFill>
                  <a:srgbClr val="323232"/>
                </a:solidFill>
                <a:latin typeface="Calibri"/>
              </a:defRPr>
            </a:pPr>
          </a:p>
          <a:p>
            <a:pPr>
              <a:spcAft>
                <a:spcPts val="800"/>
              </a:spcAft>
              <a:defRPr sz="2000">
                <a:solidFill>
                  <a:srgbClr val="323232"/>
                </a:solidFill>
                <a:latin typeface="Calibri"/>
              </a:defRPr>
            </a:pPr>
            <a:r>
              <a:t>Why it matters despite being small:</a:t>
            </a:r>
          </a:p>
          <a:p>
            <a:pPr>
              <a:spcAft>
                <a:spcPts val="800"/>
              </a:spcAft>
              <a:defRPr sz="2000">
                <a:solidFill>
                  <a:srgbClr val="323232"/>
                </a:solidFill>
                <a:latin typeface="Calibri"/>
              </a:defRPr>
            </a:pPr>
            <a:r>
              <a:t>  Amplifies subthreshold depolarizations</a:t>
            </a:r>
          </a:p>
          <a:p>
            <a:pPr>
              <a:spcAft>
                <a:spcPts val="800"/>
              </a:spcAft>
              <a:defRPr sz="2000">
                <a:solidFill>
                  <a:srgbClr val="323232"/>
                </a:solidFill>
                <a:latin typeface="Calibri"/>
              </a:defRPr>
            </a:pPr>
            <a:r>
              <a:t>  Creates bistability (two stable states: rest and depolarised plateau)</a:t>
            </a:r>
          </a:p>
          <a:p>
            <a:pPr>
              <a:spcAft>
                <a:spcPts val="800"/>
              </a:spcAft>
              <a:defRPr sz="2000">
                <a:solidFill>
                  <a:srgbClr val="323232"/>
                </a:solidFill>
                <a:latin typeface="Calibri"/>
              </a:defRPr>
            </a:pPr>
            <a:r>
              <a:t>  Enables plateau potentials and persistent depolarised states</a:t>
            </a:r>
          </a:p>
          <a:p>
            <a:pPr>
              <a:spcAft>
                <a:spcPts val="800"/>
              </a:spcAft>
              <a:defRPr sz="2000">
                <a:solidFill>
                  <a:srgbClr val="323232"/>
                </a:solidFill>
                <a:latin typeface="Calibri"/>
              </a:defRPr>
            </a:pPr>
            <a:r>
              <a:t>  Critical for: motor pattern generation, intrinsic oscillations</a:t>
            </a:r>
          </a:p>
          <a:p>
            <a:pPr>
              <a:spcAft>
                <a:spcPts val="800"/>
              </a:spcAft>
              <a:defRPr sz="2000">
                <a:solidFill>
                  <a:srgbClr val="323232"/>
                </a:solidFill>
                <a:latin typeface="Calibri"/>
              </a:defRPr>
            </a:pPr>
          </a:p>
          <a:p>
            <a:pPr>
              <a:spcAft>
                <a:spcPts val="800"/>
              </a:spcAft>
              <a:defRPr sz="2000">
                <a:solidFill>
                  <a:srgbClr val="323232"/>
                </a:solidFill>
                <a:latin typeface="Calibri"/>
              </a:defRPr>
            </a:pPr>
            <a:r>
              <a:t>Pathological roles:</a:t>
            </a:r>
          </a:p>
          <a:p>
            <a:pPr>
              <a:spcAft>
                <a:spcPts val="800"/>
              </a:spcAft>
              <a:defRPr sz="2000">
                <a:solidFill>
                  <a:srgbClr val="323232"/>
                </a:solidFill>
                <a:latin typeface="Calibri"/>
              </a:defRPr>
            </a:pPr>
            <a:r>
              <a:t>  Excessive I_NaP → hyperexcitability → epilepsy</a:t>
            </a:r>
          </a:p>
          <a:p>
            <a:pPr>
              <a:spcAft>
                <a:spcPts val="800"/>
              </a:spcAft>
              <a:defRPr sz="2000">
                <a:solidFill>
                  <a:srgbClr val="323232"/>
                </a:solidFill>
                <a:latin typeface="Calibri"/>
              </a:defRPr>
            </a:pPr>
            <a:r>
              <a:t>  SCN8A gain-of-function mutations → high I_NaP → severe epilepsy</a:t>
            </a:r>
          </a:p>
          <a:p>
            <a:pPr>
              <a:spcAft>
                <a:spcPts val="800"/>
              </a:spcAft>
              <a:defRPr sz="2000">
                <a:solidFill>
                  <a:srgbClr val="323232"/>
                </a:solidFill>
                <a:latin typeface="Calibri"/>
              </a:defRPr>
            </a:pPr>
            <a:r>
              <a:t>  ALS: I_NaP amplifies inputs to motor neurons</a:t>
            </a:r>
          </a:p>
          <a:p>
            <a:pPr>
              <a:spcAft>
                <a:spcPts val="800"/>
              </a:spcAft>
              <a:defRPr sz="2000">
                <a:solidFill>
                  <a:srgbClr val="323232"/>
                </a:solidFill>
                <a:latin typeface="Calibri"/>
              </a:defRPr>
            </a:pPr>
          </a:p>
          <a:p>
            <a:pPr>
              <a:spcAft>
                <a:spcPts val="800"/>
              </a:spcAft>
              <a:defRPr sz="2000">
                <a:solidFill>
                  <a:srgbClr val="323232"/>
                </a:solidFill>
                <a:latin typeface="Calibri"/>
              </a:defRPr>
            </a:pPr>
            <a:r>
              <a:t>Drug target: riluzole (Rilutek) — I_NaP blocker</a:t>
            </a:r>
          </a:p>
          <a:p>
            <a:pPr>
              <a:spcAft>
                <a:spcPts val="800"/>
              </a:spcAft>
              <a:defRPr sz="2000">
                <a:solidFill>
                  <a:srgbClr val="323232"/>
                </a:solidFill>
                <a:latin typeface="Calibri"/>
              </a:defRPr>
            </a:pPr>
            <a:r>
              <a:t>  FDA-approved for ALS — extends life by ~3 months</a:t>
            </a:r>
          </a:p>
          <a:p>
            <a:pPr>
              <a:spcAft>
                <a:spcPts val="800"/>
              </a:spcAft>
              <a:defRPr sz="2000">
                <a:solidFill>
                  <a:srgbClr val="323232"/>
                </a:solidFill>
                <a:latin typeface="Calibri"/>
              </a:defRPr>
            </a:pPr>
            <a:r>
              <a:t>  Reduces I_NaP → less motor neuron hyperexcitability</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Extension 5: Synaptic Conductances</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Synaptic inputs = transient conductance changes driven by NT release</a:t>
            </a:r>
          </a:p>
          <a:p>
            <a:pPr>
              <a:spcAft>
                <a:spcPts val="800"/>
              </a:spcAft>
              <a:defRPr sz="2000">
                <a:solidFill>
                  <a:srgbClr val="323232"/>
                </a:solidFill>
                <a:latin typeface="Calibri"/>
              </a:defRPr>
            </a:pPr>
            <a:r>
              <a:t>  I_syn = g_syn(t) × (V - E_syn)</a:t>
            </a:r>
          </a:p>
          <a:p>
            <a:pPr>
              <a:spcAft>
                <a:spcPts val="800"/>
              </a:spcAft>
              <a:defRPr sz="2000">
                <a:solidFill>
                  <a:srgbClr val="323232"/>
                </a:solidFill>
                <a:latin typeface="Calibri"/>
              </a:defRPr>
            </a:pPr>
            <a:r>
              <a:t>  g_syn(t) follows an alpha-function or double-exponential shape</a:t>
            </a:r>
          </a:p>
          <a:p>
            <a:pPr>
              <a:spcAft>
                <a:spcPts val="800"/>
              </a:spcAft>
              <a:defRPr sz="2000">
                <a:solidFill>
                  <a:srgbClr val="323232"/>
                </a:solidFill>
                <a:latin typeface="Calibri"/>
              </a:defRPr>
            </a:pPr>
          </a:p>
          <a:p>
            <a:pPr>
              <a:spcAft>
                <a:spcPts val="800"/>
              </a:spcAft>
              <a:defRPr sz="2000">
                <a:solidFill>
                  <a:srgbClr val="323232"/>
                </a:solidFill>
                <a:latin typeface="Calibri"/>
              </a:defRPr>
            </a:pPr>
            <a:r>
              <a:t>Key synaptic conductances (each is a separate HH-style current):</a:t>
            </a:r>
          </a:p>
          <a:p>
            <a:pPr>
              <a:spcAft>
                <a:spcPts val="800"/>
              </a:spcAft>
              <a:defRPr sz="2000">
                <a:solidFill>
                  <a:srgbClr val="323232"/>
                </a:solidFill>
                <a:latin typeface="Calibri"/>
              </a:defRPr>
            </a:pPr>
            <a:r>
              <a:t>  AMPA (glutamate, excitatory): E_syn ≈ 0 mV, fast (τ ~ 5 ms)</a:t>
            </a:r>
          </a:p>
          <a:p>
            <a:pPr>
              <a:spcAft>
                <a:spcPts val="800"/>
              </a:spcAft>
              <a:defRPr sz="2000">
                <a:solidFill>
                  <a:srgbClr val="323232"/>
                </a:solidFill>
                <a:latin typeface="Calibri"/>
              </a:defRPr>
            </a:pPr>
            <a:r>
              <a:t>    → Fast excitatory EPSPs. AMPA antagonists: CNQX, perampanel (anti-epileptic)</a:t>
            </a:r>
          </a:p>
          <a:p>
            <a:pPr>
              <a:spcAft>
                <a:spcPts val="800"/>
              </a:spcAft>
              <a:defRPr sz="2000">
                <a:solidFill>
                  <a:srgbClr val="323232"/>
                </a:solidFill>
                <a:latin typeface="Calibri"/>
              </a:defRPr>
            </a:pPr>
            <a:r>
              <a:t>  NMDA (glutamate, excit.): E_syn ≈ 0 mV, slow (τ ~ 100 ms) + Mg2+ block</a:t>
            </a:r>
          </a:p>
          <a:p>
            <a:pPr>
              <a:spcAft>
                <a:spcPts val="800"/>
              </a:spcAft>
              <a:defRPr sz="2000">
                <a:solidFill>
                  <a:srgbClr val="323232"/>
                </a:solidFill>
                <a:latin typeface="Calibri"/>
              </a:defRPr>
            </a:pPr>
            <a:r>
              <a:t>    → Mg2+ block removed at depolarised V — Hebbian learning/LTP</a:t>
            </a:r>
          </a:p>
          <a:p>
            <a:pPr>
              <a:spcAft>
                <a:spcPts val="800"/>
              </a:spcAft>
              <a:defRPr sz="2000">
                <a:solidFill>
                  <a:srgbClr val="323232"/>
                </a:solidFill>
                <a:latin typeface="Calibri"/>
              </a:defRPr>
            </a:pPr>
            <a:r>
              <a:t>    → NMDA antagonists: ketamine (anesthetic, antidepressant), memantine (Alzheimer's)</a:t>
            </a:r>
          </a:p>
          <a:p>
            <a:pPr>
              <a:spcAft>
                <a:spcPts val="800"/>
              </a:spcAft>
              <a:defRPr sz="2000">
                <a:solidFill>
                  <a:srgbClr val="323232"/>
                </a:solidFill>
                <a:latin typeface="Calibri"/>
              </a:defRPr>
            </a:pPr>
            <a:r>
              <a:t>  GABA-A (inhibitory): E_syn ≈ -70 mV, fast (τ ~ 10 ms)</a:t>
            </a:r>
          </a:p>
          <a:p>
            <a:pPr>
              <a:spcAft>
                <a:spcPts val="800"/>
              </a:spcAft>
              <a:defRPr sz="2000">
                <a:solidFill>
                  <a:srgbClr val="323232"/>
                </a:solidFill>
                <a:latin typeface="Calibri"/>
              </a:defRPr>
            </a:pPr>
            <a:r>
              <a:t>    → Fast inhibition. Modulated by BZDs, alcohol, propofol</a:t>
            </a:r>
          </a:p>
          <a:p>
            <a:pPr>
              <a:spcAft>
                <a:spcPts val="800"/>
              </a:spcAft>
              <a:defRPr sz="2000">
                <a:solidFill>
                  <a:srgbClr val="323232"/>
                </a:solidFill>
                <a:latin typeface="Calibri"/>
              </a:defRPr>
            </a:pPr>
            <a:r>
              <a:t>  GABA-B (inhibitory, GPCR): E_syn ≈ -90 mV, slow (τ ~ 200 ms)</a:t>
            </a:r>
          </a:p>
          <a:p>
            <a:pPr>
              <a:spcAft>
                <a:spcPts val="800"/>
              </a:spcAft>
              <a:defRPr sz="2000">
                <a:solidFill>
                  <a:srgbClr val="323232"/>
                </a:solidFill>
                <a:latin typeface="Calibri"/>
              </a:defRPr>
            </a:pPr>
            <a:r>
              <a:t>    → Baclofen agonist (spasticity treatment)</a:t>
            </a:r>
          </a:p>
          <a:p>
            <a:pPr>
              <a:spcAft>
                <a:spcPts val="800"/>
              </a:spcAft>
              <a:defRPr sz="2000">
                <a:solidFill>
                  <a:srgbClr val="323232"/>
                </a:solidFill>
                <a:latin typeface="Calibri"/>
              </a:defRPr>
            </a:pPr>
          </a:p>
          <a:p>
            <a:pPr>
              <a:spcAft>
                <a:spcPts val="800"/>
              </a:spcAft>
              <a:defRPr sz="2000">
                <a:solidFill>
                  <a:srgbClr val="323232"/>
                </a:solidFill>
                <a:latin typeface="Calibri"/>
              </a:defRPr>
            </a:pPr>
            <a:r>
              <a:t>Double-exponential: g(t) = g_max × (exp(-t/τ1) - exp(-t/τ2)) / normalisation</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Extension 6: Cable Theory &amp; Multicompartment Models</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The single-compartment HH assumes isopotential membrane — all one voltage</a:t>
            </a:r>
          </a:p>
          <a:p>
            <a:pPr>
              <a:spcAft>
                <a:spcPts val="800"/>
              </a:spcAft>
              <a:defRPr sz="2000">
                <a:solidFill>
                  <a:srgbClr val="323232"/>
                </a:solidFill>
                <a:latin typeface="Calibri"/>
              </a:defRPr>
            </a:pPr>
            <a:r>
              <a:t>Real neurons have dendrites (up to 1 mm long!) — voltage DECAYS with distance</a:t>
            </a:r>
          </a:p>
          <a:p>
            <a:pPr>
              <a:spcAft>
                <a:spcPts val="800"/>
              </a:spcAft>
              <a:defRPr sz="2000">
                <a:solidFill>
                  <a:srgbClr val="323232"/>
                </a:solidFill>
                <a:latin typeface="Calibri"/>
              </a:defRPr>
            </a:pPr>
          </a:p>
          <a:p>
            <a:pPr>
              <a:spcAft>
                <a:spcPts val="800"/>
              </a:spcAft>
              <a:defRPr sz="2000">
                <a:solidFill>
                  <a:srgbClr val="323232"/>
                </a:solidFill>
                <a:latin typeface="Calibri"/>
              </a:defRPr>
            </a:pPr>
            <a:r>
              <a:t>Cable equation: Cm × dV/dt = λ² × d²V/dx² - V/τm + I_ext/rm</a:t>
            </a:r>
          </a:p>
          <a:p>
            <a:pPr>
              <a:spcAft>
                <a:spcPts val="800"/>
              </a:spcAft>
              <a:defRPr sz="2000">
                <a:solidFill>
                  <a:srgbClr val="323232"/>
                </a:solidFill>
                <a:latin typeface="Calibri"/>
              </a:defRPr>
            </a:pPr>
            <a:r>
              <a:t>  λ = space constant = sqrt(rm × ri / ra) — how far signal travels</a:t>
            </a:r>
          </a:p>
          <a:p>
            <a:pPr>
              <a:spcAft>
                <a:spcPts val="800"/>
              </a:spcAft>
              <a:defRPr sz="2000">
                <a:solidFill>
                  <a:srgbClr val="323232"/>
                </a:solidFill>
                <a:latin typeface="Calibri"/>
              </a:defRPr>
            </a:pPr>
            <a:r>
              <a:t>  τm = Cm × rm = membrane time constant</a:t>
            </a:r>
          </a:p>
          <a:p>
            <a:pPr>
              <a:spcAft>
                <a:spcPts val="800"/>
              </a:spcAft>
              <a:defRPr sz="2000">
                <a:solidFill>
                  <a:srgbClr val="323232"/>
                </a:solidFill>
                <a:latin typeface="Calibri"/>
              </a:defRPr>
            </a:pPr>
            <a:r>
              <a:t>  ri = internal resistance, ra = axial resistance</a:t>
            </a:r>
          </a:p>
          <a:p>
            <a:pPr>
              <a:spcAft>
                <a:spcPts val="800"/>
              </a:spcAft>
              <a:defRPr sz="2000">
                <a:solidFill>
                  <a:srgbClr val="323232"/>
                </a:solidFill>
                <a:latin typeface="Calibri"/>
              </a:defRPr>
            </a:pPr>
          </a:p>
          <a:p>
            <a:pPr>
              <a:spcAft>
                <a:spcPts val="800"/>
              </a:spcAft>
              <a:defRPr sz="2000">
                <a:solidFill>
                  <a:srgbClr val="323232"/>
                </a:solidFill>
                <a:latin typeface="Calibri"/>
              </a:defRPr>
            </a:pPr>
            <a:r>
              <a:t>Multicompartment models: discretise the dendrite into N compartments</a:t>
            </a:r>
          </a:p>
          <a:p>
            <a:pPr>
              <a:spcAft>
                <a:spcPts val="800"/>
              </a:spcAft>
              <a:defRPr sz="2000">
                <a:solidFill>
                  <a:srgbClr val="323232"/>
                </a:solidFill>
                <a:latin typeface="Calibri"/>
              </a:defRPr>
            </a:pPr>
            <a:r>
              <a:t>  Each compartment is an HH model connected to neighbours by resistors</a:t>
            </a:r>
          </a:p>
          <a:p>
            <a:pPr>
              <a:spcAft>
                <a:spcPts val="800"/>
              </a:spcAft>
              <a:defRPr sz="2000">
                <a:solidFill>
                  <a:srgbClr val="323232"/>
                </a:solidFill>
                <a:latin typeface="Calibri"/>
              </a:defRPr>
            </a:pPr>
            <a:r>
              <a:t>  Large models: &gt;1000 compartments (Purkinje cell, layer 5 pyramidal)</a:t>
            </a:r>
          </a:p>
          <a:p>
            <a:pPr>
              <a:spcAft>
                <a:spcPts val="800"/>
              </a:spcAft>
              <a:defRPr sz="2000">
                <a:solidFill>
                  <a:srgbClr val="323232"/>
                </a:solidFill>
                <a:latin typeface="Calibri"/>
              </a:defRPr>
            </a:pPr>
            <a:r>
              <a:t>  Software: NEURON simulator, Brian2, NetPyNE</a:t>
            </a:r>
          </a:p>
          <a:p>
            <a:pPr>
              <a:spcAft>
                <a:spcPts val="800"/>
              </a:spcAft>
              <a:defRPr sz="2000">
                <a:solidFill>
                  <a:srgbClr val="323232"/>
                </a:solidFill>
                <a:latin typeface="Calibri"/>
              </a:defRPr>
            </a:pPr>
          </a:p>
          <a:p>
            <a:pPr>
              <a:spcAft>
                <a:spcPts val="800"/>
              </a:spcAft>
              <a:defRPr sz="2000">
                <a:solidFill>
                  <a:srgbClr val="323232"/>
                </a:solidFill>
                <a:latin typeface="Calibri"/>
              </a:defRPr>
            </a:pPr>
            <a:r>
              <a:t>Drug effects in multicompartment context:</a:t>
            </a:r>
          </a:p>
          <a:p>
            <a:pPr>
              <a:spcAft>
                <a:spcPts val="800"/>
              </a:spcAft>
              <a:defRPr sz="2000">
                <a:solidFill>
                  <a:srgbClr val="323232"/>
                </a:solidFill>
                <a:latin typeface="Calibri"/>
              </a:defRPr>
            </a:pPr>
            <a:r>
              <a:t>  Nav block in axon hillock → no spike propagation</a:t>
            </a:r>
          </a:p>
          <a:p>
            <a:pPr>
              <a:spcAft>
                <a:spcPts val="800"/>
              </a:spcAft>
              <a:defRPr sz="2000">
                <a:solidFill>
                  <a:srgbClr val="323232"/>
                </a:solidFill>
                <a:latin typeface="Calibri"/>
              </a:defRPr>
            </a:pPr>
            <a:r>
              <a:t>  Kv4 block in dendrites → larger distal EPSPs (synaptic amplification)</a:t>
            </a:r>
          </a:p>
          <a:p>
            <a:pPr>
              <a:spcAft>
                <a:spcPts val="800"/>
              </a:spcAft>
              <a:defRPr sz="2000">
                <a:solidFill>
                  <a:srgbClr val="323232"/>
                </a:solidFill>
                <a:latin typeface="Calibri"/>
              </a:defRPr>
            </a:pPr>
            <a:r>
              <a:t>  NMDA-dependent Ca2+ in dendrites → local spike initiation</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HH Model Extensions: Drug Target Map</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Channel         | Gene family  | Key Drug Target(s)</a:t>
            </a:r>
          </a:p>
          <a:p>
            <a:pPr>
              <a:spcAft>
                <a:spcPts val="800"/>
              </a:spcAft>
              <a:defRPr sz="2000">
                <a:solidFill>
                  <a:srgbClr val="323232"/>
                </a:solidFill>
                <a:latin typeface="Calibri"/>
              </a:defRPr>
            </a:pPr>
            <a:r>
              <a:t>─────────────────────────────────────────────────────</a:t>
            </a:r>
          </a:p>
          <a:p>
            <a:pPr>
              <a:spcAft>
                <a:spcPts val="800"/>
              </a:spcAft>
              <a:defRPr sz="2000">
                <a:solidFill>
                  <a:srgbClr val="323232"/>
                </a:solidFill>
                <a:latin typeface="Calibri"/>
              </a:defRPr>
            </a:pPr>
            <a:r>
              <a:t>Nav (I_Na)      | SCN1A-11A   | Lidocaine, carbamazepine, TTX</a:t>
            </a:r>
          </a:p>
          <a:p>
            <a:pPr>
              <a:spcAft>
                <a:spcPts val="800"/>
              </a:spcAft>
              <a:defRPr sz="2000">
                <a:solidFill>
                  <a:srgbClr val="323232"/>
                </a:solidFill>
                <a:latin typeface="Calibri"/>
              </a:defRPr>
            </a:pPr>
            <a:r>
              <a:t>Kv (I_K)        | KCNQ, Kv2   | 4-AP, TEA, fampridine</a:t>
            </a:r>
          </a:p>
          <a:p>
            <a:pPr>
              <a:spcAft>
                <a:spcPts val="800"/>
              </a:spcAft>
              <a:defRPr sz="2000">
                <a:solidFill>
                  <a:srgbClr val="323232"/>
                </a:solidFill>
                <a:latin typeface="Calibri"/>
              </a:defRPr>
            </a:pPr>
            <a:r>
              <a:t>Kv (I_A)        | KCND (Kv4)  | 4-AP (Ampyra for MS)</a:t>
            </a:r>
          </a:p>
          <a:p>
            <a:pPr>
              <a:spcAft>
                <a:spcPts val="800"/>
              </a:spcAft>
              <a:defRPr sz="2000">
                <a:solidFill>
                  <a:srgbClr val="323232"/>
                </a:solidFill>
                <a:latin typeface="Calibri"/>
              </a:defRPr>
            </a:pPr>
            <a:r>
              <a:t>Kv11.1 hERG     | KCNH2       | AVOID block (cardiac arrhythmia!)</a:t>
            </a:r>
          </a:p>
          <a:p>
            <a:pPr>
              <a:spcAft>
                <a:spcPts val="800"/>
              </a:spcAft>
              <a:defRPr sz="2000">
                <a:solidFill>
                  <a:srgbClr val="323232"/>
                </a:solidFill>
                <a:latin typeface="Calibri"/>
              </a:defRPr>
            </a:pPr>
            <a:r>
              <a:t>Cav L-type      | CACNA1C/D   | Nifedipine, verapamil, diltiazem</a:t>
            </a:r>
          </a:p>
          <a:p>
            <a:pPr>
              <a:spcAft>
                <a:spcPts val="800"/>
              </a:spcAft>
              <a:defRPr sz="2000">
                <a:solidFill>
                  <a:srgbClr val="323232"/>
                </a:solidFill>
                <a:latin typeface="Calibri"/>
              </a:defRPr>
            </a:pPr>
            <a:r>
              <a:t>Cav N-type      | CACNA1B     | Ziconotide (Prialt) for pain</a:t>
            </a:r>
          </a:p>
          <a:p>
            <a:pPr>
              <a:spcAft>
                <a:spcPts val="800"/>
              </a:spcAft>
              <a:defRPr sz="2000">
                <a:solidFill>
                  <a:srgbClr val="323232"/>
                </a:solidFill>
                <a:latin typeface="Calibri"/>
              </a:defRPr>
            </a:pPr>
            <a:r>
              <a:t>Cav T-type      | CACNA1G/H   | Ethosuximide (absence epilepsy)</a:t>
            </a:r>
          </a:p>
          <a:p>
            <a:pPr>
              <a:spcAft>
                <a:spcPts val="800"/>
              </a:spcAft>
              <a:defRPr sz="2000">
                <a:solidFill>
                  <a:srgbClr val="323232"/>
                </a:solidFill>
                <a:latin typeface="Calibri"/>
              </a:defRPr>
            </a:pPr>
            <a:r>
              <a:t>HCN (Ih)        | HCN1-4      | Ivabradine (Coralan) for HF</a:t>
            </a:r>
          </a:p>
          <a:p>
            <a:pPr>
              <a:spcAft>
                <a:spcPts val="800"/>
              </a:spcAft>
              <a:defRPr sz="2000">
                <a:solidFill>
                  <a:srgbClr val="323232"/>
                </a:solidFill>
                <a:latin typeface="Calibri"/>
              </a:defRPr>
            </a:pPr>
            <a:r>
              <a:t>Nav persistent  | SCN8A/2A    | Riluzole (ALS), lacosamide</a:t>
            </a:r>
          </a:p>
          <a:p>
            <a:pPr>
              <a:spcAft>
                <a:spcPts val="800"/>
              </a:spcAft>
              <a:defRPr sz="2000">
                <a:solidFill>
                  <a:srgbClr val="323232"/>
                </a:solidFill>
                <a:latin typeface="Calibri"/>
              </a:defRPr>
            </a:pPr>
            <a:r>
              <a:t>AMPA            | GRIA1-4     | Perampanel (epilepsy)</a:t>
            </a:r>
          </a:p>
          <a:p>
            <a:pPr>
              <a:spcAft>
                <a:spcPts val="800"/>
              </a:spcAft>
              <a:defRPr sz="2000">
                <a:solidFill>
                  <a:srgbClr val="323232"/>
                </a:solidFill>
                <a:latin typeface="Calibri"/>
              </a:defRPr>
            </a:pPr>
            <a:r>
              <a:t>NMDA            | GRIN1/2A-D  | Ketamine, memantine (Alzheimer's)</a:t>
            </a:r>
          </a:p>
          <a:p>
            <a:pPr>
              <a:spcAft>
                <a:spcPts val="800"/>
              </a:spcAft>
              <a:defRPr sz="2000">
                <a:solidFill>
                  <a:srgbClr val="323232"/>
                </a:solidFill>
                <a:latin typeface="Calibri"/>
              </a:defRPr>
            </a:pPr>
            <a:r>
              <a:t>GABA-A          | GABRA/B/G   | Diazepam, propofol, alcohol</a:t>
            </a:r>
          </a:p>
          <a:p>
            <a:pPr>
              <a:spcAft>
                <a:spcPts val="800"/>
              </a:spcAft>
              <a:defRPr sz="2000">
                <a:solidFill>
                  <a:srgbClr val="323232"/>
                </a:solidFill>
                <a:latin typeface="Calibri"/>
              </a:defRPr>
            </a:pPr>
            <a:r>
              <a:t>GABA-B          | GABBR1/2    | Baclofen (spasticity)</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Python Reference: Simulating the HH Model</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Step 1 — Define rate functions:</a:t>
            </a:r>
          </a:p>
          <a:p>
            <a:pPr>
              <a:spcAft>
                <a:spcPts val="800"/>
              </a:spcAft>
              <a:defRPr sz="2000">
                <a:solidFill>
                  <a:srgbClr val="323232"/>
                </a:solidFill>
                <a:latin typeface="Calibri"/>
              </a:defRPr>
            </a:pPr>
            <a:r>
              <a:t>  alpha_m(V): opening rate for m gate</a:t>
            </a:r>
          </a:p>
          <a:p>
            <a:pPr>
              <a:spcAft>
                <a:spcPts val="800"/>
              </a:spcAft>
              <a:defRPr sz="2000">
                <a:solidFill>
                  <a:srgbClr val="323232"/>
                </a:solidFill>
                <a:latin typeface="Calibri"/>
              </a:defRPr>
            </a:pPr>
            <a:r>
              <a:t>  beta_m(V): closing rate for m gate</a:t>
            </a:r>
          </a:p>
          <a:p>
            <a:pPr>
              <a:spcAft>
                <a:spcPts val="800"/>
              </a:spcAft>
              <a:defRPr sz="2000">
                <a:solidFill>
                  <a:srgbClr val="323232"/>
                </a:solidFill>
                <a:latin typeface="Calibri"/>
              </a:defRPr>
            </a:pPr>
            <a:r>
              <a:t>  (same pattern for h, n)</a:t>
            </a:r>
          </a:p>
          <a:p>
            <a:pPr>
              <a:spcAft>
                <a:spcPts val="800"/>
              </a:spcAft>
              <a:defRPr sz="2000">
                <a:solidFill>
                  <a:srgbClr val="323232"/>
                </a:solidFill>
                <a:latin typeface="Calibri"/>
              </a:defRPr>
            </a:pPr>
          </a:p>
          <a:p>
            <a:pPr>
              <a:spcAft>
                <a:spcPts val="800"/>
              </a:spcAft>
              <a:defRPr sz="2000">
                <a:solidFill>
                  <a:srgbClr val="323232"/>
                </a:solidFill>
                <a:latin typeface="Calibri"/>
              </a:defRPr>
            </a:pPr>
            <a:r>
              <a:t>Step 2 — Define ODE system:</a:t>
            </a:r>
          </a:p>
          <a:p>
            <a:pPr>
              <a:spcAft>
                <a:spcPts val="800"/>
              </a:spcAft>
              <a:defRPr sz="2000">
                <a:solidFill>
                  <a:srgbClr val="323232"/>
                </a:solidFill>
                <a:latin typeface="Calibri"/>
              </a:defRPr>
            </a:pPr>
            <a:r>
              <a:t>  [dV/dt, dm/dt, dh/dt, dn/dt] = f(V, m, h, n, I_ext)</a:t>
            </a:r>
          </a:p>
          <a:p>
            <a:pPr>
              <a:spcAft>
                <a:spcPts val="800"/>
              </a:spcAft>
              <a:defRPr sz="2000">
                <a:solidFill>
                  <a:srgbClr val="323232"/>
                </a:solidFill>
                <a:latin typeface="Calibri"/>
              </a:defRPr>
            </a:pPr>
          </a:p>
          <a:p>
            <a:pPr>
              <a:spcAft>
                <a:spcPts val="800"/>
              </a:spcAft>
              <a:defRPr sz="2000">
                <a:solidFill>
                  <a:srgbClr val="323232"/>
                </a:solidFill>
                <a:latin typeface="Calibri"/>
              </a:defRPr>
            </a:pPr>
            <a:r>
              <a:t>Step 3 — Set initial conditions:</a:t>
            </a:r>
          </a:p>
          <a:p>
            <a:pPr>
              <a:spcAft>
                <a:spcPts val="800"/>
              </a:spcAft>
              <a:defRPr sz="2000">
                <a:solidFill>
                  <a:srgbClr val="323232"/>
                </a:solidFill>
                <a:latin typeface="Calibri"/>
              </a:defRPr>
            </a:pPr>
            <a:r>
              <a:t>  V0=-65, m0=0.05, h0=0.60, n0=0.32</a:t>
            </a:r>
          </a:p>
          <a:p>
            <a:pPr>
              <a:spcAft>
                <a:spcPts val="800"/>
              </a:spcAft>
              <a:defRPr sz="2000">
                <a:solidFill>
                  <a:srgbClr val="323232"/>
                </a:solidFill>
                <a:latin typeface="Calibri"/>
              </a:defRPr>
            </a:pPr>
          </a:p>
          <a:p>
            <a:pPr>
              <a:spcAft>
                <a:spcPts val="800"/>
              </a:spcAft>
              <a:defRPr sz="2000">
                <a:solidFill>
                  <a:srgbClr val="323232"/>
                </a:solidFill>
                <a:latin typeface="Calibri"/>
              </a:defRPr>
            </a:pPr>
            <a:r>
              <a:t>Step 4 — Integrate:</a:t>
            </a:r>
          </a:p>
          <a:p>
            <a:pPr>
              <a:spcAft>
                <a:spcPts val="800"/>
              </a:spcAft>
              <a:defRPr sz="2000">
                <a:solidFill>
                  <a:srgbClr val="323232"/>
                </a:solidFill>
                <a:latin typeface="Calibri"/>
              </a:defRPr>
            </a:pPr>
            <a:r>
              <a:t>  scipy.integrate.odeint(system, y0, t, args=(I_ext,))</a:t>
            </a:r>
          </a:p>
          <a:p>
            <a:pPr>
              <a:spcAft>
                <a:spcPts val="800"/>
              </a:spcAft>
              <a:defRPr sz="2000">
                <a:solidFill>
                  <a:srgbClr val="323232"/>
                </a:solidFill>
                <a:latin typeface="Calibri"/>
              </a:defRPr>
            </a:pPr>
          </a:p>
          <a:p>
            <a:pPr>
              <a:spcAft>
                <a:spcPts val="800"/>
              </a:spcAft>
              <a:defRPr sz="2000">
                <a:solidFill>
                  <a:srgbClr val="323232"/>
                </a:solidFill>
                <a:latin typeface="Calibri"/>
              </a:defRPr>
            </a:pPr>
            <a:r>
              <a:t>Step 5 — Plot V(t), m(t), h(t), n(t)</a:t>
            </a:r>
          </a:p>
          <a:p>
            <a:pPr>
              <a:spcAft>
                <a:spcPts val="800"/>
              </a:spcAft>
              <a:defRPr sz="2000">
                <a:solidFill>
                  <a:srgbClr val="323232"/>
                </a:solidFill>
                <a:latin typeface="Calibri"/>
              </a:defRPr>
            </a:pPr>
          </a:p>
          <a:p>
            <a:pPr>
              <a:spcAft>
                <a:spcPts val="800"/>
              </a:spcAft>
              <a:defRPr sz="2000">
                <a:solidFill>
                  <a:srgbClr val="323232"/>
                </a:solidFill>
                <a:latin typeface="Calibri"/>
              </a:defRPr>
            </a:pPr>
            <a:r>
              <a:t>Extensions: add I_A, I_Ca, I_h by appending gate ODEs and current terms</a:t>
            </a:r>
          </a:p>
          <a:p>
            <a:pPr>
              <a:spcAft>
                <a:spcPts val="800"/>
              </a:spcAft>
              <a:defRPr sz="2000">
                <a:solidFill>
                  <a:srgbClr val="323232"/>
                </a:solidFill>
                <a:latin typeface="Calibri"/>
              </a:defRPr>
            </a:pPr>
            <a:r>
              <a:t>Packages: scipy (ODE solver), numpy (arrays), matplotlib (plots)</a:t>
            </a:r>
          </a:p>
          <a:p>
            <a:pPr>
              <a:spcAft>
                <a:spcPts val="800"/>
              </a:spcAft>
              <a:defRPr sz="2000">
                <a:solidFill>
                  <a:srgbClr val="323232"/>
                </a:solidFill>
                <a:latin typeface="Calibri"/>
              </a:defRPr>
            </a:pPr>
            <a:r>
              <a:t>Full simulation in: day1_introduction/Day1_Practical_HH.ipynb</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HH Model → QSAR → AI Drug Discovery: The Full Pipeline</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Understanding HH helps you understand WHAT your QSAR model is predicting:</a:t>
            </a:r>
          </a:p>
          <a:p>
            <a:pPr>
              <a:spcAft>
                <a:spcPts val="800"/>
              </a:spcAft>
              <a:defRPr sz="2000">
                <a:solidFill>
                  <a:srgbClr val="323232"/>
                </a:solidFill>
                <a:latin typeface="Calibri"/>
              </a:defRPr>
            </a:pPr>
          </a:p>
          <a:p>
            <a:pPr>
              <a:spcAft>
                <a:spcPts val="800"/>
              </a:spcAft>
              <a:defRPr sz="2000">
                <a:solidFill>
                  <a:srgbClr val="323232"/>
                </a:solidFill>
                <a:latin typeface="Calibri"/>
              </a:defRPr>
            </a:pPr>
            <a:r>
              <a:t>QSAR predicts: IC50 for Nav block (e.g., 50 nM for compound X)</a:t>
            </a:r>
          </a:p>
          <a:p>
            <a:pPr>
              <a:spcAft>
                <a:spcPts val="800"/>
              </a:spcAft>
              <a:defRPr sz="2000">
                <a:solidFill>
                  <a:srgbClr val="323232"/>
                </a:solidFill>
                <a:latin typeface="Calibri"/>
              </a:defRPr>
            </a:pPr>
            <a:r>
              <a:t>HH simulation asks: IF Nav is blocked 80%, does the neuron still fire?</a:t>
            </a:r>
          </a:p>
          <a:p>
            <a:pPr>
              <a:spcAft>
                <a:spcPts val="800"/>
              </a:spcAft>
              <a:defRPr sz="2000">
                <a:solidFill>
                  <a:srgbClr val="323232"/>
                </a:solidFill>
                <a:latin typeface="Calibri"/>
              </a:defRPr>
            </a:pPr>
            <a:r>
              <a:t>SpikerBox validates: does compound X change neural firing in a real prep?</a:t>
            </a:r>
          </a:p>
          <a:p>
            <a:pPr>
              <a:spcAft>
                <a:spcPts val="800"/>
              </a:spcAft>
              <a:defRPr sz="2000">
                <a:solidFill>
                  <a:srgbClr val="323232"/>
                </a:solidFill>
                <a:latin typeface="Calibri"/>
              </a:defRPr>
            </a:pPr>
          </a:p>
          <a:p>
            <a:pPr>
              <a:spcAft>
                <a:spcPts val="800"/>
              </a:spcAft>
              <a:defRPr sz="2000">
                <a:solidFill>
                  <a:srgbClr val="323232"/>
                </a:solidFill>
                <a:latin typeface="Calibri"/>
              </a:defRPr>
            </a:pPr>
            <a:r>
              <a:t>The channel map connects QSAR targets to HH currents:</a:t>
            </a:r>
          </a:p>
          <a:p>
            <a:pPr>
              <a:spcAft>
                <a:spcPts val="800"/>
              </a:spcAft>
              <a:defRPr sz="2000">
                <a:solidFill>
                  <a:srgbClr val="323232"/>
                </a:solidFill>
                <a:latin typeface="Calibri"/>
              </a:defRPr>
            </a:pPr>
            <a:r>
              <a:t>  Nav1.2 IC50 → changes g_Na in HH → changes spike threshold/amplitude</a:t>
            </a:r>
          </a:p>
          <a:p>
            <a:pPr>
              <a:spcAft>
                <a:spcPts val="800"/>
              </a:spcAft>
              <a:defRPr sz="2000">
                <a:solidFill>
                  <a:srgbClr val="323232"/>
                </a:solidFill>
                <a:latin typeface="Calibri"/>
              </a:defRPr>
            </a:pPr>
            <a:r>
              <a:t>  hERG IC50 → changes g_K in HH → changes AP duration → QT interval</a:t>
            </a:r>
          </a:p>
          <a:p>
            <a:pPr>
              <a:spcAft>
                <a:spcPts val="800"/>
              </a:spcAft>
              <a:defRPr sz="2000">
                <a:solidFill>
                  <a:srgbClr val="323232"/>
                </a:solidFill>
                <a:latin typeface="Calibri"/>
              </a:defRPr>
            </a:pPr>
            <a:r>
              <a:t>  GABA-A IC50 → changes synaptic I_GABAA → changes network inhibition</a:t>
            </a:r>
          </a:p>
          <a:p>
            <a:pPr>
              <a:spcAft>
                <a:spcPts val="800"/>
              </a:spcAft>
              <a:defRPr sz="2000">
                <a:solidFill>
                  <a:srgbClr val="323232"/>
                </a:solidFill>
                <a:latin typeface="Calibri"/>
              </a:defRPr>
            </a:pPr>
          </a:p>
          <a:p>
            <a:pPr>
              <a:spcAft>
                <a:spcPts val="800"/>
              </a:spcAft>
              <a:defRPr sz="2000">
                <a:solidFill>
                  <a:srgbClr val="323232"/>
                </a:solidFill>
                <a:latin typeface="Calibri"/>
              </a:defRPr>
            </a:pPr>
            <a:r>
              <a:t>GNNs (Day 3) predict the same quantities but more accurately:</a:t>
            </a:r>
          </a:p>
          <a:p>
            <a:pPr>
              <a:spcAft>
                <a:spcPts val="800"/>
              </a:spcAft>
              <a:defRPr sz="2000">
                <a:solidFill>
                  <a:srgbClr val="323232"/>
                </a:solidFill>
                <a:latin typeface="Calibri"/>
              </a:defRPr>
            </a:pPr>
            <a:r>
              <a:t>  Molecular graph → GNN → predicted IC50 for any channel</a:t>
            </a:r>
          </a:p>
          <a:p>
            <a:pPr>
              <a:spcAft>
                <a:spcPts val="800"/>
              </a:spcAft>
              <a:defRPr sz="2000">
                <a:solidFill>
                  <a:srgbClr val="323232"/>
                </a:solidFill>
                <a:latin typeface="Calibri"/>
              </a:defRPr>
            </a:pPr>
            <a:r>
              <a:t>  AlphaFold → 3D structure of channel → docking → predicted pose</a:t>
            </a:r>
          </a:p>
          <a:p>
            <a:pPr>
              <a:spcAft>
                <a:spcPts val="800"/>
              </a:spcAft>
              <a:defRPr sz="2000">
                <a:solidFill>
                  <a:srgbClr val="323232"/>
                </a:solidFill>
                <a:latin typeface="Calibri"/>
              </a:defRPr>
            </a:pPr>
            <a:r>
              <a:t>  Combine: structure + QSAR → multi-target prediction</a:t>
            </a:r>
          </a:p>
          <a:p>
            <a:pPr>
              <a:spcAft>
                <a:spcPts val="800"/>
              </a:spcAft>
              <a:defRPr sz="2000">
                <a:solidFill>
                  <a:srgbClr val="323232"/>
                </a:solidFill>
                <a:latin typeface="Calibri"/>
              </a:defRPr>
            </a:pPr>
          </a:p>
          <a:p>
            <a:pPr>
              <a:spcAft>
                <a:spcPts val="800"/>
              </a:spcAft>
              <a:defRPr sz="2000">
                <a:solidFill>
                  <a:srgbClr val="323232"/>
                </a:solidFill>
                <a:latin typeface="Calibri"/>
              </a:defRPr>
            </a:pPr>
            <a:r>
              <a:t>Your project: you are predicting these IC50 values, designing molecules</a:t>
            </a:r>
          </a:p>
          <a:p>
            <a:pPr>
              <a:spcAft>
                <a:spcPts val="800"/>
              </a:spcAft>
              <a:defRPr sz="2000">
                <a:solidFill>
                  <a:srgbClr val="323232"/>
                </a:solidFill>
                <a:latin typeface="Calibri"/>
              </a:defRPr>
            </a:pPr>
            <a:r>
              <a:t>that hit the RIGHT channels and avoid the WRONG ones (hERG!)</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F77B4"/>
        </a:solidFill>
        <a:effectLst/>
      </p:bgPr>
    </p:bg>
    <p:spTree>
      <p:nvGrpSpPr>
        <p:cNvPr id="1" name=""/>
        <p:cNvGrpSpPr/>
        <p:nvPr/>
      </p:nvGrpSpPr>
      <p:grpSpPr/>
      <p:sp>
        <p:nvSpPr>
          <p:cNvPr id="2" name="TextBox 1"/>
          <p:cNvSpPr txBox="1"/>
          <p:nvPr/>
        </p:nvSpPr>
        <p:spPr>
          <a:xfrm>
            <a:off x="914400" y="2286000"/>
            <a:ext cx="10058400" cy="1371600"/>
          </a:xfrm>
          <a:prstGeom prst="rect">
            <a:avLst/>
          </a:prstGeom>
          <a:noFill/>
        </p:spPr>
        <p:txBody>
          <a:bodyPr wrap="square">
            <a:spAutoFit/>
          </a:bodyPr>
          <a:lstStyle/>
          <a:p>
            <a:pPr algn="ctr">
              <a:defRPr sz="4000" b="1">
                <a:solidFill>
                  <a:srgbClr val="FFFFFF"/>
                </a:solidFill>
                <a:latin typeface="Calibri"/>
              </a:defRPr>
            </a:pPr>
            <a:r>
              <a:t>You Now Understand the Mathematics of Neural Excitability 🧮🧠</a:t>
            </a:r>
          </a:p>
        </p:txBody>
      </p:sp>
      <p:sp>
        <p:nvSpPr>
          <p:cNvPr id="3" name="TextBox 2"/>
          <p:cNvSpPr txBox="1"/>
          <p:nvPr/>
        </p:nvSpPr>
        <p:spPr>
          <a:xfrm>
            <a:off x="914400" y="3840480"/>
            <a:ext cx="10058400" cy="914400"/>
          </a:xfrm>
          <a:prstGeom prst="rect">
            <a:avLst/>
          </a:prstGeom>
          <a:noFill/>
        </p:spPr>
        <p:txBody>
          <a:bodyPr wrap="square">
            <a:spAutoFit/>
          </a:bodyPr>
          <a:lstStyle/>
          <a:p>
            <a:pPr algn="ctr">
              <a:defRPr sz="2000" b="0">
                <a:solidFill>
                  <a:srgbClr val="FFFFFF"/>
                </a:solidFill>
                <a:latin typeface="Calibri"/>
              </a:defRPr>
            </a:pPr>
            <a:r>
              <a:t>HH equations, gating variables, channel extensions, drug targets, Python code, AI connection — all covered!</a:t>
            </a:r>
          </a:p>
        </p:txBody>
      </p:sp>
      <p:sp>
        <p:nvSpPr>
          <p:cNvPr id="4" name="TextBox 3"/>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